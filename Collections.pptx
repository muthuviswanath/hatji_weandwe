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12192000" cy="6858000"/>
  <p:notesSz cx="6858000" cy="9144000"/>
  <p:embeddedFontLst>
    <p:embeddedFont>
      <p:font typeface="Calibri" panose="020F0502020204030204" pitchFamily="34" charset="0"/>
      <p:regular r:id="rId86"/>
      <p:bold r:id="rId87"/>
      <p:italic r:id="rId88"/>
      <p:boldItalic r:id="rId89"/>
    </p:embeddedFont>
    <p:embeddedFont>
      <p:font typeface="Roboto" pitchFamily="2" charset="0"/>
      <p:regular r:id="rId90"/>
      <p:bold r:id="rId91"/>
      <p:italic r:id="rId92"/>
      <p:boldItalic r:id="rId93"/>
    </p:embeddedFont>
    <p:embeddedFont>
      <p:font typeface="Verdana" panose="020B0604030504040204" pitchFamily="34" charset="0"/>
      <p:regular r:id="rId94"/>
      <p:bold r:id="rId95"/>
      <p:italic r:id="rId96"/>
      <p:boldItalic r:id="rId9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4">
          <p15:clr>
            <a:srgbClr val="A4A3A4"/>
          </p15:clr>
        </p15:guide>
        <p15:guide id="2" pos="3864">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8" roundtripDataSignature="AMtx7mhG8+MfJeZK6A73/jp2xcB6Te4Kf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9160D5A-F4D8-4355-9011-09AB1966FD5C}">
  <a:tblStyle styleId="{B9160D5A-F4D8-4355-9011-09AB1966FD5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A564AED5-2C7A-4046-9A58-7D9B8091932A}"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guide orient="horz" pos="2184"/>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4.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font" Target="fonts/font5.fntdata"/><Relationship Id="rId95" Type="http://schemas.openxmlformats.org/officeDocument/2006/relationships/font" Target="fonts/font10.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3.fntdata"/><Relationship Id="rId91" Type="http://schemas.openxmlformats.org/officeDocument/2006/relationships/font" Target="fonts/font6.fntdata"/><Relationship Id="rId96"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1.fntdata"/><Relationship Id="rId94" Type="http://schemas.openxmlformats.org/officeDocument/2006/relationships/font" Target="fonts/font9.fntdata"/><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8.fntdata"/><Relationship Id="rId98" Type="http://customschemas.google.com/relationships/presentationmetadata" Target="meta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5" name="Google Shape;345;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7" name="Google Shape;367;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8" name="Google Shape;408;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7" name="Google Shape;427;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7" name="Google Shape;437;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7" name="Google Shape;457;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7" name="Google Shape;477;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7" name="Google Shape;497;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8" name="Google Shape;508;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0" name="Google Shape;520;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9" name="Google Shape;539;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0" name="Google Shape;550;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0" name="Google Shape;570;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0" name="Google Shape;580;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0" name="Google Shape;590;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0" name="Google Shape;600;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0" name="Google Shape;610;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1" name="Google Shape;621;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3" name="Google Shape;633;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2" name="Google Shape;652;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2" name="Google Shape;662;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2" name="Google Shape;672;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2" name="Google Shape;682;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2" name="Google Shape;692;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2" name="Google Shape;702;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2" name="Google Shape;712;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2" name="Google Shape;722;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4" name="Google Shape;734;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4" name="Google Shape;744;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4" name="Google Shape;754;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6" name="Google Shape;766;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6" name="Google Shape;776;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6" name="Google Shape;786;p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8" name="Google Shape;798;p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1" name="Google Shape;821;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1" name="Google Shape;831;p5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1" name="Google Shape;841;p5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1" name="Google Shape;851;p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3" name="Google Shape;863;p5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6" name="Google Shape;886;p5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6" name="Google Shape;896;p5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6" name="Google Shape;906;p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6" name="Google Shape;916;p5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8" name="Google Shape;928;p5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p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1" name="Google Shape;951;p6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p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1" name="Google Shape;961;p6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p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1" name="Google Shape;971;p6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p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1" name="Google Shape;981;p6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1" name="Google Shape;991;p6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p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1" name="Google Shape;1001;p6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p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1" name="Google Shape;1011;p6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p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1" name="Google Shape;1021;p6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p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3" name="Google Shape;1033;p6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p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2" name="Google Shape;1052;p6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p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2" name="Google Shape;1062;p7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p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1" name="Google Shape;1071;p7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p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1" name="Google Shape;1081;p7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p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0" name="Google Shape;1090;p7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p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2" name="Google Shape;1102;p7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p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1" name="Google Shape;1111;p7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0" name="Google Shape;1120;p7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p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9" name="Google Shape;1129;p7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6"/>
        <p:cNvGrpSpPr/>
        <p:nvPr/>
      </p:nvGrpSpPr>
      <p:grpSpPr>
        <a:xfrm>
          <a:off x="0" y="0"/>
          <a:ext cx="0" cy="0"/>
          <a:chOff x="0" y="0"/>
          <a:chExt cx="0" cy="0"/>
        </a:xfrm>
      </p:grpSpPr>
      <p:sp>
        <p:nvSpPr>
          <p:cNvPr id="1137" name="Google Shape;1137;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8" name="Google Shape;1138;p7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p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8" name="Google Shape;1148;p7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5"/>
        <p:cNvGrpSpPr/>
        <p:nvPr/>
      </p:nvGrpSpPr>
      <p:grpSpPr>
        <a:xfrm>
          <a:off x="0" y="0"/>
          <a:ext cx="0" cy="0"/>
          <a:chOff x="0" y="0"/>
          <a:chExt cx="0" cy="0"/>
        </a:xfrm>
      </p:grpSpPr>
      <p:sp>
        <p:nvSpPr>
          <p:cNvPr id="1156" name="Google Shape;1156;p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7" name="Google Shape;1157;p8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4"/>
        <p:cNvGrpSpPr/>
        <p:nvPr/>
      </p:nvGrpSpPr>
      <p:grpSpPr>
        <a:xfrm>
          <a:off x="0" y="0"/>
          <a:ext cx="0" cy="0"/>
          <a:chOff x="0" y="0"/>
          <a:chExt cx="0" cy="0"/>
        </a:xfrm>
      </p:grpSpPr>
      <p:sp>
        <p:nvSpPr>
          <p:cNvPr id="1165" name="Google Shape;1165;p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6" name="Google Shape;1166;p8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p:cNvGrpSpPr/>
        <p:nvPr/>
      </p:nvGrpSpPr>
      <p:grpSpPr>
        <a:xfrm>
          <a:off x="0" y="0"/>
          <a:ext cx="0" cy="0"/>
          <a:chOff x="0" y="0"/>
          <a:chExt cx="0" cy="0"/>
        </a:xfrm>
      </p:grpSpPr>
      <p:sp>
        <p:nvSpPr>
          <p:cNvPr id="1174" name="Google Shape;1174;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5" name="Google Shape;1175;p8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2"/>
        <p:cNvGrpSpPr/>
        <p:nvPr/>
      </p:nvGrpSpPr>
      <p:grpSpPr>
        <a:xfrm>
          <a:off x="0" y="0"/>
          <a:ext cx="0" cy="0"/>
          <a:chOff x="0" y="0"/>
          <a:chExt cx="0" cy="0"/>
        </a:xfrm>
      </p:grpSpPr>
      <p:sp>
        <p:nvSpPr>
          <p:cNvPr id="1183" name="Google Shape;1183;p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4" name="Google Shape;1184;p8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type="blank">
  <p:cSld name="BLANK">
    <p:spTree>
      <p:nvGrpSpPr>
        <p:cNvPr id="1" name="Shape 11"/>
        <p:cNvGrpSpPr/>
        <p:nvPr/>
      </p:nvGrpSpPr>
      <p:grpSpPr>
        <a:xfrm>
          <a:off x="0" y="0"/>
          <a:ext cx="0" cy="0"/>
          <a:chOff x="0" y="0"/>
          <a:chExt cx="0" cy="0"/>
        </a:xfrm>
      </p:grpSpPr>
      <p:sp>
        <p:nvSpPr>
          <p:cNvPr id="12" name="Google Shape;12;p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85"/>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9_Blank">
  <p:cSld name="19_Blank">
    <p:spTree>
      <p:nvGrpSpPr>
        <p:cNvPr id="1" name="Shape 16"/>
        <p:cNvGrpSpPr/>
        <p:nvPr/>
      </p:nvGrpSpPr>
      <p:grpSpPr>
        <a:xfrm>
          <a:off x="0" y="0"/>
          <a:ext cx="0" cy="0"/>
          <a:chOff x="0" y="0"/>
          <a:chExt cx="0" cy="0"/>
        </a:xfrm>
      </p:grpSpPr>
      <p:sp>
        <p:nvSpPr>
          <p:cNvPr id="17" name="Google Shape;17;p8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8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86"/>
          <p:cNvSpPr>
            <a:spLocks noGrp="1"/>
          </p:cNvSpPr>
          <p:nvPr>
            <p:ph type="pic" idx="2"/>
          </p:nvPr>
        </p:nvSpPr>
        <p:spPr>
          <a:xfrm>
            <a:off x="1678674" y="1040606"/>
            <a:ext cx="2743200" cy="477678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21"/>
        <p:cNvGrpSpPr/>
        <p:nvPr/>
      </p:nvGrpSpPr>
      <p:grpSpPr>
        <a:xfrm>
          <a:off x="0" y="0"/>
          <a:ext cx="0" cy="0"/>
          <a:chOff x="0" y="0"/>
          <a:chExt cx="0" cy="0"/>
        </a:xfrm>
      </p:grpSpPr>
      <p:sp>
        <p:nvSpPr>
          <p:cNvPr id="22" name="Google Shape;22;p8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8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 name="Google Shape;25;p87"/>
          <p:cNvSpPr>
            <a:spLocks noGrp="1"/>
          </p:cNvSpPr>
          <p:nvPr>
            <p:ph type="pic" idx="2"/>
          </p:nvPr>
        </p:nvSpPr>
        <p:spPr>
          <a:xfrm>
            <a:off x="0" y="0"/>
            <a:ext cx="12192000" cy="6858000"/>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9_Blank">
  <p:cSld name="9_Blank">
    <p:spTree>
      <p:nvGrpSpPr>
        <p:cNvPr id="1" name="Shape 26"/>
        <p:cNvGrpSpPr/>
        <p:nvPr/>
      </p:nvGrpSpPr>
      <p:grpSpPr>
        <a:xfrm>
          <a:off x="0" y="0"/>
          <a:ext cx="0" cy="0"/>
          <a:chOff x="0" y="0"/>
          <a:chExt cx="0" cy="0"/>
        </a:xfrm>
      </p:grpSpPr>
      <p:sp>
        <p:nvSpPr>
          <p:cNvPr id="27" name="Google Shape;27;p8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8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8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0" name="Google Shape;30;p88"/>
          <p:cNvSpPr>
            <a:spLocks noGrp="1"/>
          </p:cNvSpPr>
          <p:nvPr>
            <p:ph type="pic" idx="2"/>
          </p:nvPr>
        </p:nvSpPr>
        <p:spPr>
          <a:xfrm>
            <a:off x="8164287" y="-1"/>
            <a:ext cx="4027712" cy="6858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1"/>
        <p:cNvGrpSpPr/>
        <p:nvPr/>
      </p:nvGrpSpPr>
      <p:grpSpPr>
        <a:xfrm>
          <a:off x="0" y="0"/>
          <a:ext cx="0" cy="0"/>
          <a:chOff x="0" y="0"/>
          <a:chExt cx="0" cy="0"/>
        </a:xfrm>
      </p:grpSpPr>
      <p:sp>
        <p:nvSpPr>
          <p:cNvPr id="32" name="Google Shape;32;p8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8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8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5" name="Google Shape;35;p89"/>
          <p:cNvSpPr>
            <a:spLocks noGrp="1"/>
          </p:cNvSpPr>
          <p:nvPr>
            <p:ph type="pic" idx="2"/>
          </p:nvPr>
        </p:nvSpPr>
        <p:spPr>
          <a:xfrm>
            <a:off x="1417083" y="1557074"/>
            <a:ext cx="1414832" cy="141483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89"/>
          <p:cNvSpPr>
            <a:spLocks noGrp="1"/>
          </p:cNvSpPr>
          <p:nvPr>
            <p:ph type="pic" idx="3"/>
          </p:nvPr>
        </p:nvSpPr>
        <p:spPr>
          <a:xfrm>
            <a:off x="5270313" y="1557074"/>
            <a:ext cx="1414832" cy="141483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89"/>
          <p:cNvSpPr>
            <a:spLocks noGrp="1"/>
          </p:cNvSpPr>
          <p:nvPr>
            <p:ph type="pic" idx="4"/>
          </p:nvPr>
        </p:nvSpPr>
        <p:spPr>
          <a:xfrm>
            <a:off x="9123544" y="1557074"/>
            <a:ext cx="1414832" cy="141483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8" name="Google Shape;38;p89"/>
          <p:cNvSpPr>
            <a:spLocks noGrp="1"/>
          </p:cNvSpPr>
          <p:nvPr>
            <p:ph type="pic" idx="5"/>
          </p:nvPr>
        </p:nvSpPr>
        <p:spPr>
          <a:xfrm>
            <a:off x="9123544" y="4171758"/>
            <a:ext cx="1472232" cy="147223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9" name="Google Shape;39;p89"/>
          <p:cNvSpPr>
            <a:spLocks noGrp="1"/>
          </p:cNvSpPr>
          <p:nvPr>
            <p:ph type="pic" idx="6"/>
          </p:nvPr>
        </p:nvSpPr>
        <p:spPr>
          <a:xfrm>
            <a:off x="5270313" y="4171758"/>
            <a:ext cx="1472232" cy="147223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 name="Google Shape;40;p89"/>
          <p:cNvSpPr>
            <a:spLocks noGrp="1"/>
          </p:cNvSpPr>
          <p:nvPr>
            <p:ph type="pic" idx="7"/>
          </p:nvPr>
        </p:nvSpPr>
        <p:spPr>
          <a:xfrm>
            <a:off x="1417083" y="4171758"/>
            <a:ext cx="1472232" cy="147223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1"/>
        <p:cNvGrpSpPr/>
        <p:nvPr/>
      </p:nvGrpSpPr>
      <p:grpSpPr>
        <a:xfrm>
          <a:off x="0" y="0"/>
          <a:ext cx="0" cy="0"/>
          <a:chOff x="0" y="0"/>
          <a:chExt cx="0" cy="0"/>
        </a:xfrm>
      </p:grpSpPr>
      <p:sp>
        <p:nvSpPr>
          <p:cNvPr id="42" name="Google Shape;42;p9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9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4" name="Google Shape;44;p9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9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9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7"/>
        <p:cNvGrpSpPr/>
        <p:nvPr/>
      </p:nvGrpSpPr>
      <p:grpSpPr>
        <a:xfrm>
          <a:off x="0" y="0"/>
          <a:ext cx="0" cy="0"/>
          <a:chOff x="0" y="0"/>
          <a:chExt cx="0" cy="0"/>
        </a:xfrm>
      </p:grpSpPr>
      <p:sp>
        <p:nvSpPr>
          <p:cNvPr id="48" name="Google Shape;48;p9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9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9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9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3"/>
        <p:cNvGrpSpPr/>
        <p:nvPr/>
      </p:nvGrpSpPr>
      <p:grpSpPr>
        <a:xfrm>
          <a:off x="0" y="0"/>
          <a:ext cx="0" cy="0"/>
          <a:chOff x="0" y="0"/>
          <a:chExt cx="0" cy="0"/>
        </a:xfrm>
      </p:grpSpPr>
      <p:sp>
        <p:nvSpPr>
          <p:cNvPr id="54" name="Google Shape;54;p9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9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6" name="Google Shape;56;p9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9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9"/>
        <p:cNvGrpSpPr/>
        <p:nvPr/>
      </p:nvGrpSpPr>
      <p:grpSpPr>
        <a:xfrm>
          <a:off x="0" y="0"/>
          <a:ext cx="0" cy="0"/>
          <a:chOff x="0" y="0"/>
          <a:chExt cx="0" cy="0"/>
        </a:xfrm>
      </p:grpSpPr>
      <p:sp>
        <p:nvSpPr>
          <p:cNvPr id="60" name="Google Shape;60;p9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9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9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9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6"/>
        <p:cNvGrpSpPr/>
        <p:nvPr/>
      </p:nvGrpSpPr>
      <p:grpSpPr>
        <a:xfrm>
          <a:off x="0" y="0"/>
          <a:ext cx="0" cy="0"/>
          <a:chOff x="0" y="0"/>
          <a:chExt cx="0" cy="0"/>
        </a:xfrm>
      </p:grpSpPr>
      <p:sp>
        <p:nvSpPr>
          <p:cNvPr id="67" name="Google Shape;67;p9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9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9" name="Google Shape;69;p9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9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1" name="Google Shape;71;p9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9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9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9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9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9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9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_Blank">
  <p:cSld name="14_Blank">
    <p:spTree>
      <p:nvGrpSpPr>
        <p:cNvPr id="1" name="Shape 80"/>
        <p:cNvGrpSpPr/>
        <p:nvPr/>
      </p:nvGrpSpPr>
      <p:grpSpPr>
        <a:xfrm>
          <a:off x="0" y="0"/>
          <a:ext cx="0" cy="0"/>
          <a:chOff x="0" y="0"/>
          <a:chExt cx="0" cy="0"/>
        </a:xfrm>
      </p:grpSpPr>
      <p:sp>
        <p:nvSpPr>
          <p:cNvPr id="81" name="Google Shape;81;p9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9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9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3_Blank">
  <p:cSld name="23_Blank">
    <p:spTree>
      <p:nvGrpSpPr>
        <p:cNvPr id="1" name="Shape 84"/>
        <p:cNvGrpSpPr/>
        <p:nvPr/>
      </p:nvGrpSpPr>
      <p:grpSpPr>
        <a:xfrm>
          <a:off x="0" y="0"/>
          <a:ext cx="0" cy="0"/>
          <a:chOff x="0" y="0"/>
          <a:chExt cx="0" cy="0"/>
        </a:xfrm>
      </p:grpSpPr>
      <p:sp>
        <p:nvSpPr>
          <p:cNvPr id="85" name="Google Shape;85;p9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9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9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8" name="Google Shape;88;p97"/>
          <p:cNvSpPr>
            <a:spLocks noGrp="1"/>
          </p:cNvSpPr>
          <p:nvPr>
            <p:ph type="pic" idx="2"/>
          </p:nvPr>
        </p:nvSpPr>
        <p:spPr>
          <a:xfrm>
            <a:off x="307975" y="1160915"/>
            <a:ext cx="3730625" cy="3498850"/>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9" name="Google Shape;89;p97"/>
          <p:cNvSpPr>
            <a:spLocks noGrp="1"/>
          </p:cNvSpPr>
          <p:nvPr>
            <p:ph type="pic" idx="3"/>
          </p:nvPr>
        </p:nvSpPr>
        <p:spPr>
          <a:xfrm>
            <a:off x="4212431" y="1160915"/>
            <a:ext cx="3730625" cy="3498850"/>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0" name="Google Shape;90;p97"/>
          <p:cNvSpPr>
            <a:spLocks noGrp="1"/>
          </p:cNvSpPr>
          <p:nvPr>
            <p:ph type="pic" idx="4"/>
          </p:nvPr>
        </p:nvSpPr>
        <p:spPr>
          <a:xfrm>
            <a:off x="8116887" y="1160915"/>
            <a:ext cx="3730625" cy="3498850"/>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1_Blank">
  <p:cSld name="21_Blank">
    <p:spTree>
      <p:nvGrpSpPr>
        <p:cNvPr id="1" name="Shape 91"/>
        <p:cNvGrpSpPr/>
        <p:nvPr/>
      </p:nvGrpSpPr>
      <p:grpSpPr>
        <a:xfrm>
          <a:off x="0" y="0"/>
          <a:ext cx="0" cy="0"/>
          <a:chOff x="0" y="0"/>
          <a:chExt cx="0" cy="0"/>
        </a:xfrm>
      </p:grpSpPr>
      <p:sp>
        <p:nvSpPr>
          <p:cNvPr id="92" name="Google Shape;92;p9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9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9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4_Blank">
  <p:cSld name="24_Blank">
    <p:spTree>
      <p:nvGrpSpPr>
        <p:cNvPr id="1" name="Shape 95"/>
        <p:cNvGrpSpPr/>
        <p:nvPr/>
      </p:nvGrpSpPr>
      <p:grpSpPr>
        <a:xfrm>
          <a:off x="0" y="0"/>
          <a:ext cx="0" cy="0"/>
          <a:chOff x="0" y="0"/>
          <a:chExt cx="0" cy="0"/>
        </a:xfrm>
      </p:grpSpPr>
      <p:sp>
        <p:nvSpPr>
          <p:cNvPr id="96" name="Google Shape;96;p9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9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9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9" name="Google Shape;99;p99"/>
          <p:cNvSpPr>
            <a:spLocks noGrp="1"/>
          </p:cNvSpPr>
          <p:nvPr>
            <p:ph type="pic" idx="2"/>
          </p:nvPr>
        </p:nvSpPr>
        <p:spPr>
          <a:xfrm>
            <a:off x="9184944" y="791215"/>
            <a:ext cx="2702210" cy="4572000"/>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0" name="Google Shape;100;p99"/>
          <p:cNvSpPr>
            <a:spLocks noGrp="1"/>
          </p:cNvSpPr>
          <p:nvPr>
            <p:ph type="pic" idx="3"/>
          </p:nvPr>
        </p:nvSpPr>
        <p:spPr>
          <a:xfrm>
            <a:off x="6221870" y="791215"/>
            <a:ext cx="2702210" cy="4572000"/>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1" name="Google Shape;101;p99"/>
          <p:cNvSpPr>
            <a:spLocks noGrp="1"/>
          </p:cNvSpPr>
          <p:nvPr>
            <p:ph type="pic" idx="4"/>
          </p:nvPr>
        </p:nvSpPr>
        <p:spPr>
          <a:xfrm>
            <a:off x="3258797" y="791215"/>
            <a:ext cx="2702210" cy="4572000"/>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2" name="Google Shape;102;p99"/>
          <p:cNvSpPr>
            <a:spLocks noGrp="1"/>
          </p:cNvSpPr>
          <p:nvPr>
            <p:ph type="pic" idx="5"/>
          </p:nvPr>
        </p:nvSpPr>
        <p:spPr>
          <a:xfrm>
            <a:off x="295724" y="791215"/>
            <a:ext cx="2702210" cy="4572000"/>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0_Blank">
  <p:cSld name="20_Blank">
    <p:spTree>
      <p:nvGrpSpPr>
        <p:cNvPr id="1" name="Shape 103"/>
        <p:cNvGrpSpPr/>
        <p:nvPr/>
      </p:nvGrpSpPr>
      <p:grpSpPr>
        <a:xfrm>
          <a:off x="0" y="0"/>
          <a:ext cx="0" cy="0"/>
          <a:chOff x="0" y="0"/>
          <a:chExt cx="0" cy="0"/>
        </a:xfrm>
      </p:grpSpPr>
      <p:sp>
        <p:nvSpPr>
          <p:cNvPr id="104" name="Google Shape;104;p10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0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10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7" name="Google Shape;107;p100"/>
          <p:cNvSpPr>
            <a:spLocks noGrp="1"/>
          </p:cNvSpPr>
          <p:nvPr>
            <p:ph type="pic" idx="2"/>
          </p:nvPr>
        </p:nvSpPr>
        <p:spPr>
          <a:xfrm>
            <a:off x="647131" y="2115212"/>
            <a:ext cx="4906963" cy="302999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8_Blank">
  <p:cSld name="18_Blank">
    <p:spTree>
      <p:nvGrpSpPr>
        <p:cNvPr id="1" name="Shape 108"/>
        <p:cNvGrpSpPr/>
        <p:nvPr/>
      </p:nvGrpSpPr>
      <p:grpSpPr>
        <a:xfrm>
          <a:off x="0" y="0"/>
          <a:ext cx="0" cy="0"/>
          <a:chOff x="0" y="0"/>
          <a:chExt cx="0" cy="0"/>
        </a:xfrm>
      </p:grpSpPr>
      <p:sp>
        <p:nvSpPr>
          <p:cNvPr id="109" name="Google Shape;109;p10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0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10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2" name="Google Shape;112;p101"/>
          <p:cNvSpPr>
            <a:spLocks noGrp="1"/>
          </p:cNvSpPr>
          <p:nvPr>
            <p:ph type="pic" idx="2"/>
          </p:nvPr>
        </p:nvSpPr>
        <p:spPr>
          <a:xfrm>
            <a:off x="6222668" y="1583354"/>
            <a:ext cx="5418138" cy="317976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3" name="Google Shape;113;p101"/>
          <p:cNvSpPr>
            <a:spLocks noGrp="1"/>
          </p:cNvSpPr>
          <p:nvPr>
            <p:ph type="pic" idx="3"/>
          </p:nvPr>
        </p:nvSpPr>
        <p:spPr>
          <a:xfrm>
            <a:off x="586142" y="1583354"/>
            <a:ext cx="5418138" cy="317976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7_Blank">
  <p:cSld name="17_Blank">
    <p:spTree>
      <p:nvGrpSpPr>
        <p:cNvPr id="1" name="Shape 114"/>
        <p:cNvGrpSpPr/>
        <p:nvPr/>
      </p:nvGrpSpPr>
      <p:grpSpPr>
        <a:xfrm>
          <a:off x="0" y="0"/>
          <a:ext cx="0" cy="0"/>
          <a:chOff x="0" y="0"/>
          <a:chExt cx="0" cy="0"/>
        </a:xfrm>
      </p:grpSpPr>
      <p:sp>
        <p:nvSpPr>
          <p:cNvPr id="115" name="Google Shape;115;p10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10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0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8" name="Google Shape;118;p102"/>
          <p:cNvSpPr>
            <a:spLocks noGrp="1"/>
          </p:cNvSpPr>
          <p:nvPr>
            <p:ph type="pic" idx="2"/>
          </p:nvPr>
        </p:nvSpPr>
        <p:spPr>
          <a:xfrm>
            <a:off x="7546738" y="478169"/>
            <a:ext cx="3986213" cy="569118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6_Blank">
  <p:cSld name="16_Blank">
    <p:spTree>
      <p:nvGrpSpPr>
        <p:cNvPr id="1" name="Shape 119"/>
        <p:cNvGrpSpPr/>
        <p:nvPr/>
      </p:nvGrpSpPr>
      <p:grpSpPr>
        <a:xfrm>
          <a:off x="0" y="0"/>
          <a:ext cx="0" cy="0"/>
          <a:chOff x="0" y="0"/>
          <a:chExt cx="0" cy="0"/>
        </a:xfrm>
      </p:grpSpPr>
      <p:sp>
        <p:nvSpPr>
          <p:cNvPr id="120" name="Google Shape;120;p10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10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0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3" name="Google Shape;123;p103"/>
          <p:cNvSpPr>
            <a:spLocks noGrp="1"/>
          </p:cNvSpPr>
          <p:nvPr>
            <p:ph type="pic" idx="2"/>
          </p:nvPr>
        </p:nvSpPr>
        <p:spPr>
          <a:xfrm>
            <a:off x="805827" y="2374911"/>
            <a:ext cx="2194307" cy="218437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4" name="Google Shape;124;p103"/>
          <p:cNvSpPr>
            <a:spLocks noGrp="1"/>
          </p:cNvSpPr>
          <p:nvPr>
            <p:ph type="pic" idx="3"/>
          </p:nvPr>
        </p:nvSpPr>
        <p:spPr>
          <a:xfrm>
            <a:off x="3530554" y="2374911"/>
            <a:ext cx="2194307" cy="218437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5" name="Google Shape;125;p103"/>
          <p:cNvSpPr>
            <a:spLocks noGrp="1"/>
          </p:cNvSpPr>
          <p:nvPr>
            <p:ph type="pic" idx="4"/>
          </p:nvPr>
        </p:nvSpPr>
        <p:spPr>
          <a:xfrm>
            <a:off x="6255281" y="2374911"/>
            <a:ext cx="2194307" cy="218437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6" name="Google Shape;126;p103"/>
          <p:cNvSpPr>
            <a:spLocks noGrp="1"/>
          </p:cNvSpPr>
          <p:nvPr>
            <p:ph type="pic" idx="5"/>
          </p:nvPr>
        </p:nvSpPr>
        <p:spPr>
          <a:xfrm>
            <a:off x="8980009" y="2374911"/>
            <a:ext cx="2194307" cy="218437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3_Blank">
  <p:cSld name="13_Blank">
    <p:spTree>
      <p:nvGrpSpPr>
        <p:cNvPr id="1" name="Shape 127"/>
        <p:cNvGrpSpPr/>
        <p:nvPr/>
      </p:nvGrpSpPr>
      <p:grpSpPr>
        <a:xfrm>
          <a:off x="0" y="0"/>
          <a:ext cx="0" cy="0"/>
          <a:chOff x="0" y="0"/>
          <a:chExt cx="0" cy="0"/>
        </a:xfrm>
      </p:grpSpPr>
      <p:sp>
        <p:nvSpPr>
          <p:cNvPr id="128" name="Google Shape;128;p10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10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10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1" name="Google Shape;131;p104"/>
          <p:cNvSpPr>
            <a:spLocks noGrp="1"/>
          </p:cNvSpPr>
          <p:nvPr>
            <p:ph type="pic" idx="2"/>
          </p:nvPr>
        </p:nvSpPr>
        <p:spPr>
          <a:xfrm>
            <a:off x="1011968" y="2301888"/>
            <a:ext cx="2070924" cy="207092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2" name="Google Shape;132;p104"/>
          <p:cNvSpPr>
            <a:spLocks noGrp="1"/>
          </p:cNvSpPr>
          <p:nvPr>
            <p:ph type="pic" idx="3"/>
          </p:nvPr>
        </p:nvSpPr>
        <p:spPr>
          <a:xfrm>
            <a:off x="4880721" y="2301888"/>
            <a:ext cx="2070924" cy="207092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3" name="Google Shape;133;p104"/>
          <p:cNvSpPr>
            <a:spLocks noGrp="1"/>
          </p:cNvSpPr>
          <p:nvPr>
            <p:ph type="pic" idx="4"/>
          </p:nvPr>
        </p:nvSpPr>
        <p:spPr>
          <a:xfrm>
            <a:off x="8749474" y="2301886"/>
            <a:ext cx="2070924" cy="207092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2_Blank">
  <p:cSld name="12_Blank">
    <p:spTree>
      <p:nvGrpSpPr>
        <p:cNvPr id="1" name="Shape 134"/>
        <p:cNvGrpSpPr/>
        <p:nvPr/>
      </p:nvGrpSpPr>
      <p:grpSpPr>
        <a:xfrm>
          <a:off x="0" y="0"/>
          <a:ext cx="0" cy="0"/>
          <a:chOff x="0" y="0"/>
          <a:chExt cx="0" cy="0"/>
        </a:xfrm>
      </p:grpSpPr>
      <p:sp>
        <p:nvSpPr>
          <p:cNvPr id="135" name="Google Shape;135;p10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10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0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8" name="Google Shape;138;p105"/>
          <p:cNvSpPr>
            <a:spLocks noGrp="1"/>
          </p:cNvSpPr>
          <p:nvPr>
            <p:ph type="pic" idx="2"/>
          </p:nvPr>
        </p:nvSpPr>
        <p:spPr>
          <a:xfrm>
            <a:off x="0" y="-3175"/>
            <a:ext cx="12190413" cy="389255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1_Blank">
  <p:cSld name="11_Blank">
    <p:spTree>
      <p:nvGrpSpPr>
        <p:cNvPr id="1" name="Shape 139"/>
        <p:cNvGrpSpPr/>
        <p:nvPr/>
      </p:nvGrpSpPr>
      <p:grpSpPr>
        <a:xfrm>
          <a:off x="0" y="0"/>
          <a:ext cx="0" cy="0"/>
          <a:chOff x="0" y="0"/>
          <a:chExt cx="0" cy="0"/>
        </a:xfrm>
      </p:grpSpPr>
      <p:sp>
        <p:nvSpPr>
          <p:cNvPr id="140" name="Google Shape;140;p10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10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10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43" name="Google Shape;143;p106"/>
          <p:cNvSpPr>
            <a:spLocks noGrp="1"/>
          </p:cNvSpPr>
          <p:nvPr>
            <p:ph type="pic" idx="2"/>
          </p:nvPr>
        </p:nvSpPr>
        <p:spPr>
          <a:xfrm>
            <a:off x="-1" y="0"/>
            <a:ext cx="5610332" cy="686597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0_Blank">
  <p:cSld name="10_Blank">
    <p:spTree>
      <p:nvGrpSpPr>
        <p:cNvPr id="1" name="Shape 144"/>
        <p:cNvGrpSpPr/>
        <p:nvPr/>
      </p:nvGrpSpPr>
      <p:grpSpPr>
        <a:xfrm>
          <a:off x="0" y="0"/>
          <a:ext cx="0" cy="0"/>
          <a:chOff x="0" y="0"/>
          <a:chExt cx="0" cy="0"/>
        </a:xfrm>
      </p:grpSpPr>
      <p:sp>
        <p:nvSpPr>
          <p:cNvPr id="145" name="Google Shape;145;p10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10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10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48" name="Google Shape;148;p107"/>
          <p:cNvSpPr>
            <a:spLocks noGrp="1"/>
          </p:cNvSpPr>
          <p:nvPr>
            <p:ph type="pic" idx="2"/>
          </p:nvPr>
        </p:nvSpPr>
        <p:spPr>
          <a:xfrm>
            <a:off x="0" y="1106037"/>
            <a:ext cx="4401886" cy="4722126"/>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7_Blank">
  <p:cSld name="7_Blank">
    <p:spTree>
      <p:nvGrpSpPr>
        <p:cNvPr id="1" name="Shape 149"/>
        <p:cNvGrpSpPr/>
        <p:nvPr/>
      </p:nvGrpSpPr>
      <p:grpSpPr>
        <a:xfrm>
          <a:off x="0" y="0"/>
          <a:ext cx="0" cy="0"/>
          <a:chOff x="0" y="0"/>
          <a:chExt cx="0" cy="0"/>
        </a:xfrm>
      </p:grpSpPr>
      <p:sp>
        <p:nvSpPr>
          <p:cNvPr id="150" name="Google Shape;150;p10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10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10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53" name="Google Shape;153;p108"/>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5_Blank">
  <p:cSld name="15_Blank">
    <p:spTree>
      <p:nvGrpSpPr>
        <p:cNvPr id="1" name="Shape 154"/>
        <p:cNvGrpSpPr/>
        <p:nvPr/>
      </p:nvGrpSpPr>
      <p:grpSpPr>
        <a:xfrm>
          <a:off x="0" y="0"/>
          <a:ext cx="0" cy="0"/>
          <a:chOff x="0" y="0"/>
          <a:chExt cx="0" cy="0"/>
        </a:xfrm>
      </p:grpSpPr>
      <p:sp>
        <p:nvSpPr>
          <p:cNvPr id="155" name="Google Shape;155;p10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10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10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58" name="Google Shape;158;p109"/>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 name="Google Shape;159;p109"/>
          <p:cNvSpPr>
            <a:spLocks noGrp="1"/>
          </p:cNvSpPr>
          <p:nvPr>
            <p:ph type="pic" idx="2"/>
          </p:nvPr>
        </p:nvSpPr>
        <p:spPr>
          <a:xfrm>
            <a:off x="204787" y="-3176"/>
            <a:ext cx="11990388" cy="386549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8_Blank">
  <p:cSld name="8_Blank">
    <p:spTree>
      <p:nvGrpSpPr>
        <p:cNvPr id="1" name="Shape 160"/>
        <p:cNvGrpSpPr/>
        <p:nvPr/>
      </p:nvGrpSpPr>
      <p:grpSpPr>
        <a:xfrm>
          <a:off x="0" y="0"/>
          <a:ext cx="0" cy="0"/>
          <a:chOff x="0" y="0"/>
          <a:chExt cx="0" cy="0"/>
        </a:xfrm>
      </p:grpSpPr>
      <p:sp>
        <p:nvSpPr>
          <p:cNvPr id="161" name="Google Shape;161;p1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1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1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64" name="Google Shape;164;p110"/>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 name="Google Shape;165;p110"/>
          <p:cNvSpPr>
            <a:spLocks noGrp="1"/>
          </p:cNvSpPr>
          <p:nvPr>
            <p:ph type="pic" idx="2"/>
          </p:nvPr>
        </p:nvSpPr>
        <p:spPr>
          <a:xfrm>
            <a:off x="5559603" y="0"/>
            <a:ext cx="6635572" cy="684688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6_Blank">
  <p:cSld name="6_Blank">
    <p:spTree>
      <p:nvGrpSpPr>
        <p:cNvPr id="1" name="Shape 166"/>
        <p:cNvGrpSpPr/>
        <p:nvPr/>
      </p:nvGrpSpPr>
      <p:grpSpPr>
        <a:xfrm>
          <a:off x="0" y="0"/>
          <a:ext cx="0" cy="0"/>
          <a:chOff x="0" y="0"/>
          <a:chExt cx="0" cy="0"/>
        </a:xfrm>
      </p:grpSpPr>
      <p:sp>
        <p:nvSpPr>
          <p:cNvPr id="167" name="Google Shape;167;p1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1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1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70" name="Google Shape;170;p111"/>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 name="Google Shape;171;p111"/>
          <p:cNvSpPr>
            <a:spLocks noGrp="1"/>
          </p:cNvSpPr>
          <p:nvPr>
            <p:ph type="pic" idx="2"/>
          </p:nvPr>
        </p:nvSpPr>
        <p:spPr>
          <a:xfrm>
            <a:off x="0" y="-3175"/>
            <a:ext cx="12203113" cy="341153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5_Blank">
  <p:cSld name="5_Blank">
    <p:spTree>
      <p:nvGrpSpPr>
        <p:cNvPr id="1" name="Shape 172"/>
        <p:cNvGrpSpPr/>
        <p:nvPr/>
      </p:nvGrpSpPr>
      <p:grpSpPr>
        <a:xfrm>
          <a:off x="0" y="0"/>
          <a:ext cx="0" cy="0"/>
          <a:chOff x="0" y="0"/>
          <a:chExt cx="0" cy="0"/>
        </a:xfrm>
      </p:grpSpPr>
      <p:sp>
        <p:nvSpPr>
          <p:cNvPr id="173" name="Google Shape;173;p1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1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p1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76" name="Google Shape;176;p112"/>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 name="Google Shape;177;p112"/>
          <p:cNvSpPr>
            <a:spLocks noGrp="1"/>
          </p:cNvSpPr>
          <p:nvPr>
            <p:ph type="pic" idx="2"/>
          </p:nvPr>
        </p:nvSpPr>
        <p:spPr>
          <a:xfrm>
            <a:off x="0" y="-3175"/>
            <a:ext cx="5713413" cy="68627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4_Blank">
  <p:cSld name="4_Blank">
    <p:spTree>
      <p:nvGrpSpPr>
        <p:cNvPr id="1" name="Shape 178"/>
        <p:cNvGrpSpPr/>
        <p:nvPr/>
      </p:nvGrpSpPr>
      <p:grpSpPr>
        <a:xfrm>
          <a:off x="0" y="0"/>
          <a:ext cx="0" cy="0"/>
          <a:chOff x="0" y="0"/>
          <a:chExt cx="0" cy="0"/>
        </a:xfrm>
      </p:grpSpPr>
      <p:sp>
        <p:nvSpPr>
          <p:cNvPr id="179" name="Google Shape;179;p1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0" name="Google Shape;180;p1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1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2" name="Google Shape;182;p113"/>
          <p:cNvSpPr/>
          <p:nvPr/>
        </p:nvSpPr>
        <p:spPr>
          <a:xfrm>
            <a:off x="0" y="0"/>
            <a:ext cx="12192000" cy="6858000"/>
          </a:xfrm>
          <a:prstGeom prst="rect">
            <a:avLst/>
          </a:prstGeom>
          <a:solidFill>
            <a:srgbClr val="F0EFE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22_Blank">
  <p:cSld name="22_Blank">
    <p:spTree>
      <p:nvGrpSpPr>
        <p:cNvPr id="1" name="Shape 183"/>
        <p:cNvGrpSpPr/>
        <p:nvPr/>
      </p:nvGrpSpPr>
      <p:grpSpPr>
        <a:xfrm>
          <a:off x="0" y="0"/>
          <a:ext cx="0" cy="0"/>
          <a:chOff x="0" y="0"/>
          <a:chExt cx="0" cy="0"/>
        </a:xfrm>
      </p:grpSpPr>
      <p:sp>
        <p:nvSpPr>
          <p:cNvPr id="184" name="Google Shape;184;p1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5" name="Google Shape;185;p1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6" name="Google Shape;186;p1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7" name="Google Shape;187;p114"/>
          <p:cNvSpPr/>
          <p:nvPr/>
        </p:nvSpPr>
        <p:spPr>
          <a:xfrm>
            <a:off x="0" y="0"/>
            <a:ext cx="12192000" cy="6858000"/>
          </a:xfrm>
          <a:prstGeom prst="rect">
            <a:avLst/>
          </a:prstGeom>
          <a:solidFill>
            <a:srgbClr val="F0EFE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8" name="Google Shape;188;p114"/>
          <p:cNvSpPr>
            <a:spLocks noGrp="1"/>
          </p:cNvSpPr>
          <p:nvPr>
            <p:ph type="pic" idx="2"/>
          </p:nvPr>
        </p:nvSpPr>
        <p:spPr>
          <a:xfrm>
            <a:off x="122238" y="204788"/>
            <a:ext cx="5691708" cy="6400800"/>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9" name="Google Shape;189;p114"/>
          <p:cNvSpPr>
            <a:spLocks noGrp="1"/>
          </p:cNvSpPr>
          <p:nvPr>
            <p:ph type="pic" idx="3"/>
          </p:nvPr>
        </p:nvSpPr>
        <p:spPr>
          <a:xfrm>
            <a:off x="5910666" y="3521122"/>
            <a:ext cx="6113462" cy="308446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0" name="Google Shape;190;p114"/>
          <p:cNvSpPr>
            <a:spLocks noGrp="1"/>
          </p:cNvSpPr>
          <p:nvPr>
            <p:ph type="pic" idx="4"/>
          </p:nvPr>
        </p:nvSpPr>
        <p:spPr>
          <a:xfrm>
            <a:off x="5910666" y="230236"/>
            <a:ext cx="6113462" cy="317495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191"/>
        <p:cNvGrpSpPr/>
        <p:nvPr/>
      </p:nvGrpSpPr>
      <p:grpSpPr>
        <a:xfrm>
          <a:off x="0" y="0"/>
          <a:ext cx="0" cy="0"/>
          <a:chOff x="0" y="0"/>
          <a:chExt cx="0" cy="0"/>
        </a:xfrm>
      </p:grpSpPr>
      <p:sp>
        <p:nvSpPr>
          <p:cNvPr id="192" name="Google Shape;192;p1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3" name="Google Shape;193;p1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p1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95" name="Google Shape;195;p115"/>
          <p:cNvSpPr>
            <a:spLocks noGrp="1"/>
          </p:cNvSpPr>
          <p:nvPr>
            <p:ph type="pic" idx="2"/>
          </p:nvPr>
        </p:nvSpPr>
        <p:spPr>
          <a:xfrm>
            <a:off x="-2" y="-2"/>
            <a:ext cx="12192000" cy="6858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96"/>
        <p:cNvGrpSpPr/>
        <p:nvPr/>
      </p:nvGrpSpPr>
      <p:grpSpPr>
        <a:xfrm>
          <a:off x="0" y="0"/>
          <a:ext cx="0" cy="0"/>
          <a:chOff x="0" y="0"/>
          <a:chExt cx="0" cy="0"/>
        </a:xfrm>
      </p:grpSpPr>
      <p:sp>
        <p:nvSpPr>
          <p:cNvPr id="197" name="Google Shape;197;p1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 name="Google Shape;198;p11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99" name="Google Shape;199;p1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00" name="Google Shape;200;p1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1" name="Google Shape;201;p1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p1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03"/>
        <p:cNvGrpSpPr/>
        <p:nvPr/>
      </p:nvGrpSpPr>
      <p:grpSpPr>
        <a:xfrm>
          <a:off x="0" y="0"/>
          <a:ext cx="0" cy="0"/>
          <a:chOff x="0" y="0"/>
          <a:chExt cx="0" cy="0"/>
        </a:xfrm>
      </p:grpSpPr>
      <p:sp>
        <p:nvSpPr>
          <p:cNvPr id="204" name="Google Shape;204;p1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117"/>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206" name="Google Shape;206;p1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07" name="Google Shape;207;p1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8" name="Google Shape;208;p1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1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0"/>
        <p:cNvGrpSpPr/>
        <p:nvPr/>
      </p:nvGrpSpPr>
      <p:grpSpPr>
        <a:xfrm>
          <a:off x="0" y="0"/>
          <a:ext cx="0" cy="0"/>
          <a:chOff x="0" y="0"/>
          <a:chExt cx="0" cy="0"/>
        </a:xfrm>
      </p:grpSpPr>
      <p:sp>
        <p:nvSpPr>
          <p:cNvPr id="211" name="Google Shape;211;p1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2" name="Google Shape;212;p1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3" name="Google Shape;213;p1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4" name="Google Shape;214;p1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5" name="Google Shape;215;p1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16"/>
        <p:cNvGrpSpPr/>
        <p:nvPr/>
      </p:nvGrpSpPr>
      <p:grpSpPr>
        <a:xfrm>
          <a:off x="0" y="0"/>
          <a:ext cx="0" cy="0"/>
          <a:chOff x="0" y="0"/>
          <a:chExt cx="0" cy="0"/>
        </a:xfrm>
      </p:grpSpPr>
      <p:sp>
        <p:nvSpPr>
          <p:cNvPr id="217" name="Google Shape;217;p1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8" name="Google Shape;218;p1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9" name="Google Shape;219;p1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0.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4.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5.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6.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0.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1.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3.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4.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5.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6.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8.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9.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0.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1.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4.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5.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6.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7.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4.png"/></Relationships>
</file>

<file path=ppt/slides/_rels/slide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8.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9.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0.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8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1.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8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8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3.xml"/><Relationship Id="rId1" Type="http://schemas.openxmlformats.org/officeDocument/2006/relationships/slideLayout" Target="../slideLayouts/slideLayout5.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1"/>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7" name="Google Shape;227;p1"/>
          <p:cNvPicPr preferRelativeResize="0"/>
          <p:nvPr/>
        </p:nvPicPr>
        <p:blipFill rotWithShape="1">
          <a:blip r:embed="rId4">
            <a:alphaModFix/>
          </a:blip>
          <a:srcRect l="25290" t="6287" r="23678" b="6958"/>
          <a:stretch/>
        </p:blipFill>
        <p:spPr>
          <a:xfrm>
            <a:off x="5277483" y="646043"/>
            <a:ext cx="1637034" cy="2782957"/>
          </a:xfrm>
          <a:prstGeom prst="rect">
            <a:avLst/>
          </a:prstGeom>
          <a:noFill/>
          <a:ln>
            <a:noFill/>
          </a:ln>
        </p:spPr>
      </p:pic>
      <p:sp>
        <p:nvSpPr>
          <p:cNvPr id="228" name="Google Shape;228;p1"/>
          <p:cNvSpPr txBox="1"/>
          <p:nvPr/>
        </p:nvSpPr>
        <p:spPr>
          <a:xfrm>
            <a:off x="2271054" y="3897004"/>
            <a:ext cx="7649891"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0" i="0" u="none" strike="noStrike" cap="none">
                <a:solidFill>
                  <a:srgbClr val="261628"/>
                </a:solidFill>
                <a:latin typeface="Calibri"/>
                <a:ea typeface="Calibri"/>
                <a:cs typeface="Calibri"/>
                <a:sym typeface="Calibri"/>
              </a:rPr>
              <a:t>Java Collection Framework</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6"/>
                                        </p:tgtEl>
                                        <p:attrNameLst>
                                          <p:attrName>style.visibility</p:attrName>
                                        </p:attrNameLst>
                                      </p:cBhvr>
                                      <p:to>
                                        <p:strVal val="visible"/>
                                      </p:to>
                                    </p:set>
                                    <p:animEffect transition="in" filter="fade">
                                      <p:cBhvr>
                                        <p:cTn id="7" dur="500"/>
                                        <p:tgtEl>
                                          <p:spTgt spid="2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7"/>
                                        </p:tgtEl>
                                        <p:attrNameLst>
                                          <p:attrName>style.visibility</p:attrName>
                                        </p:attrNameLst>
                                      </p:cBhvr>
                                      <p:to>
                                        <p:strVal val="visible"/>
                                      </p:to>
                                    </p:set>
                                    <p:animEffect transition="in" filter="fade">
                                      <p:cBhvr>
                                        <p:cTn id="12" dur="1000"/>
                                        <p:tgtEl>
                                          <p:spTgt spid="2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8"/>
                                        </p:tgtEl>
                                        <p:attrNameLst>
                                          <p:attrName>style.visibility</p:attrName>
                                        </p:attrNameLst>
                                      </p:cBhvr>
                                      <p:to>
                                        <p:strVal val="visible"/>
                                      </p:to>
                                    </p:set>
                                    <p:animEffect transition="in" filter="fade">
                                      <p:cBhvr>
                                        <p:cTn id="17" dur="500"/>
                                        <p:tgtEl>
                                          <p:spTgt spid="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
          <p:cNvSpPr/>
          <p:nvPr/>
        </p:nvSpPr>
        <p:spPr>
          <a:xfrm>
            <a:off x="1" y="0"/>
            <a:ext cx="3897442" cy="6858000"/>
          </a:xfrm>
          <a:prstGeom prst="rect">
            <a:avLst/>
          </a:pr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4" name="Google Shape;234;p2"/>
          <p:cNvSpPr txBox="1"/>
          <p:nvPr/>
        </p:nvSpPr>
        <p:spPr>
          <a:xfrm>
            <a:off x="1151292" y="237372"/>
            <a:ext cx="15948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0" i="0" u="none" strike="noStrike" cap="none">
                <a:solidFill>
                  <a:schemeClr val="lt1"/>
                </a:solidFill>
                <a:latin typeface="Calibri"/>
                <a:ea typeface="Calibri"/>
                <a:cs typeface="Calibri"/>
                <a:sym typeface="Calibri"/>
              </a:rPr>
              <a:t>Topics</a:t>
            </a:r>
            <a:endParaRPr/>
          </a:p>
        </p:txBody>
      </p:sp>
      <p:sp>
        <p:nvSpPr>
          <p:cNvPr id="235" name="Google Shape;235;p2"/>
          <p:cNvSpPr txBox="1"/>
          <p:nvPr/>
        </p:nvSpPr>
        <p:spPr>
          <a:xfrm>
            <a:off x="5115608" y="2927762"/>
            <a:ext cx="484421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61628"/>
                </a:solidFill>
                <a:latin typeface="Calibri"/>
                <a:ea typeface="Calibri"/>
                <a:cs typeface="Calibri"/>
                <a:sym typeface="Calibri"/>
              </a:rPr>
              <a:t>Collection Framework</a:t>
            </a:r>
            <a:endParaRPr/>
          </a:p>
        </p:txBody>
      </p:sp>
      <p:pic>
        <p:nvPicPr>
          <p:cNvPr id="236" name="Google Shape;236;p2"/>
          <p:cNvPicPr preferRelativeResize="0"/>
          <p:nvPr/>
        </p:nvPicPr>
        <p:blipFill rotWithShape="1">
          <a:blip r:embed="rId3">
            <a:alphaModFix/>
          </a:blip>
          <a:srcRect l="25290" t="6287" r="23678" b="6958"/>
          <a:stretch/>
        </p:blipFill>
        <p:spPr>
          <a:xfrm>
            <a:off x="957407" y="1890227"/>
            <a:ext cx="1637034" cy="2782957"/>
          </a:xfrm>
          <a:prstGeom prst="rect">
            <a:avLst/>
          </a:prstGeom>
          <a:noFill/>
          <a:ln>
            <a:noFill/>
          </a:ln>
        </p:spPr>
      </p:pic>
      <p:sp>
        <p:nvSpPr>
          <p:cNvPr id="237" name="Google Shape;237;p2"/>
          <p:cNvSpPr txBox="1"/>
          <p:nvPr/>
        </p:nvSpPr>
        <p:spPr>
          <a:xfrm>
            <a:off x="4964917" y="40206"/>
            <a:ext cx="536065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rgbClr val="261628"/>
                </a:solidFill>
                <a:latin typeface="Calibri"/>
                <a:ea typeface="Calibri"/>
                <a:cs typeface="Calibri"/>
                <a:sym typeface="Calibri"/>
              </a:rPr>
              <a:t>Core Java</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pic>
        <p:nvPicPr>
          <p:cNvPr id="242" name="Google Shape;242;p3"/>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3" name="Google Shape;243;p3"/>
          <p:cNvSpPr/>
          <p:nvPr/>
        </p:nvSpPr>
        <p:spPr>
          <a:xfrm>
            <a:off x="0" y="5658678"/>
            <a:ext cx="12192000" cy="1070734"/>
          </a:xfrm>
          <a:custGeom>
            <a:avLst/>
            <a:gdLst/>
            <a:ahLst/>
            <a:cxnLst/>
            <a:rect l="l" t="t" r="r" b="b"/>
            <a:pathLst>
              <a:path w="3283" h="725" extrusionOk="0">
                <a:moveTo>
                  <a:pt x="0" y="348"/>
                </a:moveTo>
                <a:cubicBezTo>
                  <a:pt x="1059" y="58"/>
                  <a:pt x="1059" y="58"/>
                  <a:pt x="1059" y="58"/>
                </a:cubicBezTo>
                <a:cubicBezTo>
                  <a:pt x="1268" y="1"/>
                  <a:pt x="1489" y="0"/>
                  <a:pt x="1698" y="56"/>
                </a:cubicBezTo>
                <a:cubicBezTo>
                  <a:pt x="2268" y="209"/>
                  <a:pt x="2268" y="209"/>
                  <a:pt x="2268" y="209"/>
                </a:cubicBezTo>
                <a:cubicBezTo>
                  <a:pt x="2490" y="268"/>
                  <a:pt x="2724" y="259"/>
                  <a:pt x="2940" y="182"/>
                </a:cubicBezTo>
                <a:cubicBezTo>
                  <a:pt x="3283" y="60"/>
                  <a:pt x="3283" y="60"/>
                  <a:pt x="3283" y="60"/>
                </a:cubicBezTo>
                <a:cubicBezTo>
                  <a:pt x="3283" y="725"/>
                  <a:pt x="3283" y="725"/>
                  <a:pt x="3283" y="725"/>
                </a:cubicBezTo>
                <a:cubicBezTo>
                  <a:pt x="0" y="725"/>
                  <a:pt x="0" y="725"/>
                  <a:pt x="0" y="725"/>
                </a:cubicBezTo>
                <a:lnTo>
                  <a:pt x="0" y="348"/>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4" name="Google Shape;244;p3"/>
          <p:cNvSpPr/>
          <p:nvPr/>
        </p:nvSpPr>
        <p:spPr>
          <a:xfrm>
            <a:off x="0" y="5658678"/>
            <a:ext cx="12192000" cy="1199322"/>
          </a:xfrm>
          <a:custGeom>
            <a:avLst/>
            <a:gdLst/>
            <a:ahLst/>
            <a:cxnLst/>
            <a:rect l="l" t="t" r="r" b="b"/>
            <a:pathLst>
              <a:path w="3283" h="725" extrusionOk="0">
                <a:moveTo>
                  <a:pt x="0" y="348"/>
                </a:moveTo>
                <a:cubicBezTo>
                  <a:pt x="1059" y="58"/>
                  <a:pt x="1059" y="58"/>
                  <a:pt x="1059" y="58"/>
                </a:cubicBezTo>
                <a:cubicBezTo>
                  <a:pt x="1268" y="1"/>
                  <a:pt x="1489" y="0"/>
                  <a:pt x="1698" y="56"/>
                </a:cubicBezTo>
                <a:cubicBezTo>
                  <a:pt x="2268" y="209"/>
                  <a:pt x="2268" y="209"/>
                  <a:pt x="2268" y="209"/>
                </a:cubicBezTo>
                <a:cubicBezTo>
                  <a:pt x="2490" y="268"/>
                  <a:pt x="2724" y="259"/>
                  <a:pt x="2940" y="182"/>
                </a:cubicBezTo>
                <a:cubicBezTo>
                  <a:pt x="3283" y="60"/>
                  <a:pt x="3283" y="60"/>
                  <a:pt x="3283" y="60"/>
                </a:cubicBezTo>
                <a:cubicBezTo>
                  <a:pt x="3283" y="725"/>
                  <a:pt x="3283" y="725"/>
                  <a:pt x="3283" y="725"/>
                </a:cubicBezTo>
                <a:cubicBezTo>
                  <a:pt x="0" y="725"/>
                  <a:pt x="0" y="725"/>
                  <a:pt x="0" y="725"/>
                </a:cubicBezTo>
                <a:lnTo>
                  <a:pt x="0" y="348"/>
                </a:lnTo>
                <a:close/>
              </a:path>
            </a:pathLst>
          </a:custGeom>
          <a:solidFill>
            <a:srgbClr val="747F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3"/>
          <p:cNvSpPr/>
          <p:nvPr/>
        </p:nvSpPr>
        <p:spPr>
          <a:xfrm>
            <a:off x="4545496" y="237587"/>
            <a:ext cx="3101008" cy="847604"/>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4800" b="1">
                <a:solidFill>
                  <a:srgbClr val="261628"/>
                </a:solidFill>
                <a:latin typeface="Calibri"/>
                <a:ea typeface="Calibri"/>
                <a:cs typeface="Calibri"/>
                <a:sym typeface="Calibri"/>
              </a:rPr>
              <a:t>Framework</a:t>
            </a:r>
            <a:endParaRPr/>
          </a:p>
        </p:txBody>
      </p:sp>
      <p:sp>
        <p:nvSpPr>
          <p:cNvPr id="246" name="Google Shape;246;p3"/>
          <p:cNvSpPr/>
          <p:nvPr/>
        </p:nvSpPr>
        <p:spPr>
          <a:xfrm>
            <a:off x="2674524" y="1132259"/>
            <a:ext cx="8673812" cy="2666692"/>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7000"/>
              </a:lnSpc>
              <a:spcBef>
                <a:spcPts val="0"/>
              </a:spcBef>
              <a:spcAft>
                <a:spcPts val="0"/>
              </a:spcAft>
              <a:buClr>
                <a:srgbClr val="261628"/>
              </a:buClr>
              <a:buSzPts val="1800"/>
              <a:buFont typeface="Noto Sans Symbols"/>
              <a:buChar char="▪"/>
            </a:pPr>
            <a:r>
              <a:rPr lang="en-US" sz="1800" b="1">
                <a:solidFill>
                  <a:srgbClr val="261628"/>
                </a:solidFill>
                <a:latin typeface="Calibri"/>
                <a:ea typeface="Calibri"/>
                <a:cs typeface="Calibri"/>
                <a:sym typeface="Calibri"/>
              </a:rPr>
              <a:t>It is an abstraction which defines generic or common functionalities or utilities.</a:t>
            </a:r>
            <a:endParaRPr/>
          </a:p>
          <a:p>
            <a:pPr marL="285750" marR="0" lvl="0" indent="-285750" algn="just" rtl="0">
              <a:lnSpc>
                <a:spcPct val="107000"/>
              </a:lnSpc>
              <a:spcBef>
                <a:spcPts val="800"/>
              </a:spcBef>
              <a:spcAft>
                <a:spcPts val="0"/>
              </a:spcAft>
              <a:buClr>
                <a:srgbClr val="261628"/>
              </a:buClr>
              <a:buSzPts val="1800"/>
              <a:buFont typeface="Noto Sans Symbols"/>
              <a:buChar char="▪"/>
            </a:pPr>
            <a:r>
              <a:rPr lang="en-US" sz="1800" b="1">
                <a:solidFill>
                  <a:srgbClr val="261628"/>
                </a:solidFill>
                <a:latin typeface="Calibri"/>
                <a:ea typeface="Calibri"/>
                <a:cs typeface="Calibri"/>
                <a:sym typeface="Calibri"/>
              </a:rPr>
              <a:t>This generic functionalities can be extended and used or can be modified by additional user-written code.</a:t>
            </a:r>
            <a:endParaRPr/>
          </a:p>
          <a:p>
            <a:pPr marL="285750" marR="0" lvl="0" indent="-285750" algn="just" rtl="0">
              <a:lnSpc>
                <a:spcPct val="107000"/>
              </a:lnSpc>
              <a:spcBef>
                <a:spcPts val="800"/>
              </a:spcBef>
              <a:spcAft>
                <a:spcPts val="0"/>
              </a:spcAft>
              <a:buClr>
                <a:srgbClr val="261628"/>
              </a:buClr>
              <a:buSzPts val="1800"/>
              <a:buFont typeface="Noto Sans Symbols"/>
              <a:buChar char="▪"/>
            </a:pPr>
            <a:r>
              <a:rPr lang="en-US" sz="1800" b="1">
                <a:solidFill>
                  <a:srgbClr val="261628"/>
                </a:solidFill>
                <a:latin typeface="Calibri"/>
                <a:ea typeface="Calibri"/>
                <a:cs typeface="Calibri"/>
                <a:sym typeface="Calibri"/>
              </a:rPr>
              <a:t>Mainly used for application development.</a:t>
            </a:r>
            <a:endParaRPr/>
          </a:p>
          <a:p>
            <a:pPr marL="285750" marR="0" lvl="0" indent="-285750" algn="just" rtl="0">
              <a:lnSpc>
                <a:spcPct val="107000"/>
              </a:lnSpc>
              <a:spcBef>
                <a:spcPts val="800"/>
              </a:spcBef>
              <a:spcAft>
                <a:spcPts val="0"/>
              </a:spcAft>
              <a:buClr>
                <a:srgbClr val="261628"/>
              </a:buClr>
              <a:buSzPts val="1800"/>
              <a:buFont typeface="Noto Sans Symbols"/>
              <a:buChar char="▪"/>
            </a:pPr>
            <a:r>
              <a:rPr lang="en-US" sz="1800" b="1">
                <a:solidFill>
                  <a:srgbClr val="261628"/>
                </a:solidFill>
                <a:latin typeface="Calibri"/>
                <a:ea typeface="Calibri"/>
                <a:cs typeface="Calibri"/>
                <a:sym typeface="Calibri"/>
              </a:rPr>
              <a:t>They are tested.</a:t>
            </a:r>
            <a:endParaRPr/>
          </a:p>
          <a:p>
            <a:pPr marL="285750" marR="0" lvl="0" indent="-285750" algn="just" rtl="0">
              <a:lnSpc>
                <a:spcPct val="107000"/>
              </a:lnSpc>
              <a:spcBef>
                <a:spcPts val="800"/>
              </a:spcBef>
              <a:spcAft>
                <a:spcPts val="0"/>
              </a:spcAft>
              <a:buClr>
                <a:srgbClr val="261628"/>
              </a:buClr>
              <a:buSzPts val="1800"/>
              <a:buFont typeface="Noto Sans Symbols"/>
              <a:buChar char="▪"/>
            </a:pPr>
            <a:r>
              <a:rPr lang="en-US" sz="1800" b="1">
                <a:solidFill>
                  <a:srgbClr val="261628"/>
                </a:solidFill>
                <a:latin typeface="Calibri"/>
                <a:ea typeface="Calibri"/>
                <a:cs typeface="Calibri"/>
                <a:sym typeface="Calibri"/>
              </a:rPr>
              <a:t>Uses best practices and necessary design patterns.</a:t>
            </a:r>
            <a:endParaRPr/>
          </a:p>
          <a:p>
            <a:pPr marL="285750" marR="0" lvl="0" indent="-285750" algn="just" rtl="0">
              <a:lnSpc>
                <a:spcPct val="107000"/>
              </a:lnSpc>
              <a:spcBef>
                <a:spcPts val="800"/>
              </a:spcBef>
              <a:spcAft>
                <a:spcPts val="0"/>
              </a:spcAft>
              <a:buClr>
                <a:srgbClr val="261628"/>
              </a:buClr>
              <a:buSzPts val="1800"/>
              <a:buFont typeface="Noto Sans Symbols"/>
              <a:buChar char="▪"/>
            </a:pPr>
            <a:r>
              <a:rPr lang="en-US" sz="1800" b="1">
                <a:solidFill>
                  <a:srgbClr val="261628"/>
                </a:solidFill>
                <a:latin typeface="Calibri"/>
                <a:ea typeface="Calibri"/>
                <a:cs typeface="Calibri"/>
                <a:sym typeface="Calibri"/>
              </a:rPr>
              <a:t>Different frameworks are available for different kinds of application development.</a:t>
            </a:r>
            <a:endParaRPr/>
          </a:p>
        </p:txBody>
      </p:sp>
      <p:pic>
        <p:nvPicPr>
          <p:cNvPr id="247" name="Google Shape;247;p3"/>
          <p:cNvPicPr preferRelativeResize="0"/>
          <p:nvPr/>
        </p:nvPicPr>
        <p:blipFill rotWithShape="1">
          <a:blip r:embed="rId4">
            <a:alphaModFix/>
          </a:blip>
          <a:srcRect l="25290" t="6287" r="23678" b="6958"/>
          <a:stretch/>
        </p:blipFill>
        <p:spPr>
          <a:xfrm>
            <a:off x="430431" y="202012"/>
            <a:ext cx="704119" cy="1033969"/>
          </a:xfrm>
          <a:prstGeom prst="rect">
            <a:avLst/>
          </a:prstGeom>
          <a:noFill/>
          <a:ln>
            <a:noFill/>
          </a:ln>
        </p:spPr>
      </p:pic>
      <p:pic>
        <p:nvPicPr>
          <p:cNvPr id="248" name="Google Shape;248;p3" descr="Image result for framework icon"/>
          <p:cNvPicPr preferRelativeResize="0"/>
          <p:nvPr/>
        </p:nvPicPr>
        <p:blipFill rotWithShape="1">
          <a:blip r:embed="rId5">
            <a:alphaModFix/>
          </a:blip>
          <a:srcRect/>
          <a:stretch/>
        </p:blipFill>
        <p:spPr>
          <a:xfrm>
            <a:off x="529328" y="1437993"/>
            <a:ext cx="1905000" cy="1905000"/>
          </a:xfrm>
          <a:prstGeom prst="rect">
            <a:avLst/>
          </a:prstGeom>
          <a:noFill/>
          <a:ln>
            <a:noFill/>
          </a:ln>
        </p:spPr>
      </p:pic>
      <p:grpSp>
        <p:nvGrpSpPr>
          <p:cNvPr id="249" name="Google Shape;249;p3"/>
          <p:cNvGrpSpPr/>
          <p:nvPr/>
        </p:nvGrpSpPr>
        <p:grpSpPr>
          <a:xfrm>
            <a:off x="356730" y="4645197"/>
            <a:ext cx="2570156" cy="1560001"/>
            <a:chOff x="862157" y="4413681"/>
            <a:chExt cx="2570156" cy="1560001"/>
          </a:xfrm>
        </p:grpSpPr>
        <p:pic>
          <p:nvPicPr>
            <p:cNvPr id="250" name="Google Shape;250;p3" descr="Image result for collections icon"/>
            <p:cNvPicPr preferRelativeResize="0"/>
            <p:nvPr/>
          </p:nvPicPr>
          <p:blipFill rotWithShape="1">
            <a:blip r:embed="rId6">
              <a:alphaModFix/>
            </a:blip>
            <a:srcRect/>
            <a:stretch/>
          </p:blipFill>
          <p:spPr>
            <a:xfrm>
              <a:off x="1481828" y="4780986"/>
              <a:ext cx="1192696" cy="1192696"/>
            </a:xfrm>
            <a:prstGeom prst="rect">
              <a:avLst/>
            </a:prstGeom>
            <a:noFill/>
            <a:ln>
              <a:noFill/>
            </a:ln>
          </p:spPr>
        </p:pic>
        <p:sp>
          <p:nvSpPr>
            <p:cNvPr id="251" name="Google Shape;251;p3"/>
            <p:cNvSpPr/>
            <p:nvPr/>
          </p:nvSpPr>
          <p:spPr>
            <a:xfrm>
              <a:off x="862157" y="4413681"/>
              <a:ext cx="2570156" cy="372346"/>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1">
                  <a:solidFill>
                    <a:srgbClr val="261628"/>
                  </a:solidFill>
                  <a:latin typeface="Roboto"/>
                  <a:ea typeface="Roboto"/>
                  <a:cs typeface="Roboto"/>
                  <a:sym typeface="Roboto"/>
                </a:rPr>
                <a:t>Collection Framework</a:t>
              </a:r>
              <a:endParaRPr/>
            </a:p>
          </p:txBody>
        </p:sp>
      </p:grpSp>
      <p:pic>
        <p:nvPicPr>
          <p:cNvPr id="252" name="Google Shape;252;p3"/>
          <p:cNvPicPr preferRelativeResize="0"/>
          <p:nvPr/>
        </p:nvPicPr>
        <p:blipFill rotWithShape="1">
          <a:blip r:embed="rId7">
            <a:alphaModFix/>
          </a:blip>
          <a:srcRect/>
          <a:stretch/>
        </p:blipFill>
        <p:spPr>
          <a:xfrm>
            <a:off x="2788768" y="4773412"/>
            <a:ext cx="3590574" cy="956976"/>
          </a:xfrm>
          <a:prstGeom prst="rect">
            <a:avLst/>
          </a:prstGeom>
          <a:noFill/>
          <a:ln>
            <a:noFill/>
          </a:ln>
        </p:spPr>
      </p:pic>
      <p:pic>
        <p:nvPicPr>
          <p:cNvPr id="253" name="Google Shape;253;p3"/>
          <p:cNvPicPr preferRelativeResize="0"/>
          <p:nvPr/>
        </p:nvPicPr>
        <p:blipFill rotWithShape="1">
          <a:blip r:embed="rId8">
            <a:alphaModFix/>
          </a:blip>
          <a:srcRect/>
          <a:stretch/>
        </p:blipFill>
        <p:spPr>
          <a:xfrm>
            <a:off x="6769519" y="4707953"/>
            <a:ext cx="2516151" cy="956976"/>
          </a:xfrm>
          <a:prstGeom prst="rect">
            <a:avLst/>
          </a:prstGeom>
          <a:noFill/>
          <a:ln>
            <a:noFill/>
          </a:ln>
        </p:spPr>
      </p:pic>
      <p:pic>
        <p:nvPicPr>
          <p:cNvPr id="254" name="Google Shape;254;p3" descr="Image result for junit logo"/>
          <p:cNvPicPr preferRelativeResize="0"/>
          <p:nvPr/>
        </p:nvPicPr>
        <p:blipFill rotWithShape="1">
          <a:blip r:embed="rId9">
            <a:alphaModFix/>
          </a:blip>
          <a:srcRect/>
          <a:stretch/>
        </p:blipFill>
        <p:spPr>
          <a:xfrm>
            <a:off x="9547446" y="4784144"/>
            <a:ext cx="2352132" cy="71857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46"/>
                                        </p:tgtEl>
                                        <p:attrNameLst>
                                          <p:attrName>style.visibility</p:attrName>
                                        </p:attrNameLst>
                                      </p:cBhvr>
                                      <p:to>
                                        <p:strVal val="visible"/>
                                      </p:to>
                                    </p:set>
                                    <p:anim calcmode="lin" valueType="num">
                                      <p:cBhvr additive="base">
                                        <p:cTn id="7" dur="500"/>
                                        <p:tgtEl>
                                          <p:spTgt spid="246"/>
                                        </p:tgtEl>
                                        <p:attrNameLst>
                                          <p:attrName>ppt_w</p:attrName>
                                        </p:attrNameLst>
                                      </p:cBhvr>
                                      <p:tavLst>
                                        <p:tav tm="0">
                                          <p:val>
                                            <p:strVal val="0"/>
                                          </p:val>
                                        </p:tav>
                                        <p:tav tm="100000">
                                          <p:val>
                                            <p:strVal val="#ppt_w"/>
                                          </p:val>
                                        </p:tav>
                                      </p:tavLst>
                                    </p:anim>
                                    <p:anim calcmode="lin" valueType="num">
                                      <p:cBhvr additive="base">
                                        <p:cTn id="8" dur="500"/>
                                        <p:tgtEl>
                                          <p:spTgt spid="24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4"/>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0" name="Google Shape;260;p4"/>
          <p:cNvSpPr/>
          <p:nvPr/>
        </p:nvSpPr>
        <p:spPr>
          <a:xfrm flipH="1">
            <a:off x="-1" y="0"/>
            <a:ext cx="3458817" cy="6858000"/>
          </a:xfrm>
          <a:custGeom>
            <a:avLst/>
            <a:gdLst/>
            <a:ahLst/>
            <a:cxnLst/>
            <a:rect l="l" t="t" r="r" b="b"/>
            <a:pathLst>
              <a:path w="4582884" h="6858000" extrusionOk="0">
                <a:moveTo>
                  <a:pt x="1095236" y="0"/>
                </a:moveTo>
                <a:lnTo>
                  <a:pt x="4582884" y="0"/>
                </a:lnTo>
                <a:lnTo>
                  <a:pt x="4582884" y="6858000"/>
                </a:lnTo>
                <a:lnTo>
                  <a:pt x="1041049" y="6858000"/>
                </a:lnTo>
                <a:lnTo>
                  <a:pt x="1031804" y="6845000"/>
                </a:lnTo>
                <a:cubicBezTo>
                  <a:pt x="380376" y="5880759"/>
                  <a:pt x="0" y="4718351"/>
                  <a:pt x="0" y="3467100"/>
                </a:cubicBezTo>
                <a:cubicBezTo>
                  <a:pt x="0" y="2215850"/>
                  <a:pt x="380376" y="1053441"/>
                  <a:pt x="1031804" y="89200"/>
                </a:cubicBezTo>
                <a:close/>
              </a:path>
            </a:pathLst>
          </a:cu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 name="Google Shape;261;p4"/>
          <p:cNvSpPr/>
          <p:nvPr/>
        </p:nvSpPr>
        <p:spPr>
          <a:xfrm>
            <a:off x="3657598" y="419619"/>
            <a:ext cx="7977810" cy="1860702"/>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2400">
                <a:solidFill>
                  <a:schemeClr val="dk1"/>
                </a:solidFill>
                <a:latin typeface="Calibri"/>
                <a:ea typeface="Calibri"/>
                <a:cs typeface="Calibri"/>
                <a:sym typeface="Calibri"/>
              </a:rPr>
              <a:t>What is a Collection Framework?</a:t>
            </a:r>
            <a:endParaRPr/>
          </a:p>
          <a:p>
            <a:pPr marL="342900" marR="0" lvl="0" indent="-342900" algn="just" rtl="0">
              <a:lnSpc>
                <a:spcPct val="107000"/>
              </a:lnSpc>
              <a:spcBef>
                <a:spcPts val="80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Framework that deals with collection/group of data.</a:t>
            </a:r>
            <a:endParaRPr/>
          </a:p>
          <a:p>
            <a:pPr marL="342900" marR="0" lvl="0" indent="-342900" algn="just" rtl="0">
              <a:lnSpc>
                <a:spcPct val="107000"/>
              </a:lnSpc>
              <a:spcBef>
                <a:spcPts val="80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It has predefined interfaces, implementation classes, utility methods which are collectively present in </a:t>
            </a:r>
            <a:r>
              <a:rPr lang="en-US" sz="2400" b="1" i="1">
                <a:solidFill>
                  <a:schemeClr val="dk1"/>
                </a:solidFill>
                <a:latin typeface="Calibri"/>
                <a:ea typeface="Calibri"/>
                <a:cs typeface="Calibri"/>
                <a:sym typeface="Calibri"/>
              </a:rPr>
              <a:t>java.util </a:t>
            </a:r>
            <a:r>
              <a:rPr lang="en-US" sz="2400">
                <a:solidFill>
                  <a:schemeClr val="dk1"/>
                </a:solidFill>
                <a:latin typeface="Calibri"/>
                <a:ea typeface="Calibri"/>
                <a:cs typeface="Calibri"/>
                <a:sym typeface="Calibri"/>
              </a:rPr>
              <a:t>package.</a:t>
            </a:r>
            <a:endParaRPr/>
          </a:p>
        </p:txBody>
      </p:sp>
      <p:grpSp>
        <p:nvGrpSpPr>
          <p:cNvPr id="262" name="Google Shape;262;p4"/>
          <p:cNvGrpSpPr/>
          <p:nvPr/>
        </p:nvGrpSpPr>
        <p:grpSpPr>
          <a:xfrm>
            <a:off x="328892" y="2492304"/>
            <a:ext cx="2719107" cy="1873391"/>
            <a:chOff x="862157" y="4413681"/>
            <a:chExt cx="2570156" cy="1560001"/>
          </a:xfrm>
        </p:grpSpPr>
        <p:pic>
          <p:nvPicPr>
            <p:cNvPr id="263" name="Google Shape;263;p4"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264" name="Google Shape;264;p4"/>
            <p:cNvSpPr/>
            <p:nvPr/>
          </p:nvSpPr>
          <p:spPr>
            <a:xfrm>
              <a:off x="862157" y="4413681"/>
              <a:ext cx="2570156" cy="335954"/>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2000" b="1">
                  <a:solidFill>
                    <a:schemeClr val="lt1"/>
                  </a:solidFill>
                  <a:latin typeface="Roboto"/>
                  <a:ea typeface="Roboto"/>
                  <a:cs typeface="Roboto"/>
                  <a:sym typeface="Roboto"/>
                </a:rPr>
                <a:t>Collection Framework</a:t>
              </a:r>
              <a:endParaRPr/>
            </a:p>
          </p:txBody>
        </p:sp>
      </p:grpSp>
      <p:sp>
        <p:nvSpPr>
          <p:cNvPr id="265" name="Google Shape;265;p4"/>
          <p:cNvSpPr/>
          <p:nvPr/>
        </p:nvSpPr>
        <p:spPr>
          <a:xfrm>
            <a:off x="3657598" y="3239906"/>
            <a:ext cx="7977810" cy="2954527"/>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2400">
                <a:solidFill>
                  <a:schemeClr val="dk1"/>
                </a:solidFill>
                <a:latin typeface="Calibri"/>
                <a:ea typeface="Calibri"/>
                <a:cs typeface="Calibri"/>
                <a:sym typeface="Calibri"/>
              </a:rPr>
              <a:t>Why Collection Framework?</a:t>
            </a:r>
            <a:endParaRPr/>
          </a:p>
          <a:p>
            <a:pPr marL="342900" marR="0" lvl="0" indent="-342900" algn="just" rtl="0">
              <a:lnSpc>
                <a:spcPct val="107000"/>
              </a:lnSpc>
              <a:spcBef>
                <a:spcPts val="80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For scalability.</a:t>
            </a:r>
            <a:endParaRPr/>
          </a:p>
          <a:p>
            <a:pPr marL="342900" marR="0" lvl="0" indent="-342900" algn="just" rtl="0">
              <a:lnSpc>
                <a:spcPct val="107000"/>
              </a:lnSpc>
              <a:spcBef>
                <a:spcPts val="80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To store heterogeneous data.</a:t>
            </a:r>
            <a:endParaRPr/>
          </a:p>
          <a:p>
            <a:pPr marL="342900" marR="0" lvl="0" indent="-342900" algn="just" rtl="0">
              <a:lnSpc>
                <a:spcPct val="107000"/>
              </a:lnSpc>
              <a:spcBef>
                <a:spcPts val="80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Effective way for data handling.</a:t>
            </a:r>
            <a:endParaRPr/>
          </a:p>
          <a:p>
            <a:pPr marL="342900" marR="0" lvl="0" indent="-342900" algn="just" rtl="0">
              <a:lnSpc>
                <a:spcPct val="107000"/>
              </a:lnSpc>
              <a:spcBef>
                <a:spcPts val="80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Defined data structures and ready made methods.</a:t>
            </a:r>
            <a:endParaRPr/>
          </a:p>
          <a:p>
            <a:pPr marL="342900" marR="0" lvl="0" indent="-190500" algn="just" rtl="0">
              <a:lnSpc>
                <a:spcPct val="107000"/>
              </a:lnSpc>
              <a:spcBef>
                <a:spcPts val="800"/>
              </a:spcBef>
              <a:spcAft>
                <a:spcPts val="0"/>
              </a:spcAft>
              <a:buClr>
                <a:schemeClr val="dk1"/>
              </a:buClr>
              <a:buSzPts val="2400"/>
              <a:buFont typeface="Noto Sans Symbols"/>
              <a:buNone/>
            </a:pPr>
            <a:endParaRPr sz="24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1"/>
                                        </p:tgtEl>
                                        <p:attrNameLst>
                                          <p:attrName>style.visibility</p:attrName>
                                        </p:attrNameLst>
                                      </p:cBhvr>
                                      <p:to>
                                        <p:strVal val="visible"/>
                                      </p:to>
                                    </p:set>
                                    <p:animEffect transition="in" filter="fade">
                                      <p:cBhvr>
                                        <p:cTn id="7" dur="500"/>
                                        <p:tgtEl>
                                          <p:spTgt spid="2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5"/>
                                        </p:tgtEl>
                                        <p:attrNameLst>
                                          <p:attrName>style.visibility</p:attrName>
                                        </p:attrNameLst>
                                      </p:cBhvr>
                                      <p:to>
                                        <p:strVal val="visible"/>
                                      </p:to>
                                    </p:set>
                                    <p:animEffect transition="in" filter="fade">
                                      <p:cBhvr>
                                        <p:cTn id="12" dur="500"/>
                                        <p:tgtEl>
                                          <p:spTgt spid="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5"/>
          <p:cNvPicPr preferRelativeResize="0"/>
          <p:nvPr/>
        </p:nvPicPr>
        <p:blipFill rotWithShape="1">
          <a:blip r:embed="rId3">
            <a:alphaModFix/>
          </a:blip>
          <a:srcRect/>
          <a:stretch/>
        </p:blipFill>
        <p:spPr>
          <a:xfrm>
            <a:off x="0" y="-46495"/>
            <a:ext cx="12192000" cy="6858000"/>
          </a:xfrm>
          <a:prstGeom prst="rect">
            <a:avLst/>
          </a:prstGeom>
          <a:noFill/>
          <a:ln>
            <a:noFill/>
          </a:ln>
        </p:spPr>
      </p:pic>
      <p:sp>
        <p:nvSpPr>
          <p:cNvPr id="271" name="Google Shape;271;p5"/>
          <p:cNvSpPr/>
          <p:nvPr/>
        </p:nvSpPr>
        <p:spPr>
          <a:xfrm rot="10800000">
            <a:off x="0" y="-46495"/>
            <a:ext cx="12192000" cy="1534332"/>
          </a:xfrm>
          <a:custGeom>
            <a:avLst/>
            <a:gdLst/>
            <a:ahLst/>
            <a:cxnLst/>
            <a:rect l="l" t="t" r="r" b="b"/>
            <a:pathLst>
              <a:path w="12192000" h="1007390" extrusionOk="0">
                <a:moveTo>
                  <a:pt x="503695" y="0"/>
                </a:moveTo>
                <a:cubicBezTo>
                  <a:pt x="4231898" y="0"/>
                  <a:pt x="12501106" y="759417"/>
                  <a:pt x="11688305" y="0"/>
                </a:cubicBezTo>
                <a:lnTo>
                  <a:pt x="12192000" y="503695"/>
                </a:lnTo>
                <a:lnTo>
                  <a:pt x="12192000" y="1007390"/>
                </a:lnTo>
                <a:lnTo>
                  <a:pt x="12192000" y="1007390"/>
                </a:lnTo>
                <a:lnTo>
                  <a:pt x="0" y="1007390"/>
                </a:lnTo>
                <a:lnTo>
                  <a:pt x="0" y="1007390"/>
                </a:lnTo>
                <a:lnTo>
                  <a:pt x="0" y="503695"/>
                </a:lnTo>
                <a:lnTo>
                  <a:pt x="503695" y="0"/>
                </a:lnTo>
                <a:close/>
              </a:path>
            </a:pathLst>
          </a:custGeom>
          <a:solidFill>
            <a:srgbClr val="261628"/>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72" name="Google Shape;272;p5"/>
          <p:cNvSpPr txBox="1"/>
          <p:nvPr/>
        </p:nvSpPr>
        <p:spPr>
          <a:xfrm>
            <a:off x="4242672" y="238582"/>
            <a:ext cx="396384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Arrays Vs Collection</a:t>
            </a:r>
            <a:endParaRPr/>
          </a:p>
        </p:txBody>
      </p:sp>
      <p:graphicFrame>
        <p:nvGraphicFramePr>
          <p:cNvPr id="273" name="Google Shape;273;p5"/>
          <p:cNvGraphicFramePr/>
          <p:nvPr/>
        </p:nvGraphicFramePr>
        <p:xfrm>
          <a:off x="530086" y="2195334"/>
          <a:ext cx="11025800" cy="4211390"/>
        </p:xfrm>
        <a:graphic>
          <a:graphicData uri="http://schemas.openxmlformats.org/drawingml/2006/table">
            <a:tbl>
              <a:tblPr firstRow="1" bandRow="1">
                <a:noFill/>
                <a:tableStyleId>{B9160D5A-F4D8-4355-9011-09AB1966FD5C}</a:tableStyleId>
              </a:tblPr>
              <a:tblGrid>
                <a:gridCol w="5512900">
                  <a:extLst>
                    <a:ext uri="{9D8B030D-6E8A-4147-A177-3AD203B41FA5}">
                      <a16:colId xmlns:a16="http://schemas.microsoft.com/office/drawing/2014/main" val="20000"/>
                    </a:ext>
                  </a:extLst>
                </a:gridCol>
                <a:gridCol w="5512900">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1800" u="none" strike="noStrike" cap="none"/>
                        <a:t>Arrays</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Collection</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2400" u="none" strike="noStrike" cap="none"/>
                        <a:t>Homogenous in nature wherein only one type of data can be stored.</a:t>
                      </a:r>
                      <a:endParaRPr/>
                    </a:p>
                  </a:txBody>
                  <a:tcPr marL="91450" marR="91450" marT="45725" marB="45725"/>
                </a:tc>
                <a:tc>
                  <a:txBody>
                    <a:bodyPr/>
                    <a:lstStyle/>
                    <a:p>
                      <a:pPr marL="0" marR="0" lvl="0" indent="0" algn="l" rtl="0">
                        <a:spcBef>
                          <a:spcPts val="0"/>
                        </a:spcBef>
                        <a:spcAft>
                          <a:spcPts val="0"/>
                        </a:spcAft>
                        <a:buNone/>
                      </a:pPr>
                      <a:r>
                        <a:rPr lang="en-US" sz="2400"/>
                        <a:t>Heterogeneous in nature wherein multiple types of data can be stored.</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2400"/>
                        <a:t>It is static or fixed in size.</a:t>
                      </a:r>
                      <a:endParaRPr/>
                    </a:p>
                  </a:txBody>
                  <a:tcPr marL="91450" marR="91450" marT="45725" marB="45725"/>
                </a:tc>
                <a:tc>
                  <a:txBody>
                    <a:bodyPr/>
                    <a:lstStyle/>
                    <a:p>
                      <a:pPr marL="0" marR="0" lvl="0" indent="0" algn="l" rtl="0">
                        <a:spcBef>
                          <a:spcPts val="0"/>
                        </a:spcBef>
                        <a:spcAft>
                          <a:spcPts val="0"/>
                        </a:spcAft>
                        <a:buNone/>
                      </a:pPr>
                      <a:r>
                        <a:rPr lang="en-US" sz="2400"/>
                        <a:t>It is dynamic or elastic.</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2400"/>
                        <a:t>Doesn’t have any inbuilt methods for data handling.</a:t>
                      </a:r>
                      <a:endParaRPr/>
                    </a:p>
                  </a:txBody>
                  <a:tcPr marL="91450" marR="91450" marT="45725" marB="45725"/>
                </a:tc>
                <a:tc>
                  <a:txBody>
                    <a:bodyPr/>
                    <a:lstStyle/>
                    <a:p>
                      <a:pPr marL="0" marR="0" lvl="0" indent="0" algn="l" rtl="0">
                        <a:spcBef>
                          <a:spcPts val="0"/>
                        </a:spcBef>
                        <a:spcAft>
                          <a:spcPts val="0"/>
                        </a:spcAft>
                        <a:buNone/>
                      </a:pPr>
                      <a:r>
                        <a:rPr lang="en-US" sz="2400"/>
                        <a:t>Has many inbuilt methods for data handling.</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2400"/>
                        <a:t>Can store primitive data.</a:t>
                      </a:r>
                      <a:endParaRPr/>
                    </a:p>
                  </a:txBody>
                  <a:tcPr marL="91450" marR="91450" marT="45725" marB="45725"/>
                </a:tc>
                <a:tc>
                  <a:txBody>
                    <a:bodyPr/>
                    <a:lstStyle/>
                    <a:p>
                      <a:pPr marL="0" marR="0" lvl="0" indent="0" algn="l" rtl="0">
                        <a:spcBef>
                          <a:spcPts val="0"/>
                        </a:spcBef>
                        <a:spcAft>
                          <a:spcPts val="0"/>
                        </a:spcAft>
                        <a:buNone/>
                      </a:pPr>
                      <a:r>
                        <a:rPr lang="en-US" sz="2400"/>
                        <a:t>Can’t store primitive data.</a:t>
                      </a:r>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2400"/>
                        <a:t>Doesn’t use any data structure.</a:t>
                      </a:r>
                      <a:endParaRPr/>
                    </a:p>
                  </a:txBody>
                  <a:tcPr marL="91450" marR="91450" marT="45725" marB="45725"/>
                </a:tc>
                <a:tc>
                  <a:txBody>
                    <a:bodyPr/>
                    <a:lstStyle/>
                    <a:p>
                      <a:pPr marL="0" marR="0" lvl="0" indent="0" algn="l" rtl="0">
                        <a:spcBef>
                          <a:spcPts val="0"/>
                        </a:spcBef>
                        <a:spcAft>
                          <a:spcPts val="0"/>
                        </a:spcAft>
                        <a:buNone/>
                      </a:pPr>
                      <a:r>
                        <a:rPr lang="en-US" sz="2400"/>
                        <a:t>Uses data structures.</a:t>
                      </a:r>
                      <a:endParaRPr/>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2400"/>
                        <a:t>In case of non-primitive data, an array can store only reference.</a:t>
                      </a:r>
                      <a:endParaRPr/>
                    </a:p>
                  </a:txBody>
                  <a:tcPr marL="91450" marR="91450" marT="45725" marB="45725"/>
                </a:tc>
                <a:tc>
                  <a:txBody>
                    <a:bodyPr/>
                    <a:lstStyle/>
                    <a:p>
                      <a:pPr marL="0" marR="0" lvl="0" indent="0" algn="l" rtl="0">
                        <a:spcBef>
                          <a:spcPts val="0"/>
                        </a:spcBef>
                        <a:spcAft>
                          <a:spcPts val="0"/>
                        </a:spcAft>
                        <a:buNone/>
                      </a:pPr>
                      <a:r>
                        <a:rPr lang="en-US" sz="2400"/>
                        <a:t>It can store object as well as reference.</a:t>
                      </a:r>
                      <a:endParaRPr/>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6"/>
          <p:cNvSpPr/>
          <p:nvPr/>
        </p:nvSpPr>
        <p:spPr>
          <a:xfrm>
            <a:off x="1" y="0"/>
            <a:ext cx="3897442" cy="6858000"/>
          </a:xfrm>
          <a:prstGeom prst="rect">
            <a:avLst/>
          </a:pr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9" name="Google Shape;279;p6"/>
          <p:cNvSpPr txBox="1"/>
          <p:nvPr/>
        </p:nvSpPr>
        <p:spPr>
          <a:xfrm>
            <a:off x="1151292" y="237372"/>
            <a:ext cx="15948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Topics</a:t>
            </a:r>
            <a:endParaRPr/>
          </a:p>
        </p:txBody>
      </p:sp>
      <p:sp>
        <p:nvSpPr>
          <p:cNvPr id="280" name="Google Shape;280;p6"/>
          <p:cNvSpPr txBox="1"/>
          <p:nvPr/>
        </p:nvSpPr>
        <p:spPr>
          <a:xfrm>
            <a:off x="5989419" y="2721114"/>
            <a:ext cx="3236784"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61628"/>
                </a:solidFill>
                <a:latin typeface="Calibri"/>
                <a:ea typeface="Calibri"/>
                <a:cs typeface="Calibri"/>
                <a:sym typeface="Calibri"/>
              </a:rPr>
              <a:t>01	Collection</a:t>
            </a:r>
            <a:endParaRPr/>
          </a:p>
        </p:txBody>
      </p:sp>
      <p:pic>
        <p:nvPicPr>
          <p:cNvPr id="281" name="Google Shape;281;p6"/>
          <p:cNvPicPr preferRelativeResize="0"/>
          <p:nvPr/>
        </p:nvPicPr>
        <p:blipFill rotWithShape="1">
          <a:blip r:embed="rId3">
            <a:alphaModFix/>
          </a:blip>
          <a:srcRect l="25290" t="6287" r="23678" b="6958"/>
          <a:stretch/>
        </p:blipFill>
        <p:spPr>
          <a:xfrm>
            <a:off x="957407" y="1890227"/>
            <a:ext cx="1637034" cy="2782957"/>
          </a:xfrm>
          <a:prstGeom prst="rect">
            <a:avLst/>
          </a:prstGeom>
          <a:noFill/>
          <a:ln>
            <a:noFill/>
          </a:ln>
        </p:spPr>
      </p:pic>
      <p:sp>
        <p:nvSpPr>
          <p:cNvPr id="282" name="Google Shape;282;p6"/>
          <p:cNvSpPr txBox="1"/>
          <p:nvPr/>
        </p:nvSpPr>
        <p:spPr>
          <a:xfrm>
            <a:off x="4784035" y="0"/>
            <a:ext cx="564755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rgbClr val="261628"/>
                </a:solidFill>
                <a:latin typeface="Calibri"/>
                <a:ea typeface="Calibri"/>
                <a:cs typeface="Calibri"/>
                <a:sym typeface="Calibri"/>
              </a:rPr>
              <a:t>Collection Framework</a:t>
            </a:r>
            <a:endParaRPr/>
          </a:p>
        </p:txBody>
      </p:sp>
      <p:grpSp>
        <p:nvGrpSpPr>
          <p:cNvPr id="283" name="Google Shape;283;p6"/>
          <p:cNvGrpSpPr/>
          <p:nvPr/>
        </p:nvGrpSpPr>
        <p:grpSpPr>
          <a:xfrm>
            <a:off x="485505" y="4776597"/>
            <a:ext cx="2570156" cy="1560001"/>
            <a:chOff x="862157" y="4413681"/>
            <a:chExt cx="2570156" cy="1560001"/>
          </a:xfrm>
        </p:grpSpPr>
        <p:pic>
          <p:nvPicPr>
            <p:cNvPr id="284" name="Google Shape;284;p6"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285" name="Google Shape;285;p6"/>
            <p:cNvSpPr/>
            <p:nvPr/>
          </p:nvSpPr>
          <p:spPr>
            <a:xfrm>
              <a:off x="862157" y="4413681"/>
              <a:ext cx="2570156" cy="372346"/>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1">
                  <a:solidFill>
                    <a:schemeClr val="lt1"/>
                  </a:solidFill>
                  <a:latin typeface="Roboto"/>
                  <a:ea typeface="Roboto"/>
                  <a:cs typeface="Roboto"/>
                  <a:sym typeface="Roboto"/>
                </a:rPr>
                <a:t>Collection Framework</a:t>
              </a:r>
              <a:endParaRPr/>
            </a:p>
          </p:txBody>
        </p:sp>
      </p:gr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7"/>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291" name="Google Shape;291;p7"/>
          <p:cNvGrpSpPr/>
          <p:nvPr/>
        </p:nvGrpSpPr>
        <p:grpSpPr>
          <a:xfrm>
            <a:off x="118191" y="106018"/>
            <a:ext cx="1498574" cy="904328"/>
            <a:chOff x="862157" y="4413681"/>
            <a:chExt cx="2570156" cy="1560001"/>
          </a:xfrm>
        </p:grpSpPr>
        <p:pic>
          <p:nvPicPr>
            <p:cNvPr id="292" name="Google Shape;292;p7"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293" name="Google Shape;293;p7"/>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294" name="Google Shape;294;p7"/>
          <p:cNvSpPr/>
          <p:nvPr/>
        </p:nvSpPr>
        <p:spPr>
          <a:xfrm>
            <a:off x="5161721" y="1639711"/>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Collection</a:t>
            </a:r>
            <a:endParaRPr/>
          </a:p>
        </p:txBody>
      </p:sp>
      <p:sp>
        <p:nvSpPr>
          <p:cNvPr id="295" name="Google Shape;295;p7"/>
          <p:cNvSpPr/>
          <p:nvPr/>
        </p:nvSpPr>
        <p:spPr>
          <a:xfrm>
            <a:off x="1182126" y="2698459"/>
            <a:ext cx="1868557" cy="614578"/>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List (1.2)</a:t>
            </a:r>
            <a:endParaRPr/>
          </a:p>
        </p:txBody>
      </p:sp>
      <p:sp>
        <p:nvSpPr>
          <p:cNvPr id="296" name="Google Shape;296;p7"/>
          <p:cNvSpPr/>
          <p:nvPr/>
        </p:nvSpPr>
        <p:spPr>
          <a:xfrm>
            <a:off x="5161721" y="2698459"/>
            <a:ext cx="1868557" cy="614578"/>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Set (1.2)</a:t>
            </a:r>
            <a:endParaRPr/>
          </a:p>
        </p:txBody>
      </p:sp>
      <p:sp>
        <p:nvSpPr>
          <p:cNvPr id="297" name="Google Shape;297;p7"/>
          <p:cNvSpPr/>
          <p:nvPr/>
        </p:nvSpPr>
        <p:spPr>
          <a:xfrm>
            <a:off x="9148520" y="2698458"/>
            <a:ext cx="1868557" cy="614577"/>
          </a:xfrm>
          <a:prstGeom prst="rect">
            <a:avLst/>
          </a:prstGeom>
          <a:solidFill>
            <a:schemeClr val="accent3">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Queue (1.5)</a:t>
            </a:r>
            <a:endParaRPr/>
          </a:p>
        </p:txBody>
      </p:sp>
      <p:sp>
        <p:nvSpPr>
          <p:cNvPr id="298" name="Google Shape;298;p7"/>
          <p:cNvSpPr/>
          <p:nvPr/>
        </p:nvSpPr>
        <p:spPr>
          <a:xfrm>
            <a:off x="204094" y="3808186"/>
            <a:ext cx="1124132" cy="490330"/>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ArrayList (1.2)</a:t>
            </a:r>
            <a:endParaRPr/>
          </a:p>
        </p:txBody>
      </p:sp>
      <p:sp>
        <p:nvSpPr>
          <p:cNvPr id="299" name="Google Shape;299;p7"/>
          <p:cNvSpPr/>
          <p:nvPr/>
        </p:nvSpPr>
        <p:spPr>
          <a:xfrm>
            <a:off x="1539116" y="3802801"/>
            <a:ext cx="1124133" cy="490330"/>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LinkedList(1.2)</a:t>
            </a:r>
            <a:endParaRPr/>
          </a:p>
        </p:txBody>
      </p:sp>
      <p:sp>
        <p:nvSpPr>
          <p:cNvPr id="300" name="Google Shape;300;p7"/>
          <p:cNvSpPr/>
          <p:nvPr/>
        </p:nvSpPr>
        <p:spPr>
          <a:xfrm>
            <a:off x="2923249" y="3802801"/>
            <a:ext cx="1124133" cy="490330"/>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Vector (1.0)</a:t>
            </a:r>
            <a:endParaRPr/>
          </a:p>
        </p:txBody>
      </p:sp>
      <p:sp>
        <p:nvSpPr>
          <p:cNvPr id="301" name="Google Shape;301;p7"/>
          <p:cNvSpPr/>
          <p:nvPr/>
        </p:nvSpPr>
        <p:spPr>
          <a:xfrm>
            <a:off x="2923249" y="5151307"/>
            <a:ext cx="1124133" cy="490330"/>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Stack (1.0)</a:t>
            </a:r>
            <a:endParaRPr/>
          </a:p>
        </p:txBody>
      </p:sp>
      <p:cxnSp>
        <p:nvCxnSpPr>
          <p:cNvPr id="302" name="Google Shape;302;p7"/>
          <p:cNvCxnSpPr>
            <a:stCxn id="301" idx="0"/>
            <a:endCxn id="300" idx="2"/>
          </p:cNvCxnSpPr>
          <p:nvPr/>
        </p:nvCxnSpPr>
        <p:spPr>
          <a:xfrm rot="10800000">
            <a:off x="3485316" y="4293007"/>
            <a:ext cx="0" cy="858300"/>
          </a:xfrm>
          <a:prstGeom prst="straightConnector1">
            <a:avLst/>
          </a:prstGeom>
          <a:noFill/>
          <a:ln w="28575" cap="flat" cmpd="sng">
            <a:solidFill>
              <a:schemeClr val="dk1"/>
            </a:solidFill>
            <a:prstDash val="solid"/>
            <a:miter lim="800000"/>
            <a:headEnd type="none" w="sm" len="sm"/>
            <a:tailEnd type="triangle" w="med" len="med"/>
          </a:ln>
        </p:spPr>
      </p:cxnSp>
      <p:cxnSp>
        <p:nvCxnSpPr>
          <p:cNvPr id="303" name="Google Shape;303;p7"/>
          <p:cNvCxnSpPr>
            <a:stCxn id="298" idx="0"/>
            <a:endCxn id="295" idx="2"/>
          </p:cNvCxnSpPr>
          <p:nvPr/>
        </p:nvCxnSpPr>
        <p:spPr>
          <a:xfrm rot="10800000" flipH="1">
            <a:off x="766160" y="3313186"/>
            <a:ext cx="1350300" cy="495000"/>
          </a:xfrm>
          <a:prstGeom prst="straightConnector1">
            <a:avLst/>
          </a:prstGeom>
          <a:noFill/>
          <a:ln w="28575" cap="flat" cmpd="sng">
            <a:solidFill>
              <a:schemeClr val="dk1"/>
            </a:solidFill>
            <a:prstDash val="dash"/>
            <a:miter lim="800000"/>
            <a:headEnd type="none" w="sm" len="sm"/>
            <a:tailEnd type="triangle" w="med" len="med"/>
          </a:ln>
        </p:spPr>
      </p:cxnSp>
      <p:cxnSp>
        <p:nvCxnSpPr>
          <p:cNvPr id="304" name="Google Shape;304;p7"/>
          <p:cNvCxnSpPr>
            <a:stCxn id="299" idx="0"/>
            <a:endCxn id="295" idx="2"/>
          </p:cNvCxnSpPr>
          <p:nvPr/>
        </p:nvCxnSpPr>
        <p:spPr>
          <a:xfrm rot="10800000" flipH="1">
            <a:off x="2101183" y="3312901"/>
            <a:ext cx="15300" cy="489900"/>
          </a:xfrm>
          <a:prstGeom prst="straightConnector1">
            <a:avLst/>
          </a:prstGeom>
          <a:noFill/>
          <a:ln w="28575" cap="flat" cmpd="sng">
            <a:solidFill>
              <a:schemeClr val="dk1"/>
            </a:solidFill>
            <a:prstDash val="dash"/>
            <a:miter lim="800000"/>
            <a:headEnd type="none" w="sm" len="sm"/>
            <a:tailEnd type="triangle" w="med" len="med"/>
          </a:ln>
        </p:spPr>
      </p:cxnSp>
      <p:cxnSp>
        <p:nvCxnSpPr>
          <p:cNvPr id="305" name="Google Shape;305;p7"/>
          <p:cNvCxnSpPr>
            <a:stCxn id="300" idx="0"/>
            <a:endCxn id="295" idx="2"/>
          </p:cNvCxnSpPr>
          <p:nvPr/>
        </p:nvCxnSpPr>
        <p:spPr>
          <a:xfrm rot="10800000">
            <a:off x="2116416" y="3312901"/>
            <a:ext cx="1368900" cy="489900"/>
          </a:xfrm>
          <a:prstGeom prst="straightConnector1">
            <a:avLst/>
          </a:prstGeom>
          <a:noFill/>
          <a:ln w="28575" cap="flat" cmpd="sng">
            <a:solidFill>
              <a:schemeClr val="dk1"/>
            </a:solidFill>
            <a:prstDash val="dash"/>
            <a:miter lim="800000"/>
            <a:headEnd type="none" w="sm" len="sm"/>
            <a:tailEnd type="triangle" w="med" len="med"/>
          </a:ln>
        </p:spPr>
      </p:cxnSp>
      <p:sp>
        <p:nvSpPr>
          <p:cNvPr id="306" name="Google Shape;306;p7"/>
          <p:cNvSpPr/>
          <p:nvPr/>
        </p:nvSpPr>
        <p:spPr>
          <a:xfrm>
            <a:off x="10300990" y="3811041"/>
            <a:ext cx="1686916" cy="842260"/>
          </a:xfrm>
          <a:prstGeom prst="rect">
            <a:avLst/>
          </a:prstGeom>
          <a:solidFill>
            <a:schemeClr val="accent3">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BlockingQueue (1.5)</a:t>
            </a:r>
            <a:endParaRPr/>
          </a:p>
        </p:txBody>
      </p:sp>
      <p:sp>
        <p:nvSpPr>
          <p:cNvPr id="307" name="Google Shape;307;p7"/>
          <p:cNvSpPr/>
          <p:nvPr/>
        </p:nvSpPr>
        <p:spPr>
          <a:xfrm>
            <a:off x="8512683" y="3811041"/>
            <a:ext cx="1562912" cy="490330"/>
          </a:xfrm>
          <a:prstGeom prst="rect">
            <a:avLst/>
          </a:prstGeom>
          <a:solidFill>
            <a:schemeClr val="accent3">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PriorityQueue (1.5)</a:t>
            </a:r>
            <a:endParaRPr/>
          </a:p>
        </p:txBody>
      </p:sp>
      <p:cxnSp>
        <p:nvCxnSpPr>
          <p:cNvPr id="308" name="Google Shape;308;p7"/>
          <p:cNvCxnSpPr>
            <a:stCxn id="307" idx="0"/>
            <a:endCxn id="297" idx="2"/>
          </p:cNvCxnSpPr>
          <p:nvPr/>
        </p:nvCxnSpPr>
        <p:spPr>
          <a:xfrm rot="10800000" flipH="1">
            <a:off x="9294139" y="3313041"/>
            <a:ext cx="788700" cy="498000"/>
          </a:xfrm>
          <a:prstGeom prst="straightConnector1">
            <a:avLst/>
          </a:prstGeom>
          <a:noFill/>
          <a:ln w="28575" cap="flat" cmpd="sng">
            <a:solidFill>
              <a:schemeClr val="dk1"/>
            </a:solidFill>
            <a:prstDash val="dash"/>
            <a:miter lim="800000"/>
            <a:headEnd type="none" w="sm" len="sm"/>
            <a:tailEnd type="triangle" w="med" len="med"/>
          </a:ln>
        </p:spPr>
      </p:cxnSp>
      <p:cxnSp>
        <p:nvCxnSpPr>
          <p:cNvPr id="309" name="Google Shape;309;p7"/>
          <p:cNvCxnSpPr>
            <a:stCxn id="306" idx="0"/>
            <a:endCxn id="297" idx="2"/>
          </p:cNvCxnSpPr>
          <p:nvPr/>
        </p:nvCxnSpPr>
        <p:spPr>
          <a:xfrm rot="10800000">
            <a:off x="10082748" y="3313041"/>
            <a:ext cx="1061700" cy="498000"/>
          </a:xfrm>
          <a:prstGeom prst="straightConnector1">
            <a:avLst/>
          </a:prstGeom>
          <a:noFill/>
          <a:ln w="28575" cap="flat" cmpd="sng">
            <a:solidFill>
              <a:schemeClr val="dk1"/>
            </a:solidFill>
            <a:prstDash val="solid"/>
            <a:miter lim="800000"/>
            <a:headEnd type="none" w="sm" len="sm"/>
            <a:tailEnd type="triangle" w="med" len="med"/>
          </a:ln>
        </p:spPr>
      </p:cxnSp>
      <p:sp>
        <p:nvSpPr>
          <p:cNvPr id="310" name="Google Shape;310;p7"/>
          <p:cNvSpPr/>
          <p:nvPr/>
        </p:nvSpPr>
        <p:spPr>
          <a:xfrm>
            <a:off x="9455900" y="5151307"/>
            <a:ext cx="2315446" cy="490330"/>
          </a:xfrm>
          <a:prstGeom prst="rect">
            <a:avLst/>
          </a:prstGeom>
          <a:solidFill>
            <a:schemeClr val="accent3">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PriorityBlockingQueue (1.5)</a:t>
            </a:r>
            <a:endParaRPr/>
          </a:p>
        </p:txBody>
      </p:sp>
      <p:cxnSp>
        <p:nvCxnSpPr>
          <p:cNvPr id="311" name="Google Shape;311;p7"/>
          <p:cNvCxnSpPr>
            <a:stCxn id="310" idx="0"/>
            <a:endCxn id="306" idx="2"/>
          </p:cNvCxnSpPr>
          <p:nvPr/>
        </p:nvCxnSpPr>
        <p:spPr>
          <a:xfrm rot="10800000" flipH="1">
            <a:off x="10613623" y="4653307"/>
            <a:ext cx="530700" cy="498000"/>
          </a:xfrm>
          <a:prstGeom prst="straightConnector1">
            <a:avLst/>
          </a:prstGeom>
          <a:noFill/>
          <a:ln w="28575" cap="flat" cmpd="sng">
            <a:solidFill>
              <a:schemeClr val="dk1"/>
            </a:solidFill>
            <a:prstDash val="dash"/>
            <a:miter lim="800000"/>
            <a:headEnd type="none" w="sm" len="sm"/>
            <a:tailEnd type="triangle" w="med" len="med"/>
          </a:ln>
        </p:spPr>
      </p:cxnSp>
      <p:sp>
        <p:nvSpPr>
          <p:cNvPr id="312" name="Google Shape;312;p7"/>
          <p:cNvSpPr/>
          <p:nvPr/>
        </p:nvSpPr>
        <p:spPr>
          <a:xfrm>
            <a:off x="4599654" y="3803138"/>
            <a:ext cx="1124134" cy="490330"/>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HashSet (1.2)</a:t>
            </a:r>
            <a:endParaRPr/>
          </a:p>
        </p:txBody>
      </p:sp>
      <p:sp>
        <p:nvSpPr>
          <p:cNvPr id="313" name="Google Shape;313;p7"/>
          <p:cNvSpPr/>
          <p:nvPr/>
        </p:nvSpPr>
        <p:spPr>
          <a:xfrm>
            <a:off x="6285964" y="3778696"/>
            <a:ext cx="1864591" cy="614577"/>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SortedSet (1.2)</a:t>
            </a:r>
            <a:endParaRPr/>
          </a:p>
        </p:txBody>
      </p:sp>
      <p:sp>
        <p:nvSpPr>
          <p:cNvPr id="314" name="Google Shape;314;p7"/>
          <p:cNvSpPr/>
          <p:nvPr/>
        </p:nvSpPr>
        <p:spPr>
          <a:xfrm>
            <a:off x="4362218" y="5151307"/>
            <a:ext cx="1615539" cy="490330"/>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LinkedHashSet (1.4)</a:t>
            </a:r>
            <a:endParaRPr/>
          </a:p>
        </p:txBody>
      </p:sp>
      <p:sp>
        <p:nvSpPr>
          <p:cNvPr id="315" name="Google Shape;315;p7"/>
          <p:cNvSpPr/>
          <p:nvPr/>
        </p:nvSpPr>
        <p:spPr>
          <a:xfrm>
            <a:off x="6204472" y="5027990"/>
            <a:ext cx="2056815" cy="614577"/>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NavigableSet (1.6)</a:t>
            </a:r>
            <a:endParaRPr/>
          </a:p>
        </p:txBody>
      </p:sp>
      <p:sp>
        <p:nvSpPr>
          <p:cNvPr id="316" name="Google Shape;316;p7"/>
          <p:cNvSpPr/>
          <p:nvPr/>
        </p:nvSpPr>
        <p:spPr>
          <a:xfrm>
            <a:off x="6425110" y="6218621"/>
            <a:ext cx="1615539" cy="490330"/>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TreeSet (1.2)</a:t>
            </a:r>
            <a:endParaRPr/>
          </a:p>
        </p:txBody>
      </p:sp>
      <p:cxnSp>
        <p:nvCxnSpPr>
          <p:cNvPr id="317" name="Google Shape;317;p7"/>
          <p:cNvCxnSpPr>
            <a:stCxn id="312" idx="0"/>
            <a:endCxn id="296" idx="2"/>
          </p:cNvCxnSpPr>
          <p:nvPr/>
        </p:nvCxnSpPr>
        <p:spPr>
          <a:xfrm rot="10800000" flipH="1">
            <a:off x="5161721" y="3312938"/>
            <a:ext cx="934200" cy="490200"/>
          </a:xfrm>
          <a:prstGeom prst="straightConnector1">
            <a:avLst/>
          </a:prstGeom>
          <a:noFill/>
          <a:ln w="28575" cap="flat" cmpd="sng">
            <a:solidFill>
              <a:schemeClr val="dk1"/>
            </a:solidFill>
            <a:prstDash val="dash"/>
            <a:miter lim="800000"/>
            <a:headEnd type="none" w="sm" len="sm"/>
            <a:tailEnd type="triangle" w="med" len="med"/>
          </a:ln>
        </p:spPr>
      </p:cxnSp>
      <p:cxnSp>
        <p:nvCxnSpPr>
          <p:cNvPr id="318" name="Google Shape;318;p7"/>
          <p:cNvCxnSpPr>
            <a:stCxn id="313" idx="0"/>
            <a:endCxn id="296" idx="2"/>
          </p:cNvCxnSpPr>
          <p:nvPr/>
        </p:nvCxnSpPr>
        <p:spPr>
          <a:xfrm rot="10800000">
            <a:off x="6095960" y="3313096"/>
            <a:ext cx="1122300" cy="465600"/>
          </a:xfrm>
          <a:prstGeom prst="straightConnector1">
            <a:avLst/>
          </a:prstGeom>
          <a:noFill/>
          <a:ln w="28575" cap="flat" cmpd="sng">
            <a:solidFill>
              <a:schemeClr val="dk1"/>
            </a:solidFill>
            <a:prstDash val="solid"/>
            <a:miter lim="800000"/>
            <a:headEnd type="none" w="sm" len="sm"/>
            <a:tailEnd type="triangle" w="med" len="med"/>
          </a:ln>
        </p:spPr>
      </p:cxnSp>
      <p:cxnSp>
        <p:nvCxnSpPr>
          <p:cNvPr id="319" name="Google Shape;319;p7"/>
          <p:cNvCxnSpPr>
            <a:stCxn id="314" idx="0"/>
            <a:endCxn id="312" idx="2"/>
          </p:cNvCxnSpPr>
          <p:nvPr/>
        </p:nvCxnSpPr>
        <p:spPr>
          <a:xfrm rot="10800000">
            <a:off x="5161587" y="4293607"/>
            <a:ext cx="8400" cy="857700"/>
          </a:xfrm>
          <a:prstGeom prst="straightConnector1">
            <a:avLst/>
          </a:prstGeom>
          <a:noFill/>
          <a:ln w="28575" cap="flat" cmpd="sng">
            <a:solidFill>
              <a:schemeClr val="dk1"/>
            </a:solidFill>
            <a:prstDash val="solid"/>
            <a:miter lim="800000"/>
            <a:headEnd type="none" w="sm" len="sm"/>
            <a:tailEnd type="triangle" w="med" len="med"/>
          </a:ln>
        </p:spPr>
      </p:cxnSp>
      <p:cxnSp>
        <p:nvCxnSpPr>
          <p:cNvPr id="320" name="Google Shape;320;p7"/>
          <p:cNvCxnSpPr>
            <a:stCxn id="315" idx="0"/>
            <a:endCxn id="313" idx="2"/>
          </p:cNvCxnSpPr>
          <p:nvPr/>
        </p:nvCxnSpPr>
        <p:spPr>
          <a:xfrm rot="10800000">
            <a:off x="7218179" y="4393190"/>
            <a:ext cx="14700" cy="634800"/>
          </a:xfrm>
          <a:prstGeom prst="straightConnector1">
            <a:avLst/>
          </a:prstGeom>
          <a:noFill/>
          <a:ln w="28575" cap="flat" cmpd="sng">
            <a:solidFill>
              <a:schemeClr val="dk1"/>
            </a:solidFill>
            <a:prstDash val="solid"/>
            <a:miter lim="800000"/>
            <a:headEnd type="none" w="sm" len="sm"/>
            <a:tailEnd type="triangle" w="med" len="med"/>
          </a:ln>
        </p:spPr>
      </p:cxnSp>
      <p:cxnSp>
        <p:nvCxnSpPr>
          <p:cNvPr id="321" name="Google Shape;321;p7"/>
          <p:cNvCxnSpPr>
            <a:stCxn id="316" idx="0"/>
            <a:endCxn id="315" idx="2"/>
          </p:cNvCxnSpPr>
          <p:nvPr/>
        </p:nvCxnSpPr>
        <p:spPr>
          <a:xfrm rot="10800000">
            <a:off x="7232880" y="5642621"/>
            <a:ext cx="0" cy="576000"/>
          </a:xfrm>
          <a:prstGeom prst="straightConnector1">
            <a:avLst/>
          </a:prstGeom>
          <a:noFill/>
          <a:ln w="28575" cap="flat" cmpd="sng">
            <a:solidFill>
              <a:schemeClr val="dk1"/>
            </a:solidFill>
            <a:prstDash val="dash"/>
            <a:miter lim="800000"/>
            <a:headEnd type="none" w="sm" len="sm"/>
            <a:tailEnd type="triangle" w="med" len="med"/>
          </a:ln>
        </p:spPr>
      </p:cxnSp>
      <p:cxnSp>
        <p:nvCxnSpPr>
          <p:cNvPr id="322" name="Google Shape;322;p7"/>
          <p:cNvCxnSpPr>
            <a:stCxn id="295" idx="0"/>
            <a:endCxn id="294" idx="1"/>
          </p:cNvCxnSpPr>
          <p:nvPr/>
        </p:nvCxnSpPr>
        <p:spPr>
          <a:xfrm rot="10800000" flipH="1">
            <a:off x="2116404" y="1911559"/>
            <a:ext cx="3045300" cy="786900"/>
          </a:xfrm>
          <a:prstGeom prst="straightConnector1">
            <a:avLst/>
          </a:prstGeom>
          <a:noFill/>
          <a:ln w="28575" cap="flat" cmpd="sng">
            <a:solidFill>
              <a:schemeClr val="dk1"/>
            </a:solidFill>
            <a:prstDash val="solid"/>
            <a:miter lim="800000"/>
            <a:headEnd type="none" w="sm" len="sm"/>
            <a:tailEnd type="triangle" w="med" len="med"/>
          </a:ln>
        </p:spPr>
      </p:cxnSp>
      <p:cxnSp>
        <p:nvCxnSpPr>
          <p:cNvPr id="323" name="Google Shape;323;p7"/>
          <p:cNvCxnSpPr>
            <a:stCxn id="297" idx="0"/>
            <a:endCxn id="294" idx="3"/>
          </p:cNvCxnSpPr>
          <p:nvPr/>
        </p:nvCxnSpPr>
        <p:spPr>
          <a:xfrm rot="10800000">
            <a:off x="7030299" y="1911558"/>
            <a:ext cx="3052500" cy="786900"/>
          </a:xfrm>
          <a:prstGeom prst="straightConnector1">
            <a:avLst/>
          </a:prstGeom>
          <a:noFill/>
          <a:ln w="28575" cap="flat" cmpd="sng">
            <a:solidFill>
              <a:schemeClr val="dk1"/>
            </a:solidFill>
            <a:prstDash val="solid"/>
            <a:miter lim="800000"/>
            <a:headEnd type="none" w="sm" len="sm"/>
            <a:tailEnd type="triangle" w="med" len="med"/>
          </a:ln>
        </p:spPr>
      </p:cxnSp>
      <p:cxnSp>
        <p:nvCxnSpPr>
          <p:cNvPr id="324" name="Google Shape;324;p7"/>
          <p:cNvCxnSpPr>
            <a:endCxn id="294" idx="2"/>
          </p:cNvCxnSpPr>
          <p:nvPr/>
        </p:nvCxnSpPr>
        <p:spPr>
          <a:xfrm rot="10800000" flipH="1">
            <a:off x="6091500" y="2183157"/>
            <a:ext cx="4500" cy="493500"/>
          </a:xfrm>
          <a:prstGeom prst="straightConnector1">
            <a:avLst/>
          </a:prstGeom>
          <a:noFill/>
          <a:ln w="28575" cap="flat" cmpd="sng">
            <a:solidFill>
              <a:schemeClr val="dk1"/>
            </a:solidFill>
            <a:prstDash val="solid"/>
            <a:miter lim="800000"/>
            <a:headEnd type="none" w="sm" len="sm"/>
            <a:tailEnd type="triangle" w="med" len="med"/>
          </a:ln>
        </p:spPr>
      </p:cxnSp>
      <p:sp>
        <p:nvSpPr>
          <p:cNvPr id="325" name="Google Shape;325;p7"/>
          <p:cNvSpPr/>
          <p:nvPr/>
        </p:nvSpPr>
        <p:spPr>
          <a:xfrm>
            <a:off x="5157200" y="612481"/>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Iterable</a:t>
            </a:r>
            <a:endParaRPr/>
          </a:p>
        </p:txBody>
      </p:sp>
      <p:cxnSp>
        <p:nvCxnSpPr>
          <p:cNvPr id="326" name="Google Shape;326;p7"/>
          <p:cNvCxnSpPr/>
          <p:nvPr/>
        </p:nvCxnSpPr>
        <p:spPr>
          <a:xfrm rot="10800000" flipH="1">
            <a:off x="6086957" y="1156060"/>
            <a:ext cx="4521" cy="493626"/>
          </a:xfrm>
          <a:prstGeom prst="straightConnector1">
            <a:avLst/>
          </a:prstGeom>
          <a:noFill/>
          <a:ln w="28575" cap="flat" cmpd="sng">
            <a:solidFill>
              <a:schemeClr val="dk1"/>
            </a:solidFill>
            <a:prstDash val="solid"/>
            <a:miter lim="800000"/>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pic>
        <p:nvPicPr>
          <p:cNvPr id="331" name="Google Shape;331;p8"/>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2" name="Google Shape;332;p8"/>
          <p:cNvSpPr/>
          <p:nvPr/>
        </p:nvSpPr>
        <p:spPr>
          <a:xfrm flipH="1">
            <a:off x="-2" y="0"/>
            <a:ext cx="2623931" cy="6858000"/>
          </a:xfrm>
          <a:custGeom>
            <a:avLst/>
            <a:gdLst/>
            <a:ahLst/>
            <a:cxnLst/>
            <a:rect l="l" t="t" r="r" b="b"/>
            <a:pathLst>
              <a:path w="4582884" h="6858000" extrusionOk="0">
                <a:moveTo>
                  <a:pt x="1095236" y="0"/>
                </a:moveTo>
                <a:lnTo>
                  <a:pt x="4582884" y="0"/>
                </a:lnTo>
                <a:lnTo>
                  <a:pt x="4582884" y="6858000"/>
                </a:lnTo>
                <a:lnTo>
                  <a:pt x="1041049" y="6858000"/>
                </a:lnTo>
                <a:lnTo>
                  <a:pt x="1031804" y="6845000"/>
                </a:lnTo>
                <a:cubicBezTo>
                  <a:pt x="380376" y="5880759"/>
                  <a:pt x="0" y="4718351"/>
                  <a:pt x="0" y="3467100"/>
                </a:cubicBezTo>
                <a:cubicBezTo>
                  <a:pt x="0" y="2215850"/>
                  <a:pt x="380376" y="1053441"/>
                  <a:pt x="1031804" y="89200"/>
                </a:cubicBezTo>
                <a:close/>
              </a:path>
            </a:pathLst>
          </a:cu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33" name="Google Shape;333;p8"/>
          <p:cNvGrpSpPr/>
          <p:nvPr/>
        </p:nvGrpSpPr>
        <p:grpSpPr>
          <a:xfrm>
            <a:off x="116858" y="155711"/>
            <a:ext cx="1727608" cy="916459"/>
            <a:chOff x="862157" y="4413681"/>
            <a:chExt cx="2570156" cy="1560001"/>
          </a:xfrm>
        </p:grpSpPr>
        <p:pic>
          <p:nvPicPr>
            <p:cNvPr id="334" name="Google Shape;334;p8"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335" name="Google Shape;335;p8"/>
            <p:cNvSpPr/>
            <p:nvPr/>
          </p:nvSpPr>
          <p:spPr>
            <a:xfrm>
              <a:off x="862157" y="4413681"/>
              <a:ext cx="2570156" cy="799823"/>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200" b="1">
                  <a:solidFill>
                    <a:schemeClr val="lt1"/>
                  </a:solidFill>
                  <a:latin typeface="Roboto"/>
                  <a:ea typeface="Roboto"/>
                  <a:cs typeface="Roboto"/>
                  <a:sym typeface="Roboto"/>
                </a:rPr>
                <a:t>Collection Framework</a:t>
              </a:r>
              <a:endParaRPr/>
            </a:p>
          </p:txBody>
        </p:sp>
      </p:grpSp>
      <p:sp>
        <p:nvSpPr>
          <p:cNvPr id="336" name="Google Shape;336;p8"/>
          <p:cNvSpPr txBox="1"/>
          <p:nvPr/>
        </p:nvSpPr>
        <p:spPr>
          <a:xfrm>
            <a:off x="4784035" y="0"/>
            <a:ext cx="564755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rgbClr val="261628"/>
                </a:solidFill>
                <a:latin typeface="Calibri"/>
                <a:ea typeface="Calibri"/>
                <a:cs typeface="Calibri"/>
                <a:sym typeface="Calibri"/>
              </a:rPr>
              <a:t>What’s possible?</a:t>
            </a:r>
            <a:endParaRPr/>
          </a:p>
        </p:txBody>
      </p:sp>
      <p:sp>
        <p:nvSpPr>
          <p:cNvPr id="337" name="Google Shape;337;p8"/>
          <p:cNvSpPr/>
          <p:nvPr/>
        </p:nvSpPr>
        <p:spPr>
          <a:xfrm>
            <a:off x="4059045" y="1072170"/>
            <a:ext cx="6372542" cy="465705"/>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2400">
                <a:solidFill>
                  <a:schemeClr val="dk1"/>
                </a:solidFill>
                <a:latin typeface="Roboto"/>
                <a:ea typeface="Roboto"/>
                <a:cs typeface="Roboto"/>
                <a:sym typeface="Roboto"/>
              </a:rPr>
              <a:t>Collection can’t store primitive data.</a:t>
            </a:r>
            <a:endParaRPr/>
          </a:p>
        </p:txBody>
      </p:sp>
      <p:sp>
        <p:nvSpPr>
          <p:cNvPr id="338" name="Google Shape;338;p8"/>
          <p:cNvSpPr/>
          <p:nvPr/>
        </p:nvSpPr>
        <p:spPr>
          <a:xfrm>
            <a:off x="4059044" y="1779048"/>
            <a:ext cx="7099735" cy="1256049"/>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2400">
                <a:solidFill>
                  <a:schemeClr val="dk1"/>
                </a:solidFill>
                <a:latin typeface="Calibri"/>
                <a:ea typeface="Calibri"/>
                <a:cs typeface="Calibri"/>
                <a:sym typeface="Calibri"/>
              </a:rPr>
              <a:t>In order to add any of primitive data into collection, then it has to be done through its corresponding Wrapper class object.</a:t>
            </a:r>
            <a:endParaRPr/>
          </a:p>
        </p:txBody>
      </p:sp>
      <p:graphicFrame>
        <p:nvGraphicFramePr>
          <p:cNvPr id="339" name="Google Shape;339;p8"/>
          <p:cNvGraphicFramePr/>
          <p:nvPr>
            <p:extLst>
              <p:ext uri="{D42A27DB-BD31-4B8C-83A1-F6EECF244321}">
                <p14:modId xmlns:p14="http://schemas.microsoft.com/office/powerpoint/2010/main" val="2358722606"/>
              </p:ext>
            </p:extLst>
          </p:nvPr>
        </p:nvGraphicFramePr>
        <p:xfrm>
          <a:off x="4704953" y="3276270"/>
          <a:ext cx="5805750" cy="370850"/>
        </p:xfrm>
        <a:graphic>
          <a:graphicData uri="http://schemas.openxmlformats.org/drawingml/2006/table">
            <a:tbl>
              <a:tblPr firstRow="1" bandRow="1">
                <a:noFill/>
                <a:tableStyleId>{B9160D5A-F4D8-4355-9011-09AB1966FD5C}</a:tableStyleId>
              </a:tblPr>
              <a:tblGrid>
                <a:gridCol w="1161150">
                  <a:extLst>
                    <a:ext uri="{9D8B030D-6E8A-4147-A177-3AD203B41FA5}">
                      <a16:colId xmlns:a16="http://schemas.microsoft.com/office/drawing/2014/main" val="20000"/>
                    </a:ext>
                  </a:extLst>
                </a:gridCol>
                <a:gridCol w="1161150">
                  <a:extLst>
                    <a:ext uri="{9D8B030D-6E8A-4147-A177-3AD203B41FA5}">
                      <a16:colId xmlns:a16="http://schemas.microsoft.com/office/drawing/2014/main" val="20001"/>
                    </a:ext>
                  </a:extLst>
                </a:gridCol>
                <a:gridCol w="1161150">
                  <a:extLst>
                    <a:ext uri="{9D8B030D-6E8A-4147-A177-3AD203B41FA5}">
                      <a16:colId xmlns:a16="http://schemas.microsoft.com/office/drawing/2014/main" val="20002"/>
                    </a:ext>
                  </a:extLst>
                </a:gridCol>
                <a:gridCol w="1161150">
                  <a:extLst>
                    <a:ext uri="{9D8B030D-6E8A-4147-A177-3AD203B41FA5}">
                      <a16:colId xmlns:a16="http://schemas.microsoft.com/office/drawing/2014/main" val="20003"/>
                    </a:ext>
                  </a:extLst>
                </a:gridCol>
                <a:gridCol w="1161150">
                  <a:extLst>
                    <a:ext uri="{9D8B030D-6E8A-4147-A177-3AD203B41FA5}">
                      <a16:colId xmlns:a16="http://schemas.microsoft.com/office/drawing/2014/main" val="20004"/>
                    </a:ext>
                  </a:extLst>
                </a:gridCol>
              </a:tblGrid>
              <a:tr h="370850">
                <a:tc>
                  <a:txBody>
                    <a:bodyPr/>
                    <a:lstStyle/>
                    <a:p>
                      <a:pPr marL="0" marR="0" lvl="0" indent="0" algn="ctr" rtl="0">
                        <a:spcBef>
                          <a:spcPts val="0"/>
                        </a:spcBef>
                        <a:spcAft>
                          <a:spcPts val="0"/>
                        </a:spcAft>
                        <a:buNone/>
                      </a:pPr>
                      <a:r>
                        <a:rPr lang="en-US" sz="1800"/>
                        <a:t>20</a:t>
                      </a:r>
                      <a:endParaRPr/>
                    </a:p>
                  </a:txBody>
                  <a:tcPr marL="91450" marR="91450" marT="45725" marB="45725"/>
                </a:tc>
                <a:tc>
                  <a:txBody>
                    <a:bodyPr/>
                    <a:lstStyle/>
                    <a:p>
                      <a:pPr marL="0" marR="0" lvl="0" indent="0" algn="ctr" rtl="0">
                        <a:spcBef>
                          <a:spcPts val="0"/>
                        </a:spcBef>
                        <a:spcAft>
                          <a:spcPts val="0"/>
                        </a:spcAft>
                        <a:buNone/>
                      </a:pPr>
                      <a:r>
                        <a:rPr lang="en-US" sz="1800"/>
                        <a:t>20.5</a:t>
                      </a:r>
                      <a:endParaRPr/>
                    </a:p>
                  </a:txBody>
                  <a:tcPr marL="91450" marR="91450" marT="45725" marB="45725"/>
                </a:tc>
                <a:tc>
                  <a:txBody>
                    <a:bodyPr/>
                    <a:lstStyle/>
                    <a:p>
                      <a:pPr marL="0" marR="0" lvl="0" indent="0" algn="ctr" rtl="0">
                        <a:spcBef>
                          <a:spcPts val="0"/>
                        </a:spcBef>
                        <a:spcAft>
                          <a:spcPts val="0"/>
                        </a:spcAft>
                        <a:buNone/>
                      </a:pPr>
                      <a:r>
                        <a:rPr lang="en-US" sz="1800"/>
                        <a:t>A</a:t>
                      </a:r>
                      <a:endParaRPr/>
                    </a:p>
                  </a:txBody>
                  <a:tcPr marL="91450" marR="91450" marT="45725" marB="45725"/>
                </a:tc>
                <a:tc>
                  <a:txBody>
                    <a:bodyPr/>
                    <a:lstStyle/>
                    <a:p>
                      <a:pPr marL="0" marR="0" lvl="0" indent="0" algn="ctr" rtl="0">
                        <a:spcBef>
                          <a:spcPts val="0"/>
                        </a:spcBef>
                        <a:spcAft>
                          <a:spcPts val="0"/>
                        </a:spcAft>
                        <a:buNone/>
                      </a:pPr>
                      <a:r>
                        <a:rPr lang="en-US" sz="1800"/>
                        <a:t>muthu</a:t>
                      </a:r>
                      <a:endParaRPr dirty="0"/>
                    </a:p>
                  </a:txBody>
                  <a:tcPr marL="91450" marR="91450" marT="45725" marB="45725"/>
                </a:tc>
                <a:tc>
                  <a:txBody>
                    <a:bodyPr/>
                    <a:lstStyle/>
                    <a:p>
                      <a:pPr marL="0" marR="0" lvl="0" indent="0" algn="ctr" rtl="0">
                        <a:spcBef>
                          <a:spcPts val="0"/>
                        </a:spcBef>
                        <a:spcAft>
                          <a:spcPts val="0"/>
                        </a:spcAft>
                        <a:buNone/>
                      </a:pPr>
                      <a:r>
                        <a:rPr lang="en-US" sz="1800" dirty="0"/>
                        <a:t>true</a:t>
                      </a:r>
                      <a:endParaRPr dirty="0"/>
                    </a:p>
                  </a:txBody>
                  <a:tcPr marL="91450" marR="91450" marT="45725" marB="45725"/>
                </a:tc>
                <a:extLst>
                  <a:ext uri="{0D108BD9-81ED-4DB2-BD59-A6C34878D82A}">
                    <a16:rowId xmlns:a16="http://schemas.microsoft.com/office/drawing/2014/main" val="10000"/>
                  </a:ext>
                </a:extLst>
              </a:tr>
            </a:tbl>
          </a:graphicData>
        </a:graphic>
      </p:graphicFrame>
      <p:sp>
        <p:nvSpPr>
          <p:cNvPr id="340" name="Google Shape;340;p8"/>
          <p:cNvSpPr/>
          <p:nvPr/>
        </p:nvSpPr>
        <p:spPr>
          <a:xfrm>
            <a:off x="2728135" y="3928308"/>
            <a:ext cx="4412975" cy="2264531"/>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lnSpc>
                <a:spcPct val="107000"/>
              </a:lnSpc>
              <a:spcBef>
                <a:spcPts val="800"/>
              </a:spcBef>
              <a:spcAft>
                <a:spcPts val="0"/>
              </a:spcAft>
              <a:buNone/>
            </a:pPr>
            <a:r>
              <a:rPr lang="en-US" sz="1800">
                <a:solidFill>
                  <a:schemeClr val="dk1"/>
                </a:solidFill>
                <a:latin typeface="Calibri"/>
                <a:ea typeface="Calibri"/>
                <a:cs typeface="Calibri"/>
                <a:sym typeface="Calibri"/>
              </a:rPr>
              <a:t>Storing primitive data as Wrapper Class Object (autoboxing).</a:t>
            </a:r>
            <a:endParaRPr/>
          </a:p>
          <a:p>
            <a:pPr marL="0" marR="0" lvl="0" indent="0" algn="l" rtl="0">
              <a:lnSpc>
                <a:spcPct val="107000"/>
              </a:lnSpc>
              <a:spcBef>
                <a:spcPts val="800"/>
              </a:spcBef>
              <a:spcAft>
                <a:spcPts val="0"/>
              </a:spcAft>
              <a:buNone/>
            </a:pPr>
            <a:endParaRPr sz="1800">
              <a:solidFill>
                <a:schemeClr val="dk1"/>
              </a:solidFill>
              <a:latin typeface="Calibri"/>
              <a:ea typeface="Calibri"/>
              <a:cs typeface="Calibri"/>
              <a:sym typeface="Calibri"/>
            </a:endParaRPr>
          </a:p>
          <a:p>
            <a:pPr marL="0" marR="0" lvl="0" indent="0" algn="l" rtl="0">
              <a:lnSpc>
                <a:spcPct val="107000"/>
              </a:lnSpc>
              <a:spcBef>
                <a:spcPts val="800"/>
              </a:spcBef>
              <a:spcAft>
                <a:spcPts val="0"/>
              </a:spcAft>
              <a:buNone/>
            </a:pPr>
            <a:r>
              <a:rPr lang="en-US" sz="1800">
                <a:solidFill>
                  <a:schemeClr val="dk1"/>
                </a:solidFill>
                <a:latin typeface="Calibri"/>
                <a:ea typeface="Calibri"/>
                <a:cs typeface="Calibri"/>
                <a:sym typeface="Calibri"/>
              </a:rPr>
              <a:t>Collection col = new ArrayList();</a:t>
            </a:r>
            <a:endParaRPr/>
          </a:p>
          <a:p>
            <a:pPr marL="0" marR="0" lvl="0" indent="0" algn="l" rtl="0">
              <a:lnSpc>
                <a:spcPct val="107000"/>
              </a:lnSpc>
              <a:spcBef>
                <a:spcPts val="800"/>
              </a:spcBef>
              <a:spcAft>
                <a:spcPts val="0"/>
              </a:spcAft>
              <a:buNone/>
            </a:pPr>
            <a:r>
              <a:rPr lang="en-US" sz="1800">
                <a:solidFill>
                  <a:schemeClr val="dk1"/>
                </a:solidFill>
                <a:latin typeface="Calibri"/>
                <a:ea typeface="Calibri"/>
                <a:cs typeface="Calibri"/>
                <a:sym typeface="Calibri"/>
              </a:rPr>
              <a:t>Col.add(20); </a:t>
            </a:r>
            <a:endParaRPr/>
          </a:p>
        </p:txBody>
      </p:sp>
      <p:sp>
        <p:nvSpPr>
          <p:cNvPr id="341" name="Google Shape;341;p8"/>
          <p:cNvSpPr/>
          <p:nvPr/>
        </p:nvSpPr>
        <p:spPr>
          <a:xfrm>
            <a:off x="7245316" y="3928308"/>
            <a:ext cx="4412975" cy="2663486"/>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1800" b="1">
                <a:solidFill>
                  <a:schemeClr val="dk1"/>
                </a:solidFill>
                <a:latin typeface="Calibri"/>
                <a:ea typeface="Calibri"/>
                <a:cs typeface="Calibri"/>
                <a:sym typeface="Calibri"/>
              </a:rPr>
              <a:t>Example:</a:t>
            </a:r>
            <a:endParaRPr/>
          </a:p>
          <a:p>
            <a:pPr marL="0" marR="0" lvl="0" indent="0" algn="l" rtl="0">
              <a:lnSpc>
                <a:spcPct val="107000"/>
              </a:lnSpc>
              <a:spcBef>
                <a:spcPts val="800"/>
              </a:spcBef>
              <a:spcAft>
                <a:spcPts val="0"/>
              </a:spcAft>
              <a:buNone/>
            </a:pPr>
            <a:r>
              <a:rPr lang="en-US" sz="1800">
                <a:solidFill>
                  <a:schemeClr val="dk1"/>
                </a:solidFill>
                <a:latin typeface="Calibri"/>
                <a:ea typeface="Calibri"/>
                <a:cs typeface="Calibri"/>
                <a:sym typeface="Calibri"/>
              </a:rPr>
              <a:t>Storing primitive data as Wrapper Class Object.</a:t>
            </a:r>
            <a:endParaRPr/>
          </a:p>
          <a:p>
            <a:pPr marL="0" marR="0" lvl="0" indent="0" algn="l" rtl="0">
              <a:lnSpc>
                <a:spcPct val="107000"/>
              </a:lnSpc>
              <a:spcBef>
                <a:spcPts val="800"/>
              </a:spcBef>
              <a:spcAft>
                <a:spcPts val="0"/>
              </a:spcAft>
              <a:buNone/>
            </a:pPr>
            <a:endParaRPr sz="1800">
              <a:solidFill>
                <a:schemeClr val="dk1"/>
              </a:solidFill>
              <a:latin typeface="Calibri"/>
              <a:ea typeface="Calibri"/>
              <a:cs typeface="Calibri"/>
              <a:sym typeface="Calibri"/>
            </a:endParaRPr>
          </a:p>
          <a:p>
            <a:pPr marL="0" marR="0" lvl="0" indent="0" algn="l" rtl="0">
              <a:lnSpc>
                <a:spcPct val="107000"/>
              </a:lnSpc>
              <a:spcBef>
                <a:spcPts val="800"/>
              </a:spcBef>
              <a:spcAft>
                <a:spcPts val="0"/>
              </a:spcAft>
              <a:buNone/>
            </a:pPr>
            <a:r>
              <a:rPr lang="en-US" sz="1800">
                <a:solidFill>
                  <a:schemeClr val="dk1"/>
                </a:solidFill>
                <a:latin typeface="Calibri"/>
                <a:ea typeface="Calibri"/>
                <a:cs typeface="Calibri"/>
                <a:sym typeface="Calibri"/>
              </a:rPr>
              <a:t>Collection col = new ArrayList();</a:t>
            </a:r>
            <a:endParaRPr/>
          </a:p>
          <a:p>
            <a:pPr marL="0" marR="0" lvl="0" indent="0" algn="l" rtl="0">
              <a:lnSpc>
                <a:spcPct val="107000"/>
              </a:lnSpc>
              <a:spcBef>
                <a:spcPts val="800"/>
              </a:spcBef>
              <a:spcAft>
                <a:spcPts val="0"/>
              </a:spcAft>
              <a:buNone/>
            </a:pPr>
            <a:r>
              <a:rPr lang="en-US" sz="1800">
                <a:solidFill>
                  <a:schemeClr val="dk1"/>
                </a:solidFill>
                <a:latin typeface="Calibri"/>
                <a:ea typeface="Calibri"/>
                <a:cs typeface="Calibri"/>
                <a:sym typeface="Calibri"/>
              </a:rPr>
              <a:t>Integer inp = new Integer(20);</a:t>
            </a:r>
            <a:endParaRPr/>
          </a:p>
          <a:p>
            <a:pPr marL="0" marR="0" lvl="0" indent="0" algn="l" rtl="0">
              <a:lnSpc>
                <a:spcPct val="107000"/>
              </a:lnSpc>
              <a:spcBef>
                <a:spcPts val="800"/>
              </a:spcBef>
              <a:spcAft>
                <a:spcPts val="0"/>
              </a:spcAft>
              <a:buNone/>
            </a:pPr>
            <a:r>
              <a:rPr lang="en-US" sz="1800">
                <a:solidFill>
                  <a:schemeClr val="dk1"/>
                </a:solidFill>
                <a:latin typeface="Calibri"/>
                <a:ea typeface="Calibri"/>
                <a:cs typeface="Calibri"/>
                <a:sym typeface="Calibri"/>
              </a:rPr>
              <a:t>Col.add(inp);</a:t>
            </a:r>
            <a:endParaRPr/>
          </a:p>
        </p:txBody>
      </p:sp>
      <p:cxnSp>
        <p:nvCxnSpPr>
          <p:cNvPr id="342" name="Google Shape;342;p8"/>
          <p:cNvCxnSpPr/>
          <p:nvPr/>
        </p:nvCxnSpPr>
        <p:spPr>
          <a:xfrm flipH="1">
            <a:off x="4058927" y="3822904"/>
            <a:ext cx="5834700" cy="2710500"/>
          </a:xfrm>
          <a:prstGeom prst="bentConnector3">
            <a:avLst>
              <a:gd name="adj1" fmla="val 49999"/>
            </a:avLst>
          </a:prstGeom>
          <a:noFill/>
          <a:ln w="38100" cap="flat" cmpd="sng">
            <a:solidFill>
              <a:schemeClr val="dk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7"/>
                                        </p:tgtEl>
                                        <p:attrNameLst>
                                          <p:attrName>style.visibility</p:attrName>
                                        </p:attrNameLst>
                                      </p:cBhvr>
                                      <p:to>
                                        <p:strVal val="visible"/>
                                      </p:to>
                                    </p:set>
                                    <p:animEffect transition="in" filter="fade">
                                      <p:cBhvr>
                                        <p:cTn id="7" dur="500"/>
                                        <p:tgtEl>
                                          <p:spTgt spid="3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8"/>
                                        </p:tgtEl>
                                        <p:attrNameLst>
                                          <p:attrName>style.visibility</p:attrName>
                                        </p:attrNameLst>
                                      </p:cBhvr>
                                      <p:to>
                                        <p:strVal val="visible"/>
                                      </p:to>
                                    </p:set>
                                    <p:animEffect transition="in" filter="fade">
                                      <p:cBhvr>
                                        <p:cTn id="12" dur="500"/>
                                        <p:tgtEl>
                                          <p:spTgt spid="3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0"/>
                                        </p:tgtEl>
                                        <p:attrNameLst>
                                          <p:attrName>style.visibility</p:attrName>
                                        </p:attrNameLst>
                                      </p:cBhvr>
                                      <p:to>
                                        <p:strVal val="visible"/>
                                      </p:to>
                                    </p:set>
                                    <p:animEffect transition="in" filter="fade">
                                      <p:cBhvr>
                                        <p:cTn id="17" dur="500"/>
                                        <p:tgtEl>
                                          <p:spTgt spid="34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1"/>
                                        </p:tgtEl>
                                        <p:attrNameLst>
                                          <p:attrName>style.visibility</p:attrName>
                                        </p:attrNameLst>
                                      </p:cBhvr>
                                      <p:to>
                                        <p:strVal val="visible"/>
                                      </p:to>
                                    </p:set>
                                    <p:animEffect transition="in" filter="fade">
                                      <p:cBhvr>
                                        <p:cTn id="22" dur="500"/>
                                        <p:tgtEl>
                                          <p:spTgt spid="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pic>
        <p:nvPicPr>
          <p:cNvPr id="347" name="Google Shape;347;p9"/>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348" name="Google Shape;348;p9"/>
          <p:cNvGrpSpPr/>
          <p:nvPr/>
        </p:nvGrpSpPr>
        <p:grpSpPr>
          <a:xfrm>
            <a:off x="118191" y="106018"/>
            <a:ext cx="1498574" cy="904328"/>
            <a:chOff x="862157" y="4413681"/>
            <a:chExt cx="2570156" cy="1560001"/>
          </a:xfrm>
        </p:grpSpPr>
        <p:pic>
          <p:nvPicPr>
            <p:cNvPr id="349" name="Google Shape;349;p9"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350" name="Google Shape;350;p9"/>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351" name="Google Shape;351;p9"/>
          <p:cNvSpPr/>
          <p:nvPr/>
        </p:nvSpPr>
        <p:spPr>
          <a:xfrm>
            <a:off x="5161721" y="318944"/>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Collection</a:t>
            </a:r>
            <a:endParaRPr/>
          </a:p>
        </p:txBody>
      </p:sp>
      <p:sp>
        <p:nvSpPr>
          <p:cNvPr id="352" name="Google Shape;352;p9"/>
          <p:cNvSpPr/>
          <p:nvPr/>
        </p:nvSpPr>
        <p:spPr>
          <a:xfrm>
            <a:off x="934278" y="1487349"/>
            <a:ext cx="6096000"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    Methods of Collection Interface</a:t>
            </a:r>
            <a:endParaRPr/>
          </a:p>
          <a:p>
            <a:pPr marL="0" marR="0" lvl="0" indent="0" algn="l" rtl="0">
              <a:spcBef>
                <a:spcPts val="0"/>
              </a:spcBef>
              <a:spcAft>
                <a:spcPts val="0"/>
              </a:spcAft>
              <a:buNone/>
            </a:pPr>
            <a:endParaRPr sz="2400" b="1">
              <a:solidFill>
                <a:schemeClr val="dk1"/>
              </a:solidFill>
              <a:latin typeface="Calibri"/>
              <a:ea typeface="Calibri"/>
              <a:cs typeface="Calibri"/>
              <a:sym typeface="Calibri"/>
            </a:endParaRPr>
          </a:p>
          <a:p>
            <a:pPr marL="0" marR="0" lvl="0" indent="0" algn="l" rtl="0">
              <a:spcBef>
                <a:spcPts val="0"/>
              </a:spcBef>
              <a:spcAft>
                <a:spcPts val="0"/>
              </a:spcAft>
              <a:buNone/>
            </a:pPr>
            <a:r>
              <a:rPr lang="en-US" sz="2400" b="1">
                <a:solidFill>
                  <a:srgbClr val="FF0000"/>
                </a:solidFill>
                <a:latin typeface="Calibri"/>
                <a:ea typeface="Calibri"/>
                <a:cs typeface="Calibri"/>
                <a:sym typeface="Calibri"/>
              </a:rPr>
              <a:t>    int size();</a:t>
            </a:r>
            <a:endParaRPr/>
          </a:p>
          <a:p>
            <a:pPr marL="0" marR="0" lvl="0" indent="0" algn="l" rtl="0">
              <a:spcBef>
                <a:spcPts val="0"/>
              </a:spcBef>
              <a:spcAft>
                <a:spcPts val="0"/>
              </a:spcAft>
              <a:buNone/>
            </a:pPr>
            <a:r>
              <a:rPr lang="en-US" sz="2400" b="1">
                <a:solidFill>
                  <a:schemeClr val="dk1"/>
                </a:solidFill>
                <a:latin typeface="Calibri"/>
                <a:ea typeface="Calibri"/>
                <a:cs typeface="Calibri"/>
                <a:sym typeface="Calibri"/>
              </a:rPr>
              <a:t>    </a:t>
            </a:r>
            <a:r>
              <a:rPr lang="en-US" sz="2400" b="1">
                <a:solidFill>
                  <a:srgbClr val="FF0000"/>
                </a:solidFill>
                <a:latin typeface="Calibri"/>
                <a:ea typeface="Calibri"/>
                <a:cs typeface="Calibri"/>
                <a:sym typeface="Calibri"/>
              </a:rPr>
              <a:t>boolean isEmpty();</a:t>
            </a:r>
            <a:endParaRPr/>
          </a:p>
          <a:p>
            <a:pPr marL="0" marR="0" lvl="0" indent="0" algn="l" rtl="0">
              <a:spcBef>
                <a:spcPts val="0"/>
              </a:spcBef>
              <a:spcAft>
                <a:spcPts val="0"/>
              </a:spcAft>
              <a:buNone/>
            </a:pPr>
            <a:r>
              <a:rPr lang="en-US" sz="2400" b="1">
                <a:solidFill>
                  <a:schemeClr val="dk1"/>
                </a:solidFill>
                <a:latin typeface="Calibri"/>
                <a:ea typeface="Calibri"/>
                <a:cs typeface="Calibri"/>
                <a:sym typeface="Calibri"/>
              </a:rPr>
              <a:t>    </a:t>
            </a:r>
            <a:r>
              <a:rPr lang="en-US" sz="2400" b="1">
                <a:solidFill>
                  <a:srgbClr val="FF0000"/>
                </a:solidFill>
                <a:latin typeface="Calibri"/>
                <a:ea typeface="Calibri"/>
                <a:cs typeface="Calibri"/>
                <a:sym typeface="Calibri"/>
              </a:rPr>
              <a:t>boolean contains(Object o);</a:t>
            </a:r>
            <a:endParaRPr/>
          </a:p>
          <a:p>
            <a:pPr marL="0" marR="0" lvl="0" indent="0" algn="l" rtl="0">
              <a:spcBef>
                <a:spcPts val="0"/>
              </a:spcBef>
              <a:spcAft>
                <a:spcPts val="0"/>
              </a:spcAft>
              <a:buNone/>
            </a:pPr>
            <a:r>
              <a:rPr lang="en-US" sz="2400" b="1">
                <a:solidFill>
                  <a:schemeClr val="dk1"/>
                </a:solidFill>
                <a:latin typeface="Calibri"/>
                <a:ea typeface="Calibri"/>
                <a:cs typeface="Calibri"/>
                <a:sym typeface="Calibri"/>
              </a:rPr>
              <a:t>    Object[] toArray();</a:t>
            </a:r>
            <a:endParaRPr/>
          </a:p>
          <a:p>
            <a:pPr marL="0" marR="0" lvl="0" indent="0" algn="l" rtl="0">
              <a:spcBef>
                <a:spcPts val="0"/>
              </a:spcBef>
              <a:spcAft>
                <a:spcPts val="0"/>
              </a:spcAft>
              <a:buNone/>
            </a:pPr>
            <a:r>
              <a:rPr lang="en-US" sz="2400" b="1">
                <a:solidFill>
                  <a:schemeClr val="dk1"/>
                </a:solidFill>
                <a:latin typeface="Calibri"/>
                <a:ea typeface="Calibri"/>
                <a:cs typeface="Calibri"/>
                <a:sym typeface="Calibri"/>
              </a:rPr>
              <a:t>    </a:t>
            </a:r>
            <a:r>
              <a:rPr lang="en-US" sz="2400" b="1">
                <a:solidFill>
                  <a:srgbClr val="FF0000"/>
                </a:solidFill>
                <a:latin typeface="Calibri"/>
                <a:ea typeface="Calibri"/>
                <a:cs typeface="Calibri"/>
                <a:sym typeface="Calibri"/>
              </a:rPr>
              <a:t>boolean add(E e);</a:t>
            </a:r>
            <a:endParaRPr/>
          </a:p>
          <a:p>
            <a:pPr marL="0" marR="0" lvl="0" indent="0" algn="l" rtl="0">
              <a:spcBef>
                <a:spcPts val="0"/>
              </a:spcBef>
              <a:spcAft>
                <a:spcPts val="0"/>
              </a:spcAft>
              <a:buNone/>
            </a:pPr>
            <a:r>
              <a:rPr lang="en-US" sz="2400" b="1">
                <a:solidFill>
                  <a:schemeClr val="dk1"/>
                </a:solidFill>
                <a:latin typeface="Calibri"/>
                <a:ea typeface="Calibri"/>
                <a:cs typeface="Calibri"/>
                <a:sym typeface="Calibri"/>
              </a:rPr>
              <a:t>    </a:t>
            </a:r>
            <a:r>
              <a:rPr lang="en-US" sz="2400" b="1">
                <a:solidFill>
                  <a:srgbClr val="FF0000"/>
                </a:solidFill>
                <a:latin typeface="Calibri"/>
                <a:ea typeface="Calibri"/>
                <a:cs typeface="Calibri"/>
                <a:sym typeface="Calibri"/>
              </a:rPr>
              <a:t>boolean remove(Object o);</a:t>
            </a:r>
            <a:endParaRPr/>
          </a:p>
          <a:p>
            <a:pPr marL="0" marR="0" lvl="0" indent="0" algn="l" rtl="0">
              <a:spcBef>
                <a:spcPts val="0"/>
              </a:spcBef>
              <a:spcAft>
                <a:spcPts val="0"/>
              </a:spcAft>
              <a:buNone/>
            </a:pPr>
            <a:r>
              <a:rPr lang="en-US" sz="2400" b="1">
                <a:solidFill>
                  <a:schemeClr val="dk1"/>
                </a:solidFill>
                <a:latin typeface="Calibri"/>
                <a:ea typeface="Calibri"/>
                <a:cs typeface="Calibri"/>
                <a:sym typeface="Calibri"/>
              </a:rPr>
              <a:t>    </a:t>
            </a:r>
            <a:r>
              <a:rPr lang="en-US" sz="2400" b="1">
                <a:solidFill>
                  <a:srgbClr val="FF0000"/>
                </a:solidFill>
                <a:latin typeface="Calibri"/>
                <a:ea typeface="Calibri"/>
                <a:cs typeface="Calibri"/>
                <a:sym typeface="Calibri"/>
              </a:rPr>
              <a:t>boolean containsAll(Collection&lt;?&gt; c);</a:t>
            </a:r>
            <a:endParaRPr/>
          </a:p>
          <a:p>
            <a:pPr marL="0" marR="0" lvl="0" indent="0" algn="l" rtl="0">
              <a:spcBef>
                <a:spcPts val="0"/>
              </a:spcBef>
              <a:spcAft>
                <a:spcPts val="0"/>
              </a:spcAft>
              <a:buNone/>
            </a:pPr>
            <a:r>
              <a:rPr lang="en-US" sz="2400" b="1">
                <a:solidFill>
                  <a:schemeClr val="dk1"/>
                </a:solidFill>
                <a:latin typeface="Calibri"/>
                <a:ea typeface="Calibri"/>
                <a:cs typeface="Calibri"/>
                <a:sym typeface="Calibri"/>
              </a:rPr>
              <a:t>    </a:t>
            </a:r>
            <a:r>
              <a:rPr lang="en-US" sz="2400" b="1">
                <a:solidFill>
                  <a:srgbClr val="FF0000"/>
                </a:solidFill>
                <a:latin typeface="Calibri"/>
                <a:ea typeface="Calibri"/>
                <a:cs typeface="Calibri"/>
                <a:sym typeface="Calibri"/>
              </a:rPr>
              <a:t>boolean addAll(Collection&lt;? extends E&gt; c);</a:t>
            </a:r>
            <a:endParaRPr/>
          </a:p>
          <a:p>
            <a:pPr marL="0" marR="0" lvl="0" indent="0" algn="l" rtl="0">
              <a:spcBef>
                <a:spcPts val="0"/>
              </a:spcBef>
              <a:spcAft>
                <a:spcPts val="0"/>
              </a:spcAft>
              <a:buNone/>
            </a:pPr>
            <a:r>
              <a:rPr lang="en-US" sz="2400" b="1">
                <a:solidFill>
                  <a:schemeClr val="dk1"/>
                </a:solidFill>
                <a:latin typeface="Calibri"/>
                <a:ea typeface="Calibri"/>
                <a:cs typeface="Calibri"/>
                <a:sym typeface="Calibri"/>
              </a:rPr>
              <a:t>    </a:t>
            </a:r>
            <a:r>
              <a:rPr lang="en-US" sz="2400" b="1">
                <a:solidFill>
                  <a:srgbClr val="FF0000"/>
                </a:solidFill>
                <a:latin typeface="Calibri"/>
                <a:ea typeface="Calibri"/>
                <a:cs typeface="Calibri"/>
                <a:sym typeface="Calibri"/>
              </a:rPr>
              <a:t>boolean removeAll(Collection&lt;?&gt; c);</a:t>
            </a:r>
            <a:endParaRPr/>
          </a:p>
          <a:p>
            <a:pPr marL="0" marR="0" lvl="0" indent="0" algn="l" rtl="0">
              <a:spcBef>
                <a:spcPts val="0"/>
              </a:spcBef>
              <a:spcAft>
                <a:spcPts val="0"/>
              </a:spcAft>
              <a:buNone/>
            </a:pPr>
            <a:r>
              <a:rPr lang="en-US" sz="2400" b="1">
                <a:solidFill>
                  <a:schemeClr val="dk1"/>
                </a:solidFill>
                <a:latin typeface="Calibri"/>
                <a:ea typeface="Calibri"/>
                <a:cs typeface="Calibri"/>
                <a:sym typeface="Calibri"/>
              </a:rPr>
              <a:t>    </a:t>
            </a:r>
            <a:r>
              <a:rPr lang="en-US" sz="2400" b="1">
                <a:solidFill>
                  <a:srgbClr val="FF0000"/>
                </a:solidFill>
                <a:latin typeface="Calibri"/>
                <a:ea typeface="Calibri"/>
                <a:cs typeface="Calibri"/>
                <a:sym typeface="Calibri"/>
              </a:rPr>
              <a:t>boolean retainAll(Collection&lt;?&gt; c);</a:t>
            </a:r>
            <a:endParaRPr/>
          </a:p>
          <a:p>
            <a:pPr marL="0" marR="0" lvl="0" indent="0" algn="l" rtl="0">
              <a:spcBef>
                <a:spcPts val="0"/>
              </a:spcBef>
              <a:spcAft>
                <a:spcPts val="0"/>
              </a:spcAft>
              <a:buNone/>
            </a:pPr>
            <a:r>
              <a:rPr lang="en-US" sz="2400" b="1">
                <a:solidFill>
                  <a:schemeClr val="dk1"/>
                </a:solidFill>
                <a:latin typeface="Calibri"/>
                <a:ea typeface="Calibri"/>
                <a:cs typeface="Calibri"/>
                <a:sym typeface="Calibri"/>
              </a:rPr>
              <a:t>    </a:t>
            </a:r>
            <a:r>
              <a:rPr lang="en-US" sz="2400" b="1">
                <a:solidFill>
                  <a:srgbClr val="FF0000"/>
                </a:solidFill>
                <a:latin typeface="Calibri"/>
                <a:ea typeface="Calibri"/>
                <a:cs typeface="Calibri"/>
                <a:sym typeface="Calibri"/>
              </a:rPr>
              <a:t>void clear();</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10"/>
          <p:cNvSpPr/>
          <p:nvPr/>
        </p:nvSpPr>
        <p:spPr>
          <a:xfrm>
            <a:off x="1" y="0"/>
            <a:ext cx="3897442" cy="6858000"/>
          </a:xfrm>
          <a:prstGeom prst="rect">
            <a:avLst/>
          </a:pr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8" name="Google Shape;358;p10"/>
          <p:cNvSpPr txBox="1"/>
          <p:nvPr/>
        </p:nvSpPr>
        <p:spPr>
          <a:xfrm>
            <a:off x="1151292" y="237372"/>
            <a:ext cx="15948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Topics</a:t>
            </a:r>
            <a:endParaRPr/>
          </a:p>
        </p:txBody>
      </p:sp>
      <p:sp>
        <p:nvSpPr>
          <p:cNvPr id="359" name="Google Shape;359;p10"/>
          <p:cNvSpPr txBox="1"/>
          <p:nvPr/>
        </p:nvSpPr>
        <p:spPr>
          <a:xfrm>
            <a:off x="5989419" y="2721114"/>
            <a:ext cx="1828386"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61628"/>
                </a:solidFill>
                <a:latin typeface="Calibri"/>
                <a:ea typeface="Calibri"/>
                <a:cs typeface="Calibri"/>
                <a:sym typeface="Calibri"/>
              </a:rPr>
              <a:t>01	List</a:t>
            </a:r>
            <a:endParaRPr/>
          </a:p>
        </p:txBody>
      </p:sp>
      <p:pic>
        <p:nvPicPr>
          <p:cNvPr id="360" name="Google Shape;360;p10"/>
          <p:cNvPicPr preferRelativeResize="0"/>
          <p:nvPr/>
        </p:nvPicPr>
        <p:blipFill rotWithShape="1">
          <a:blip r:embed="rId3">
            <a:alphaModFix/>
          </a:blip>
          <a:srcRect l="25290" t="6287" r="23678" b="6958"/>
          <a:stretch/>
        </p:blipFill>
        <p:spPr>
          <a:xfrm>
            <a:off x="957407" y="1890227"/>
            <a:ext cx="1637034" cy="2782957"/>
          </a:xfrm>
          <a:prstGeom prst="rect">
            <a:avLst/>
          </a:prstGeom>
          <a:noFill/>
          <a:ln>
            <a:noFill/>
          </a:ln>
        </p:spPr>
      </p:pic>
      <p:sp>
        <p:nvSpPr>
          <p:cNvPr id="361" name="Google Shape;361;p10"/>
          <p:cNvSpPr txBox="1"/>
          <p:nvPr/>
        </p:nvSpPr>
        <p:spPr>
          <a:xfrm>
            <a:off x="4784035" y="0"/>
            <a:ext cx="564755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rgbClr val="261628"/>
                </a:solidFill>
                <a:latin typeface="Calibri"/>
                <a:ea typeface="Calibri"/>
                <a:cs typeface="Calibri"/>
                <a:sym typeface="Calibri"/>
              </a:rPr>
              <a:t>Collection Framework</a:t>
            </a:r>
            <a:endParaRPr/>
          </a:p>
        </p:txBody>
      </p:sp>
      <p:grpSp>
        <p:nvGrpSpPr>
          <p:cNvPr id="362" name="Google Shape;362;p10"/>
          <p:cNvGrpSpPr/>
          <p:nvPr/>
        </p:nvGrpSpPr>
        <p:grpSpPr>
          <a:xfrm>
            <a:off x="485505" y="4776597"/>
            <a:ext cx="2570156" cy="1560001"/>
            <a:chOff x="862157" y="4413681"/>
            <a:chExt cx="2570156" cy="1560001"/>
          </a:xfrm>
        </p:grpSpPr>
        <p:pic>
          <p:nvPicPr>
            <p:cNvPr id="363" name="Google Shape;363;p10"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364" name="Google Shape;364;p10"/>
            <p:cNvSpPr/>
            <p:nvPr/>
          </p:nvSpPr>
          <p:spPr>
            <a:xfrm>
              <a:off x="862157" y="4413681"/>
              <a:ext cx="2570156" cy="372346"/>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1">
                  <a:solidFill>
                    <a:schemeClr val="lt1"/>
                  </a:solidFill>
                  <a:latin typeface="Roboto"/>
                  <a:ea typeface="Roboto"/>
                  <a:cs typeface="Roboto"/>
                  <a:sym typeface="Roboto"/>
                </a:rPr>
                <a:t>Collection Framework</a:t>
              </a:r>
              <a:endParaRPr/>
            </a:p>
          </p:txBody>
        </p:sp>
      </p:gr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pic>
        <p:nvPicPr>
          <p:cNvPr id="369" name="Google Shape;369;p11"/>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370" name="Google Shape;370;p11"/>
          <p:cNvGrpSpPr/>
          <p:nvPr/>
        </p:nvGrpSpPr>
        <p:grpSpPr>
          <a:xfrm>
            <a:off x="118191" y="106018"/>
            <a:ext cx="1498574" cy="904328"/>
            <a:chOff x="862157" y="4413681"/>
            <a:chExt cx="2570156" cy="1560001"/>
          </a:xfrm>
        </p:grpSpPr>
        <p:pic>
          <p:nvPicPr>
            <p:cNvPr id="371" name="Google Shape;371;p11"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372" name="Google Shape;372;p11"/>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373" name="Google Shape;373;p11"/>
          <p:cNvSpPr/>
          <p:nvPr/>
        </p:nvSpPr>
        <p:spPr>
          <a:xfrm>
            <a:off x="5105959" y="562846"/>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Collection</a:t>
            </a:r>
            <a:endParaRPr/>
          </a:p>
        </p:txBody>
      </p:sp>
      <p:sp>
        <p:nvSpPr>
          <p:cNvPr id="374" name="Google Shape;374;p11"/>
          <p:cNvSpPr/>
          <p:nvPr/>
        </p:nvSpPr>
        <p:spPr>
          <a:xfrm>
            <a:off x="5105961" y="2247892"/>
            <a:ext cx="1868557" cy="614578"/>
          </a:xfrm>
          <a:prstGeom prst="rect">
            <a:avLst/>
          </a:prstGeom>
          <a:solidFill>
            <a:schemeClr val="accent1">
              <a:alpha val="49803"/>
            </a:schemeClr>
          </a:solid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List (1.2)</a:t>
            </a:r>
            <a:endParaRPr/>
          </a:p>
        </p:txBody>
      </p:sp>
      <p:sp>
        <p:nvSpPr>
          <p:cNvPr id="375" name="Google Shape;375;p11"/>
          <p:cNvSpPr/>
          <p:nvPr/>
        </p:nvSpPr>
        <p:spPr>
          <a:xfrm>
            <a:off x="1536233" y="3434917"/>
            <a:ext cx="1124132" cy="490330"/>
          </a:xfrm>
          <a:prstGeom prst="rect">
            <a:avLst/>
          </a:prstGeom>
          <a:solidFill>
            <a:schemeClr val="accent1">
              <a:alpha val="49803"/>
            </a:schemeClr>
          </a:solidFill>
          <a:ln w="28575" cap="flat" cmpd="sng">
            <a:solidFill>
              <a:srgbClr val="A0B7E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ArrayList (1.2)</a:t>
            </a:r>
            <a:endParaRPr/>
          </a:p>
        </p:txBody>
      </p:sp>
      <p:sp>
        <p:nvSpPr>
          <p:cNvPr id="376" name="Google Shape;376;p11"/>
          <p:cNvSpPr/>
          <p:nvPr/>
        </p:nvSpPr>
        <p:spPr>
          <a:xfrm>
            <a:off x="5478172" y="3434917"/>
            <a:ext cx="1124133" cy="490330"/>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LinkedList(1.2)</a:t>
            </a:r>
            <a:endParaRPr/>
          </a:p>
        </p:txBody>
      </p:sp>
      <p:sp>
        <p:nvSpPr>
          <p:cNvPr id="377" name="Google Shape;377;p11"/>
          <p:cNvSpPr/>
          <p:nvPr/>
        </p:nvSpPr>
        <p:spPr>
          <a:xfrm>
            <a:off x="8636126" y="3537764"/>
            <a:ext cx="1124133" cy="490330"/>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Vector (1.0)</a:t>
            </a:r>
            <a:endParaRPr/>
          </a:p>
        </p:txBody>
      </p:sp>
      <p:sp>
        <p:nvSpPr>
          <p:cNvPr id="378" name="Google Shape;378;p11"/>
          <p:cNvSpPr/>
          <p:nvPr/>
        </p:nvSpPr>
        <p:spPr>
          <a:xfrm>
            <a:off x="8636127" y="5522375"/>
            <a:ext cx="1124133" cy="490330"/>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Stack (1.0)</a:t>
            </a:r>
            <a:endParaRPr/>
          </a:p>
        </p:txBody>
      </p:sp>
      <p:cxnSp>
        <p:nvCxnSpPr>
          <p:cNvPr id="379" name="Google Shape;379;p11"/>
          <p:cNvCxnSpPr>
            <a:stCxn id="378" idx="0"/>
            <a:endCxn id="377" idx="2"/>
          </p:cNvCxnSpPr>
          <p:nvPr/>
        </p:nvCxnSpPr>
        <p:spPr>
          <a:xfrm rot="10800000">
            <a:off x="9198194" y="4028075"/>
            <a:ext cx="0" cy="1494300"/>
          </a:xfrm>
          <a:prstGeom prst="straightConnector1">
            <a:avLst/>
          </a:prstGeom>
          <a:noFill/>
          <a:ln w="28575" cap="flat" cmpd="sng">
            <a:solidFill>
              <a:schemeClr val="dk1"/>
            </a:solidFill>
            <a:prstDash val="solid"/>
            <a:miter lim="800000"/>
            <a:headEnd type="none" w="sm" len="sm"/>
            <a:tailEnd type="triangle" w="med" len="med"/>
          </a:ln>
        </p:spPr>
      </p:cxnSp>
      <p:cxnSp>
        <p:nvCxnSpPr>
          <p:cNvPr id="380" name="Google Shape;380;p11"/>
          <p:cNvCxnSpPr>
            <a:stCxn id="375" idx="0"/>
            <a:endCxn id="374" idx="2"/>
          </p:cNvCxnSpPr>
          <p:nvPr/>
        </p:nvCxnSpPr>
        <p:spPr>
          <a:xfrm rot="10800000" flipH="1">
            <a:off x="2098299" y="2862517"/>
            <a:ext cx="3942000" cy="572400"/>
          </a:xfrm>
          <a:prstGeom prst="straightConnector1">
            <a:avLst/>
          </a:prstGeom>
          <a:noFill/>
          <a:ln w="28575" cap="flat" cmpd="sng">
            <a:solidFill>
              <a:schemeClr val="dk1"/>
            </a:solidFill>
            <a:prstDash val="dash"/>
            <a:miter lim="800000"/>
            <a:headEnd type="none" w="sm" len="sm"/>
            <a:tailEnd type="triangle" w="med" len="med"/>
          </a:ln>
        </p:spPr>
      </p:cxnSp>
      <p:cxnSp>
        <p:nvCxnSpPr>
          <p:cNvPr id="381" name="Google Shape;381;p11"/>
          <p:cNvCxnSpPr>
            <a:stCxn id="376" idx="0"/>
            <a:endCxn id="374" idx="2"/>
          </p:cNvCxnSpPr>
          <p:nvPr/>
        </p:nvCxnSpPr>
        <p:spPr>
          <a:xfrm rot="10800000">
            <a:off x="6040238" y="2862517"/>
            <a:ext cx="0" cy="572400"/>
          </a:xfrm>
          <a:prstGeom prst="straightConnector1">
            <a:avLst/>
          </a:prstGeom>
          <a:noFill/>
          <a:ln w="28575" cap="flat" cmpd="sng">
            <a:solidFill>
              <a:schemeClr val="dk1"/>
            </a:solidFill>
            <a:prstDash val="dash"/>
            <a:miter lim="800000"/>
            <a:headEnd type="none" w="sm" len="sm"/>
            <a:tailEnd type="triangle" w="med" len="med"/>
          </a:ln>
        </p:spPr>
      </p:cxnSp>
      <p:cxnSp>
        <p:nvCxnSpPr>
          <p:cNvPr id="382" name="Google Shape;382;p11"/>
          <p:cNvCxnSpPr>
            <a:stCxn id="377" idx="0"/>
            <a:endCxn id="374" idx="2"/>
          </p:cNvCxnSpPr>
          <p:nvPr/>
        </p:nvCxnSpPr>
        <p:spPr>
          <a:xfrm rot="10800000">
            <a:off x="6040092" y="2862464"/>
            <a:ext cx="3158100" cy="675300"/>
          </a:xfrm>
          <a:prstGeom prst="straightConnector1">
            <a:avLst/>
          </a:prstGeom>
          <a:noFill/>
          <a:ln w="28575" cap="flat" cmpd="sng">
            <a:solidFill>
              <a:schemeClr val="dk1"/>
            </a:solidFill>
            <a:prstDash val="dash"/>
            <a:miter lim="800000"/>
            <a:headEnd type="none" w="sm" len="sm"/>
            <a:tailEnd type="triangle" w="med" len="med"/>
          </a:ln>
        </p:spPr>
      </p:cxnSp>
      <p:cxnSp>
        <p:nvCxnSpPr>
          <p:cNvPr id="383" name="Google Shape;383;p11"/>
          <p:cNvCxnSpPr>
            <a:stCxn id="374" idx="0"/>
            <a:endCxn id="373" idx="2"/>
          </p:cNvCxnSpPr>
          <p:nvPr/>
        </p:nvCxnSpPr>
        <p:spPr>
          <a:xfrm rot="10800000">
            <a:off x="6040239" y="1106392"/>
            <a:ext cx="0" cy="1141500"/>
          </a:xfrm>
          <a:prstGeom prst="straightConnector1">
            <a:avLst/>
          </a:prstGeom>
          <a:noFill/>
          <a:ln w="28575" cap="flat" cmpd="sng">
            <a:solidFill>
              <a:schemeClr val="dk1"/>
            </a:solidFill>
            <a:prstDash val="solid"/>
            <a:miter lim="800000"/>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88" name="Google Shape;388;p12"/>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389" name="Google Shape;389;p12"/>
          <p:cNvGrpSpPr/>
          <p:nvPr/>
        </p:nvGrpSpPr>
        <p:grpSpPr>
          <a:xfrm>
            <a:off x="118191" y="106018"/>
            <a:ext cx="1498574" cy="904328"/>
            <a:chOff x="862157" y="4413681"/>
            <a:chExt cx="2570156" cy="1560001"/>
          </a:xfrm>
        </p:grpSpPr>
        <p:pic>
          <p:nvPicPr>
            <p:cNvPr id="390" name="Google Shape;390;p12"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391" name="Google Shape;391;p12"/>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392" name="Google Shape;392;p12"/>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List Interface</a:t>
            </a:r>
            <a:endParaRPr/>
          </a:p>
        </p:txBody>
      </p:sp>
      <p:sp>
        <p:nvSpPr>
          <p:cNvPr id="393" name="Google Shape;393;p12"/>
          <p:cNvSpPr/>
          <p:nvPr/>
        </p:nvSpPr>
        <p:spPr>
          <a:xfrm>
            <a:off x="1484242" y="1536100"/>
            <a:ext cx="9037983" cy="304698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000000"/>
              </a:buClr>
              <a:buSzPts val="2400"/>
              <a:buFont typeface="Noto Sans Symbols"/>
              <a:buChar char="▪"/>
            </a:pPr>
            <a:r>
              <a:rPr lang="en-US" sz="2400" b="1">
                <a:solidFill>
                  <a:srgbClr val="000000"/>
                </a:solidFill>
                <a:latin typeface="Calibri"/>
                <a:ea typeface="Calibri"/>
                <a:cs typeface="Calibri"/>
                <a:sym typeface="Calibri"/>
              </a:rPr>
              <a:t>List Interface is the sub interface of Collection. </a:t>
            </a:r>
            <a:endParaRPr/>
          </a:p>
          <a:p>
            <a:pPr marL="285750" marR="0" lvl="0" indent="-133350" algn="l" rtl="0">
              <a:spcBef>
                <a:spcPts val="0"/>
              </a:spcBef>
              <a:spcAft>
                <a:spcPts val="0"/>
              </a:spcAft>
              <a:buClr>
                <a:schemeClr val="dk1"/>
              </a:buClr>
              <a:buSzPts val="2400"/>
              <a:buFont typeface="Noto Sans Symbols"/>
              <a:buNone/>
            </a:pPr>
            <a:endParaRPr sz="2400" b="1">
              <a:solidFill>
                <a:srgbClr val="000000"/>
              </a:solidFill>
              <a:latin typeface="Calibri"/>
              <a:ea typeface="Calibri"/>
              <a:cs typeface="Calibri"/>
              <a:sym typeface="Calibri"/>
            </a:endParaRPr>
          </a:p>
          <a:p>
            <a:pPr marL="285750" marR="0" lvl="0" indent="-285750" algn="l" rtl="0">
              <a:spcBef>
                <a:spcPts val="0"/>
              </a:spcBef>
              <a:spcAft>
                <a:spcPts val="0"/>
              </a:spcAft>
              <a:buClr>
                <a:srgbClr val="000000"/>
              </a:buClr>
              <a:buSzPts val="2400"/>
              <a:buFont typeface="Noto Sans Symbols"/>
              <a:buChar char="▪"/>
            </a:pPr>
            <a:r>
              <a:rPr lang="en-US" sz="2400" b="1">
                <a:solidFill>
                  <a:srgbClr val="000000"/>
                </a:solidFill>
                <a:latin typeface="Calibri"/>
                <a:ea typeface="Calibri"/>
                <a:cs typeface="Calibri"/>
                <a:sym typeface="Calibri"/>
              </a:rPr>
              <a:t>It contains index-based methods to insert and delete elements.</a:t>
            </a:r>
            <a:endParaRPr/>
          </a:p>
          <a:p>
            <a:pPr marL="285750" marR="0" lvl="0" indent="-133350" algn="l" rtl="0">
              <a:spcBef>
                <a:spcPts val="0"/>
              </a:spcBef>
              <a:spcAft>
                <a:spcPts val="0"/>
              </a:spcAft>
              <a:buClr>
                <a:schemeClr val="dk1"/>
              </a:buClr>
              <a:buSzPts val="2400"/>
              <a:buFont typeface="Noto Sans Symbols"/>
              <a:buNone/>
            </a:pPr>
            <a:endParaRPr sz="2400" b="1">
              <a:solidFill>
                <a:srgbClr val="000000"/>
              </a:solidFill>
              <a:latin typeface="Calibri"/>
              <a:ea typeface="Calibri"/>
              <a:cs typeface="Calibri"/>
              <a:sym typeface="Calibri"/>
            </a:endParaRPr>
          </a:p>
          <a:p>
            <a:pPr marL="0" marR="0" lvl="0" indent="0" algn="l" rtl="0">
              <a:spcBef>
                <a:spcPts val="0"/>
              </a:spcBef>
              <a:spcAft>
                <a:spcPts val="0"/>
              </a:spcAft>
              <a:buNone/>
            </a:pPr>
            <a:endParaRPr sz="2400" b="1">
              <a:solidFill>
                <a:srgbClr val="000000"/>
              </a:solidFill>
              <a:latin typeface="Calibri"/>
              <a:ea typeface="Calibri"/>
              <a:cs typeface="Calibri"/>
              <a:sym typeface="Calibri"/>
            </a:endParaRPr>
          </a:p>
          <a:p>
            <a:pPr marL="0" marR="0" lvl="0" indent="0" algn="l" rtl="0">
              <a:spcBef>
                <a:spcPts val="0"/>
              </a:spcBef>
              <a:spcAft>
                <a:spcPts val="0"/>
              </a:spcAft>
              <a:buNone/>
            </a:pPr>
            <a:r>
              <a:rPr lang="en-US" sz="2400" b="1">
                <a:solidFill>
                  <a:srgbClr val="000000"/>
                </a:solidFill>
                <a:latin typeface="Calibri"/>
                <a:ea typeface="Calibri"/>
                <a:cs typeface="Calibri"/>
                <a:sym typeface="Calibri"/>
              </a:rPr>
              <a:t>List Interface declaration</a:t>
            </a:r>
            <a:endParaRPr/>
          </a:p>
          <a:p>
            <a:pPr marL="0" marR="0" lvl="0" indent="0" algn="l" rtl="0">
              <a:spcBef>
                <a:spcPts val="0"/>
              </a:spcBef>
              <a:spcAft>
                <a:spcPts val="0"/>
              </a:spcAft>
              <a:buNone/>
            </a:pPr>
            <a:endParaRPr sz="2400" b="1">
              <a:solidFill>
                <a:srgbClr val="000000"/>
              </a:solidFill>
              <a:latin typeface="Calibri"/>
              <a:ea typeface="Calibri"/>
              <a:cs typeface="Calibri"/>
              <a:sym typeface="Calibri"/>
            </a:endParaRPr>
          </a:p>
          <a:p>
            <a:pPr marL="285750" marR="0" lvl="0" indent="-285750" algn="l" rtl="0">
              <a:spcBef>
                <a:spcPts val="0"/>
              </a:spcBef>
              <a:spcAft>
                <a:spcPts val="0"/>
              </a:spcAft>
              <a:buClr>
                <a:srgbClr val="000000"/>
              </a:buClr>
              <a:buSzPts val="2400"/>
              <a:buFont typeface="Noto Sans Symbols"/>
              <a:buChar char="▪"/>
            </a:pPr>
            <a:r>
              <a:rPr lang="en-US" sz="2400" b="1">
                <a:solidFill>
                  <a:srgbClr val="000000"/>
                </a:solidFill>
                <a:latin typeface="Calibri"/>
                <a:ea typeface="Calibri"/>
                <a:cs typeface="Calibri"/>
                <a:sym typeface="Calibri"/>
              </a:rPr>
              <a:t>public interface List&lt;E&gt; extends Collection&lt;E&gt; </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13"/>
          <p:cNvSpPr/>
          <p:nvPr/>
        </p:nvSpPr>
        <p:spPr>
          <a:xfrm>
            <a:off x="1" y="0"/>
            <a:ext cx="3897442" cy="6858000"/>
          </a:xfrm>
          <a:prstGeom prst="rect">
            <a:avLst/>
          </a:pr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9" name="Google Shape;399;p13"/>
          <p:cNvSpPr txBox="1"/>
          <p:nvPr/>
        </p:nvSpPr>
        <p:spPr>
          <a:xfrm>
            <a:off x="1151292" y="237372"/>
            <a:ext cx="15948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Topics</a:t>
            </a:r>
            <a:endParaRPr/>
          </a:p>
        </p:txBody>
      </p:sp>
      <p:sp>
        <p:nvSpPr>
          <p:cNvPr id="400" name="Google Shape;400;p13"/>
          <p:cNvSpPr txBox="1"/>
          <p:nvPr/>
        </p:nvSpPr>
        <p:spPr>
          <a:xfrm>
            <a:off x="5989419" y="2721114"/>
            <a:ext cx="298120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61628"/>
                </a:solidFill>
                <a:latin typeface="Calibri"/>
                <a:ea typeface="Calibri"/>
                <a:cs typeface="Calibri"/>
                <a:sym typeface="Calibri"/>
              </a:rPr>
              <a:t>02	ArrayList</a:t>
            </a:r>
            <a:endParaRPr/>
          </a:p>
        </p:txBody>
      </p:sp>
      <p:pic>
        <p:nvPicPr>
          <p:cNvPr id="401" name="Google Shape;401;p13"/>
          <p:cNvPicPr preferRelativeResize="0"/>
          <p:nvPr/>
        </p:nvPicPr>
        <p:blipFill rotWithShape="1">
          <a:blip r:embed="rId3">
            <a:alphaModFix/>
          </a:blip>
          <a:srcRect l="25290" t="6287" r="23678" b="6958"/>
          <a:stretch/>
        </p:blipFill>
        <p:spPr>
          <a:xfrm>
            <a:off x="957407" y="1890227"/>
            <a:ext cx="1637034" cy="2782957"/>
          </a:xfrm>
          <a:prstGeom prst="rect">
            <a:avLst/>
          </a:prstGeom>
          <a:noFill/>
          <a:ln>
            <a:noFill/>
          </a:ln>
        </p:spPr>
      </p:pic>
      <p:sp>
        <p:nvSpPr>
          <p:cNvPr id="402" name="Google Shape;402;p13"/>
          <p:cNvSpPr txBox="1"/>
          <p:nvPr/>
        </p:nvSpPr>
        <p:spPr>
          <a:xfrm>
            <a:off x="4784035" y="0"/>
            <a:ext cx="564755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rgbClr val="261628"/>
                </a:solidFill>
                <a:latin typeface="Calibri"/>
                <a:ea typeface="Calibri"/>
                <a:cs typeface="Calibri"/>
                <a:sym typeface="Calibri"/>
              </a:rPr>
              <a:t>Collection Framework</a:t>
            </a:r>
            <a:endParaRPr/>
          </a:p>
        </p:txBody>
      </p:sp>
      <p:grpSp>
        <p:nvGrpSpPr>
          <p:cNvPr id="403" name="Google Shape;403;p13"/>
          <p:cNvGrpSpPr/>
          <p:nvPr/>
        </p:nvGrpSpPr>
        <p:grpSpPr>
          <a:xfrm>
            <a:off x="485505" y="4776597"/>
            <a:ext cx="2570156" cy="1560001"/>
            <a:chOff x="862157" y="4413681"/>
            <a:chExt cx="2570156" cy="1560001"/>
          </a:xfrm>
        </p:grpSpPr>
        <p:pic>
          <p:nvPicPr>
            <p:cNvPr id="404" name="Google Shape;404;p13"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405" name="Google Shape;405;p13"/>
            <p:cNvSpPr/>
            <p:nvPr/>
          </p:nvSpPr>
          <p:spPr>
            <a:xfrm>
              <a:off x="862157" y="4413681"/>
              <a:ext cx="2570156" cy="372346"/>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1">
                  <a:solidFill>
                    <a:schemeClr val="lt1"/>
                  </a:solidFill>
                  <a:latin typeface="Roboto"/>
                  <a:ea typeface="Roboto"/>
                  <a:cs typeface="Roboto"/>
                  <a:sym typeface="Roboto"/>
                </a:rPr>
                <a:t>Collection Framework</a:t>
              </a:r>
              <a:endParaRPr/>
            </a:p>
          </p:txBody>
        </p:sp>
      </p:gr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pic>
        <p:nvPicPr>
          <p:cNvPr id="410" name="Google Shape;410;p14"/>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411" name="Google Shape;411;p14"/>
          <p:cNvGrpSpPr/>
          <p:nvPr/>
        </p:nvGrpSpPr>
        <p:grpSpPr>
          <a:xfrm>
            <a:off x="118191" y="106018"/>
            <a:ext cx="1498574" cy="904328"/>
            <a:chOff x="862157" y="4413681"/>
            <a:chExt cx="2570156" cy="1560001"/>
          </a:xfrm>
        </p:grpSpPr>
        <p:pic>
          <p:nvPicPr>
            <p:cNvPr id="412" name="Google Shape;412;p14"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413" name="Google Shape;413;p14"/>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414" name="Google Shape;414;p14"/>
          <p:cNvSpPr/>
          <p:nvPr/>
        </p:nvSpPr>
        <p:spPr>
          <a:xfrm>
            <a:off x="5105959" y="562846"/>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Collection</a:t>
            </a:r>
            <a:endParaRPr/>
          </a:p>
        </p:txBody>
      </p:sp>
      <p:sp>
        <p:nvSpPr>
          <p:cNvPr id="415" name="Google Shape;415;p14"/>
          <p:cNvSpPr/>
          <p:nvPr/>
        </p:nvSpPr>
        <p:spPr>
          <a:xfrm>
            <a:off x="5105961" y="2247892"/>
            <a:ext cx="1868557" cy="614578"/>
          </a:xfrm>
          <a:prstGeom prst="rect">
            <a:avLst/>
          </a:prstGeom>
          <a:solidFill>
            <a:schemeClr val="accent1">
              <a:alpha val="49803"/>
            </a:schemeClr>
          </a:solid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List (1.2)</a:t>
            </a:r>
            <a:endParaRPr/>
          </a:p>
        </p:txBody>
      </p:sp>
      <p:sp>
        <p:nvSpPr>
          <p:cNvPr id="416" name="Google Shape;416;p14"/>
          <p:cNvSpPr/>
          <p:nvPr/>
        </p:nvSpPr>
        <p:spPr>
          <a:xfrm>
            <a:off x="1536233" y="3434917"/>
            <a:ext cx="1124132" cy="490330"/>
          </a:xfrm>
          <a:prstGeom prst="rect">
            <a:avLst/>
          </a:prstGeom>
          <a:solidFill>
            <a:schemeClr val="accent1">
              <a:alpha val="49803"/>
            </a:schemeClr>
          </a:solid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ArrayList (1.2)</a:t>
            </a:r>
            <a:endParaRPr/>
          </a:p>
        </p:txBody>
      </p:sp>
      <p:sp>
        <p:nvSpPr>
          <p:cNvPr id="417" name="Google Shape;417;p14"/>
          <p:cNvSpPr/>
          <p:nvPr/>
        </p:nvSpPr>
        <p:spPr>
          <a:xfrm>
            <a:off x="5478172" y="3434917"/>
            <a:ext cx="1124133" cy="490330"/>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LinkedList(1.2)</a:t>
            </a:r>
            <a:endParaRPr/>
          </a:p>
        </p:txBody>
      </p:sp>
      <p:sp>
        <p:nvSpPr>
          <p:cNvPr id="418" name="Google Shape;418;p14"/>
          <p:cNvSpPr/>
          <p:nvPr/>
        </p:nvSpPr>
        <p:spPr>
          <a:xfrm>
            <a:off x="8636126" y="3537764"/>
            <a:ext cx="1124133" cy="490330"/>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Vector (1.0)</a:t>
            </a:r>
            <a:endParaRPr/>
          </a:p>
        </p:txBody>
      </p:sp>
      <p:sp>
        <p:nvSpPr>
          <p:cNvPr id="419" name="Google Shape;419;p14"/>
          <p:cNvSpPr/>
          <p:nvPr/>
        </p:nvSpPr>
        <p:spPr>
          <a:xfrm>
            <a:off x="8636127" y="5522375"/>
            <a:ext cx="1124133" cy="490330"/>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Stack (1.0)</a:t>
            </a:r>
            <a:endParaRPr/>
          </a:p>
        </p:txBody>
      </p:sp>
      <p:cxnSp>
        <p:nvCxnSpPr>
          <p:cNvPr id="420" name="Google Shape;420;p14"/>
          <p:cNvCxnSpPr>
            <a:stCxn id="419" idx="0"/>
            <a:endCxn id="418" idx="2"/>
          </p:cNvCxnSpPr>
          <p:nvPr/>
        </p:nvCxnSpPr>
        <p:spPr>
          <a:xfrm rot="10800000">
            <a:off x="9198194" y="4028075"/>
            <a:ext cx="0" cy="1494300"/>
          </a:xfrm>
          <a:prstGeom prst="straightConnector1">
            <a:avLst/>
          </a:prstGeom>
          <a:noFill/>
          <a:ln w="28575" cap="flat" cmpd="sng">
            <a:solidFill>
              <a:schemeClr val="dk1"/>
            </a:solidFill>
            <a:prstDash val="solid"/>
            <a:miter lim="800000"/>
            <a:headEnd type="none" w="sm" len="sm"/>
            <a:tailEnd type="triangle" w="med" len="med"/>
          </a:ln>
        </p:spPr>
      </p:cxnSp>
      <p:cxnSp>
        <p:nvCxnSpPr>
          <p:cNvPr id="421" name="Google Shape;421;p14"/>
          <p:cNvCxnSpPr>
            <a:stCxn id="416" idx="0"/>
            <a:endCxn id="415" idx="2"/>
          </p:cNvCxnSpPr>
          <p:nvPr/>
        </p:nvCxnSpPr>
        <p:spPr>
          <a:xfrm rot="10800000" flipH="1">
            <a:off x="2098299" y="2862517"/>
            <a:ext cx="3942000" cy="572400"/>
          </a:xfrm>
          <a:prstGeom prst="straightConnector1">
            <a:avLst/>
          </a:prstGeom>
          <a:noFill/>
          <a:ln w="28575" cap="flat" cmpd="sng">
            <a:solidFill>
              <a:schemeClr val="dk1"/>
            </a:solidFill>
            <a:prstDash val="dash"/>
            <a:miter lim="800000"/>
            <a:headEnd type="none" w="sm" len="sm"/>
            <a:tailEnd type="triangle" w="med" len="med"/>
          </a:ln>
        </p:spPr>
      </p:cxnSp>
      <p:cxnSp>
        <p:nvCxnSpPr>
          <p:cNvPr id="422" name="Google Shape;422;p14"/>
          <p:cNvCxnSpPr>
            <a:stCxn id="417" idx="0"/>
            <a:endCxn id="415" idx="2"/>
          </p:cNvCxnSpPr>
          <p:nvPr/>
        </p:nvCxnSpPr>
        <p:spPr>
          <a:xfrm rot="10800000">
            <a:off x="6040238" y="2862517"/>
            <a:ext cx="0" cy="572400"/>
          </a:xfrm>
          <a:prstGeom prst="straightConnector1">
            <a:avLst/>
          </a:prstGeom>
          <a:noFill/>
          <a:ln w="28575" cap="flat" cmpd="sng">
            <a:solidFill>
              <a:schemeClr val="dk1"/>
            </a:solidFill>
            <a:prstDash val="dash"/>
            <a:miter lim="800000"/>
            <a:headEnd type="none" w="sm" len="sm"/>
            <a:tailEnd type="triangle" w="med" len="med"/>
          </a:ln>
        </p:spPr>
      </p:cxnSp>
      <p:cxnSp>
        <p:nvCxnSpPr>
          <p:cNvPr id="423" name="Google Shape;423;p14"/>
          <p:cNvCxnSpPr>
            <a:stCxn id="418" idx="0"/>
            <a:endCxn id="415" idx="2"/>
          </p:cNvCxnSpPr>
          <p:nvPr/>
        </p:nvCxnSpPr>
        <p:spPr>
          <a:xfrm rot="10800000">
            <a:off x="6040092" y="2862464"/>
            <a:ext cx="3158100" cy="675300"/>
          </a:xfrm>
          <a:prstGeom prst="straightConnector1">
            <a:avLst/>
          </a:prstGeom>
          <a:noFill/>
          <a:ln w="28575" cap="flat" cmpd="sng">
            <a:solidFill>
              <a:schemeClr val="dk1"/>
            </a:solidFill>
            <a:prstDash val="dash"/>
            <a:miter lim="800000"/>
            <a:headEnd type="none" w="sm" len="sm"/>
            <a:tailEnd type="triangle" w="med" len="med"/>
          </a:ln>
        </p:spPr>
      </p:cxnSp>
      <p:cxnSp>
        <p:nvCxnSpPr>
          <p:cNvPr id="424" name="Google Shape;424;p14"/>
          <p:cNvCxnSpPr>
            <a:stCxn id="415" idx="0"/>
            <a:endCxn id="414" idx="2"/>
          </p:cNvCxnSpPr>
          <p:nvPr/>
        </p:nvCxnSpPr>
        <p:spPr>
          <a:xfrm rot="10800000">
            <a:off x="6040239" y="1106392"/>
            <a:ext cx="0" cy="1141500"/>
          </a:xfrm>
          <a:prstGeom prst="straightConnector1">
            <a:avLst/>
          </a:prstGeom>
          <a:noFill/>
          <a:ln w="28575" cap="flat" cmpd="sng">
            <a:solidFill>
              <a:schemeClr val="dk1"/>
            </a:solidFill>
            <a:prstDash val="solid"/>
            <a:miter lim="800000"/>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p15"/>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430" name="Google Shape;430;p15"/>
          <p:cNvGrpSpPr/>
          <p:nvPr/>
        </p:nvGrpSpPr>
        <p:grpSpPr>
          <a:xfrm>
            <a:off x="118191" y="106018"/>
            <a:ext cx="1498574" cy="904328"/>
            <a:chOff x="862157" y="4413681"/>
            <a:chExt cx="2570156" cy="1560001"/>
          </a:xfrm>
        </p:grpSpPr>
        <p:pic>
          <p:nvPicPr>
            <p:cNvPr id="431" name="Google Shape;431;p15"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432" name="Google Shape;432;p15"/>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433" name="Google Shape;433;p15"/>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Array List</a:t>
            </a:r>
            <a:endParaRPr/>
          </a:p>
        </p:txBody>
      </p:sp>
      <p:sp>
        <p:nvSpPr>
          <p:cNvPr id="434" name="Google Shape;434;p15"/>
          <p:cNvSpPr txBox="1"/>
          <p:nvPr/>
        </p:nvSpPr>
        <p:spPr>
          <a:xfrm>
            <a:off x="711096" y="1268813"/>
            <a:ext cx="11219674" cy="489364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ArrayList is not a legacy class. It is introduced in JDK 1.2.</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ArrayList can contain duplicate elements.</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ArrayList maintains insertion order.</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ArrayList is non synchronized.</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ArrayList allows random access because array works at the index basis.</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ArrayList internally uses a dynamic array (growable/resizable) to store the elements.</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Data is stored in the form of array.</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pic>
        <p:nvPicPr>
          <p:cNvPr id="439" name="Google Shape;439;p16"/>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440" name="Google Shape;440;p16"/>
          <p:cNvGrpSpPr/>
          <p:nvPr/>
        </p:nvGrpSpPr>
        <p:grpSpPr>
          <a:xfrm>
            <a:off x="118191" y="106018"/>
            <a:ext cx="1498574" cy="904328"/>
            <a:chOff x="862157" y="4413681"/>
            <a:chExt cx="2570156" cy="1560001"/>
          </a:xfrm>
        </p:grpSpPr>
        <p:pic>
          <p:nvPicPr>
            <p:cNvPr id="441" name="Google Shape;441;p16"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442" name="Google Shape;442;p16"/>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443" name="Google Shape;443;p16"/>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Array List</a:t>
            </a:r>
            <a:endParaRPr/>
          </a:p>
        </p:txBody>
      </p:sp>
      <p:sp>
        <p:nvSpPr>
          <p:cNvPr id="444" name="Google Shape;444;p16"/>
          <p:cNvSpPr txBox="1"/>
          <p:nvPr/>
        </p:nvSpPr>
        <p:spPr>
          <a:xfrm>
            <a:off x="711096" y="1268813"/>
            <a:ext cx="10844800" cy="489364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Initial Capacity and Incremental Capacity is applicable.</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If the total number of elements exceeds than its capacity, the incremental capacity of the ArrayList is ((Current Capacity * 3)/2) + 1</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Cannot control the growth. That is the incremental capacity is fixed.</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Involves shift operations. That is manipulation with ArrayList is slow because it internally uses an array.</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If any element is removed from the array, all the bits are shifted in memory.</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An ArrayList class can act as a list only because it implements List only.</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pic>
        <p:nvPicPr>
          <p:cNvPr id="449" name="Google Shape;449;p17"/>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450" name="Google Shape;450;p17"/>
          <p:cNvGrpSpPr/>
          <p:nvPr/>
        </p:nvGrpSpPr>
        <p:grpSpPr>
          <a:xfrm>
            <a:off x="118191" y="106018"/>
            <a:ext cx="1498574" cy="904328"/>
            <a:chOff x="862157" y="4413681"/>
            <a:chExt cx="2570156" cy="1560001"/>
          </a:xfrm>
        </p:grpSpPr>
        <p:pic>
          <p:nvPicPr>
            <p:cNvPr id="451" name="Google Shape;451;p17"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452" name="Google Shape;452;p17"/>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453" name="Google Shape;453;p17"/>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Array List</a:t>
            </a:r>
            <a:endParaRPr/>
          </a:p>
        </p:txBody>
      </p:sp>
      <p:sp>
        <p:nvSpPr>
          <p:cNvPr id="454" name="Google Shape;454;p17"/>
          <p:cNvSpPr txBox="1"/>
          <p:nvPr/>
        </p:nvSpPr>
        <p:spPr>
          <a:xfrm>
            <a:off x="711096" y="1268813"/>
            <a:ext cx="10844800" cy="415498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ArrayList is better for storing and accessing data.</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Consumes less memory.</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Memory is continuous.</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Has three overloaded constructors:</a:t>
            </a:r>
            <a:endParaRPr/>
          </a:p>
          <a:p>
            <a:pPr marL="285750" marR="0" lvl="0" indent="-13335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public ArrayList(int initialCapacity)</a:t>
            </a:r>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public ArrayList()</a:t>
            </a:r>
            <a:endParaRPr/>
          </a:p>
          <a:p>
            <a:pPr marL="285750" marR="0" lvl="0" indent="-28575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public ArrayList(Collection&lt;? extends E&gt; c)</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pic>
        <p:nvPicPr>
          <p:cNvPr id="459" name="Google Shape;459;p18"/>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460" name="Google Shape;460;p18"/>
          <p:cNvGrpSpPr/>
          <p:nvPr/>
        </p:nvGrpSpPr>
        <p:grpSpPr>
          <a:xfrm>
            <a:off x="118191" y="106018"/>
            <a:ext cx="1498574" cy="904328"/>
            <a:chOff x="862157" y="4413681"/>
            <a:chExt cx="2570156" cy="1560001"/>
          </a:xfrm>
        </p:grpSpPr>
        <p:pic>
          <p:nvPicPr>
            <p:cNvPr id="461" name="Google Shape;461;p18"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462" name="Google Shape;462;p18"/>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463" name="Google Shape;463;p18"/>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Array List</a:t>
            </a:r>
            <a:endParaRPr/>
          </a:p>
        </p:txBody>
      </p:sp>
      <p:graphicFrame>
        <p:nvGraphicFramePr>
          <p:cNvPr id="464" name="Google Shape;464;p18"/>
          <p:cNvGraphicFramePr/>
          <p:nvPr/>
        </p:nvGraphicFramePr>
        <p:xfrm>
          <a:off x="479501" y="1223272"/>
          <a:ext cx="3000000" cy="3000000"/>
        </p:xfrm>
        <a:graphic>
          <a:graphicData uri="http://schemas.openxmlformats.org/drawingml/2006/table">
            <a:tbl>
              <a:tblPr>
                <a:noFill/>
                <a:tableStyleId>{A564AED5-2C7A-4046-9A58-7D9B8091932A}</a:tableStyleId>
              </a:tblPr>
              <a:tblGrid>
                <a:gridCol w="5736975">
                  <a:extLst>
                    <a:ext uri="{9D8B030D-6E8A-4147-A177-3AD203B41FA5}">
                      <a16:colId xmlns:a16="http://schemas.microsoft.com/office/drawing/2014/main" val="20000"/>
                    </a:ext>
                  </a:extLst>
                </a:gridCol>
                <a:gridCol w="5736975">
                  <a:extLst>
                    <a:ext uri="{9D8B030D-6E8A-4147-A177-3AD203B41FA5}">
                      <a16:colId xmlns:a16="http://schemas.microsoft.com/office/drawing/2014/main" val="20001"/>
                    </a:ext>
                  </a:extLst>
                </a:gridCol>
              </a:tblGrid>
              <a:tr h="106000">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Method</a:t>
                      </a:r>
                      <a:endParaRPr/>
                    </a:p>
                  </a:txBody>
                  <a:tcPr marL="19325" marR="19325" marT="19325" marB="19325">
                    <a:lnL w="9525" cap="flat" cmpd="sng">
                      <a:solidFill>
                        <a:srgbClr val="D8FCEC"/>
                      </a:solidFill>
                      <a:prstDash val="solid"/>
                      <a:round/>
                      <a:headEnd type="none" w="sm" len="sm"/>
                      <a:tailEnd type="none" w="sm" len="sm"/>
                    </a:lnL>
                    <a:lnR w="9525" cap="flat" cmpd="sng">
                      <a:solidFill>
                        <a:srgbClr val="D8FCEC"/>
                      </a:solidFill>
                      <a:prstDash val="solid"/>
                      <a:round/>
                      <a:headEnd type="none" w="sm" len="sm"/>
                      <a:tailEnd type="none" w="sm" len="sm"/>
                    </a:lnR>
                    <a:lnT w="9525" cap="flat" cmpd="sng">
                      <a:solidFill>
                        <a:srgbClr val="D8FCEC"/>
                      </a:solidFill>
                      <a:prstDash val="solid"/>
                      <a:round/>
                      <a:headEnd type="none" w="sm" len="sm"/>
                      <a:tailEnd type="none" w="sm" len="sm"/>
                    </a:lnT>
                    <a:lnB w="9525" cap="flat" cmpd="sng">
                      <a:solidFill>
                        <a:srgbClr val="C7CCBE"/>
                      </a:solidFill>
                      <a:prstDash val="solid"/>
                      <a:round/>
                      <a:headEnd type="none" w="sm" len="sm"/>
                      <a:tailEnd type="none" w="sm" len="sm"/>
                    </a:lnB>
                    <a:solidFill>
                      <a:srgbClr val="FFC000"/>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Description</a:t>
                      </a:r>
                      <a:endParaRPr/>
                    </a:p>
                  </a:txBody>
                  <a:tcPr marL="19325" marR="19325" marT="19325" marB="19325">
                    <a:lnL w="9525" cap="flat" cmpd="sng">
                      <a:solidFill>
                        <a:srgbClr val="D8FCEC"/>
                      </a:solidFill>
                      <a:prstDash val="solid"/>
                      <a:round/>
                      <a:headEnd type="none" w="sm" len="sm"/>
                      <a:tailEnd type="none" w="sm" len="sm"/>
                    </a:lnL>
                    <a:lnR w="9525" cap="flat" cmpd="sng">
                      <a:solidFill>
                        <a:srgbClr val="D8FCEC"/>
                      </a:solidFill>
                      <a:prstDash val="solid"/>
                      <a:round/>
                      <a:headEnd type="none" w="sm" len="sm"/>
                      <a:tailEnd type="none" w="sm" len="sm"/>
                    </a:lnR>
                    <a:lnT w="9525" cap="flat" cmpd="sng">
                      <a:solidFill>
                        <a:srgbClr val="D8FCEC"/>
                      </a:solidFill>
                      <a:prstDash val="solid"/>
                      <a:round/>
                      <a:headEnd type="none" w="sm" len="sm"/>
                      <a:tailEnd type="none" w="sm" len="sm"/>
                    </a:lnT>
                    <a:lnB w="9525" cap="flat" cmpd="sng">
                      <a:solidFill>
                        <a:srgbClr val="C7CCBE"/>
                      </a:solidFill>
                      <a:prstDash val="solid"/>
                      <a:round/>
                      <a:headEnd type="none" w="sm" len="sm"/>
                      <a:tailEnd type="none" w="sm" len="sm"/>
                    </a:lnB>
                    <a:solidFill>
                      <a:srgbClr val="FFC000"/>
                    </a:solidFill>
                  </a:tcPr>
                </a:tc>
                <a:extLst>
                  <a:ext uri="{0D108BD9-81ED-4DB2-BD59-A6C34878D82A}">
                    <a16:rowId xmlns:a16="http://schemas.microsoft.com/office/drawing/2014/main" val="10000"/>
                  </a:ext>
                </a:extLst>
              </a:tr>
              <a:tr h="205600">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void add(int index, E element)</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insert the specified element at the specified position in a list.</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1"/>
                  </a:ext>
                </a:extLst>
              </a:tr>
              <a:tr h="147775">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boolean add(E e)</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append the specified element at the end of a list.</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tcPr>
                </a:tc>
                <a:extLst>
                  <a:ext uri="{0D108BD9-81ED-4DB2-BD59-A6C34878D82A}">
                    <a16:rowId xmlns:a16="http://schemas.microsoft.com/office/drawing/2014/main" val="10002"/>
                  </a:ext>
                </a:extLst>
              </a:tr>
              <a:tr h="379075">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boolean addAll(Collection&lt;? extends E&gt; c)</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append all of the elements in the specified collection to the end of this list, in the order that they are returned by the specified collection's iterator.</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3"/>
                  </a:ext>
                </a:extLst>
              </a:tr>
              <a:tr h="263425">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boolean addAll(int index, Collection&lt;? extends E&gt; c)</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append all the elements in the specified collection, starting at the specified position of the list.</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tcPr>
                </a:tc>
                <a:extLst>
                  <a:ext uri="{0D108BD9-81ED-4DB2-BD59-A6C34878D82A}">
                    <a16:rowId xmlns:a16="http://schemas.microsoft.com/office/drawing/2014/main" val="10004"/>
                  </a:ext>
                </a:extLst>
              </a:tr>
              <a:tr h="147775">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void clear()</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remove all of the elements from this list.</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5"/>
                  </a:ext>
                </a:extLst>
              </a:tr>
              <a:tr h="147775">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E get(int index)</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fetch the element from the particular position of the list.</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tcPr>
                </a:tc>
                <a:extLst>
                  <a:ext uri="{0D108BD9-81ED-4DB2-BD59-A6C34878D82A}">
                    <a16:rowId xmlns:a16="http://schemas.microsoft.com/office/drawing/2014/main" val="10006"/>
                  </a:ext>
                </a:extLst>
              </a:tr>
              <a:tr h="205600">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boolean isEmpty()</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returns true if the list is empty, otherwise false.</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pic>
        <p:nvPicPr>
          <p:cNvPr id="469" name="Google Shape;469;p19"/>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470" name="Google Shape;470;p19"/>
          <p:cNvGrpSpPr/>
          <p:nvPr/>
        </p:nvGrpSpPr>
        <p:grpSpPr>
          <a:xfrm>
            <a:off x="118191" y="106018"/>
            <a:ext cx="1498574" cy="904328"/>
            <a:chOff x="862157" y="4413681"/>
            <a:chExt cx="2570156" cy="1560001"/>
          </a:xfrm>
        </p:grpSpPr>
        <p:pic>
          <p:nvPicPr>
            <p:cNvPr id="471" name="Google Shape;471;p19"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472" name="Google Shape;472;p19"/>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473" name="Google Shape;473;p19"/>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Array List</a:t>
            </a:r>
            <a:endParaRPr/>
          </a:p>
        </p:txBody>
      </p:sp>
      <p:graphicFrame>
        <p:nvGraphicFramePr>
          <p:cNvPr id="474" name="Google Shape;474;p19"/>
          <p:cNvGraphicFramePr/>
          <p:nvPr/>
        </p:nvGraphicFramePr>
        <p:xfrm>
          <a:off x="251791" y="1010346"/>
          <a:ext cx="3000000" cy="3000000"/>
        </p:xfrm>
        <a:graphic>
          <a:graphicData uri="http://schemas.openxmlformats.org/drawingml/2006/table">
            <a:tbl>
              <a:tblPr>
                <a:noFill/>
                <a:tableStyleId>{A564AED5-2C7A-4046-9A58-7D9B8091932A}</a:tableStyleId>
              </a:tblPr>
              <a:tblGrid>
                <a:gridCol w="5970025">
                  <a:extLst>
                    <a:ext uri="{9D8B030D-6E8A-4147-A177-3AD203B41FA5}">
                      <a16:colId xmlns:a16="http://schemas.microsoft.com/office/drawing/2014/main" val="20000"/>
                    </a:ext>
                  </a:extLst>
                </a:gridCol>
                <a:gridCol w="5829600">
                  <a:extLst>
                    <a:ext uri="{9D8B030D-6E8A-4147-A177-3AD203B41FA5}">
                      <a16:colId xmlns:a16="http://schemas.microsoft.com/office/drawing/2014/main" val="20001"/>
                    </a:ext>
                  </a:extLst>
                </a:gridCol>
              </a:tblGrid>
              <a:tr h="263425">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Method</a:t>
                      </a:r>
                      <a:endParaRPr/>
                    </a:p>
                  </a:txBody>
                  <a:tcPr marL="19325" marR="19325" marT="19325" marB="1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C000"/>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Description</a:t>
                      </a:r>
                      <a:endParaRPr/>
                    </a:p>
                  </a:txBody>
                  <a:tcPr marL="19325" marR="19325" marT="19325" marB="1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C000"/>
                    </a:solidFill>
                  </a:tcPr>
                </a:tc>
                <a:extLst>
                  <a:ext uri="{0D108BD9-81ED-4DB2-BD59-A6C34878D82A}">
                    <a16:rowId xmlns:a16="http://schemas.microsoft.com/office/drawing/2014/main" val="10000"/>
                  </a:ext>
                </a:extLst>
              </a:tr>
              <a:tr h="205600">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Object[] toArray()</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return an array containing all of the elements in this list in the correct order.</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1"/>
                  </a:ext>
                </a:extLst>
              </a:tr>
              <a:tr h="205600">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boolean contains(Object o)</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returns true if the list contains the specified element</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47775">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int indexOf(Object o)</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return the index in this list of the first occurrence of the specified element, or -1 if the List does not contain this element.</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3"/>
                  </a:ext>
                </a:extLst>
              </a:tr>
              <a:tr h="205600">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E remove(int index)</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remove the element present at the specified position in the list.</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05600">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boolean remove(Object o)</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remove the first occurrence of the specified element.</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5"/>
                  </a:ext>
                </a:extLst>
              </a:tr>
              <a:tr h="147775">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boolean removeAll(Collection&lt;?&gt; c)</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remove all the elements from the list.</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05600">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protected void removeRange(int fromIndex, int toIndex)</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remove all the elements lies within the given range.</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7"/>
                  </a:ext>
                </a:extLst>
              </a:tr>
              <a:tr h="205600">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void replaceAll(UnaryOperator&lt;E&gt; operator)</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replace all the elements from the list with the specified element.</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tcPr>
                </a:tc>
                <a:extLst>
                  <a:ext uri="{0D108BD9-81ED-4DB2-BD59-A6C34878D82A}">
                    <a16:rowId xmlns:a16="http://schemas.microsoft.com/office/drawing/2014/main" val="10008"/>
                  </a:ext>
                </a:extLst>
              </a:tr>
              <a:tr h="205600">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void retainAll(Collection&lt;?&gt; c)</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retain all the elements in the list that are present in the specified collection.</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pic>
        <p:nvPicPr>
          <p:cNvPr id="479" name="Google Shape;479;p20"/>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480" name="Google Shape;480;p20"/>
          <p:cNvGrpSpPr/>
          <p:nvPr/>
        </p:nvGrpSpPr>
        <p:grpSpPr>
          <a:xfrm>
            <a:off x="118191" y="106018"/>
            <a:ext cx="1498574" cy="904328"/>
            <a:chOff x="862157" y="4413681"/>
            <a:chExt cx="2570156" cy="1560001"/>
          </a:xfrm>
        </p:grpSpPr>
        <p:pic>
          <p:nvPicPr>
            <p:cNvPr id="481" name="Google Shape;481;p20"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482" name="Google Shape;482;p20"/>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483" name="Google Shape;483;p20"/>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Array List</a:t>
            </a:r>
            <a:endParaRPr/>
          </a:p>
        </p:txBody>
      </p:sp>
      <p:graphicFrame>
        <p:nvGraphicFramePr>
          <p:cNvPr id="484" name="Google Shape;484;p20"/>
          <p:cNvGraphicFramePr/>
          <p:nvPr/>
        </p:nvGraphicFramePr>
        <p:xfrm>
          <a:off x="479500" y="1010346"/>
          <a:ext cx="3000000" cy="3000000"/>
        </p:xfrm>
        <a:graphic>
          <a:graphicData uri="http://schemas.openxmlformats.org/drawingml/2006/table">
            <a:tbl>
              <a:tblPr>
                <a:noFill/>
                <a:tableStyleId>{A564AED5-2C7A-4046-9A58-7D9B8091932A}</a:tableStyleId>
              </a:tblPr>
              <a:tblGrid>
                <a:gridCol w="5854800">
                  <a:extLst>
                    <a:ext uri="{9D8B030D-6E8A-4147-A177-3AD203B41FA5}">
                      <a16:colId xmlns:a16="http://schemas.microsoft.com/office/drawing/2014/main" val="20000"/>
                    </a:ext>
                  </a:extLst>
                </a:gridCol>
                <a:gridCol w="5717100">
                  <a:extLst>
                    <a:ext uri="{9D8B030D-6E8A-4147-A177-3AD203B41FA5}">
                      <a16:colId xmlns:a16="http://schemas.microsoft.com/office/drawing/2014/main" val="20001"/>
                    </a:ext>
                  </a:extLst>
                </a:gridCol>
              </a:tblGrid>
              <a:tr h="263425">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Method</a:t>
                      </a:r>
                      <a:endParaRPr/>
                    </a:p>
                  </a:txBody>
                  <a:tcPr marL="19325" marR="19325" marT="19325" marB="1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C000"/>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Description</a:t>
                      </a:r>
                      <a:endParaRPr/>
                    </a:p>
                  </a:txBody>
                  <a:tcPr marL="19325" marR="19325" marT="19325" marB="1932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C000"/>
                    </a:solidFill>
                  </a:tcPr>
                </a:tc>
                <a:extLst>
                  <a:ext uri="{0D108BD9-81ED-4DB2-BD59-A6C34878D82A}">
                    <a16:rowId xmlns:a16="http://schemas.microsoft.com/office/drawing/2014/main" val="10000"/>
                  </a:ext>
                </a:extLst>
              </a:tr>
              <a:tr h="205600">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E set(int index, E element)</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replace the specified element in the list, present at the specified position.</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1"/>
                  </a:ext>
                </a:extLst>
              </a:tr>
              <a:tr h="205600">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int size()</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b="1">
                          <a:solidFill>
                            <a:srgbClr val="000000"/>
                          </a:solidFill>
                          <a:latin typeface="Calibri"/>
                          <a:ea typeface="Calibri"/>
                          <a:cs typeface="Calibri"/>
                          <a:sym typeface="Calibri"/>
                        </a:rPr>
                        <a:t>It is used to return the number of elements present in the list.</a:t>
                      </a:r>
                      <a:endParaRPr/>
                    </a:p>
                  </a:txBody>
                  <a:tcPr marL="12875" marR="12875" marT="12875" marB="128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pic>
        <p:nvPicPr>
          <p:cNvPr id="489" name="Google Shape;489;p21"/>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490" name="Google Shape;490;p21"/>
          <p:cNvGrpSpPr/>
          <p:nvPr/>
        </p:nvGrpSpPr>
        <p:grpSpPr>
          <a:xfrm>
            <a:off x="118191" y="106018"/>
            <a:ext cx="1498574" cy="904328"/>
            <a:chOff x="862157" y="4413681"/>
            <a:chExt cx="2570156" cy="1560001"/>
          </a:xfrm>
        </p:grpSpPr>
        <p:pic>
          <p:nvPicPr>
            <p:cNvPr id="491" name="Google Shape;491;p21"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492" name="Google Shape;492;p21"/>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493" name="Google Shape;493;p21"/>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Array vs Array List</a:t>
            </a:r>
            <a:endParaRPr/>
          </a:p>
        </p:txBody>
      </p:sp>
      <p:graphicFrame>
        <p:nvGraphicFramePr>
          <p:cNvPr id="494" name="Google Shape;494;p21"/>
          <p:cNvGraphicFramePr/>
          <p:nvPr/>
        </p:nvGraphicFramePr>
        <p:xfrm>
          <a:off x="479501" y="1223272"/>
          <a:ext cx="3000000" cy="3000000"/>
        </p:xfrm>
        <a:graphic>
          <a:graphicData uri="http://schemas.openxmlformats.org/drawingml/2006/table">
            <a:tbl>
              <a:tblPr>
                <a:noFill/>
                <a:tableStyleId>{B9160D5A-F4D8-4355-9011-09AB1966FD5C}</a:tableStyleId>
              </a:tblPr>
              <a:tblGrid>
                <a:gridCol w="2109275">
                  <a:extLst>
                    <a:ext uri="{9D8B030D-6E8A-4147-A177-3AD203B41FA5}">
                      <a16:colId xmlns:a16="http://schemas.microsoft.com/office/drawing/2014/main" val="20000"/>
                    </a:ext>
                  </a:extLst>
                </a:gridCol>
                <a:gridCol w="4123925">
                  <a:extLst>
                    <a:ext uri="{9D8B030D-6E8A-4147-A177-3AD203B41FA5}">
                      <a16:colId xmlns:a16="http://schemas.microsoft.com/office/drawing/2014/main" val="20001"/>
                    </a:ext>
                  </a:extLst>
                </a:gridCol>
                <a:gridCol w="4861050">
                  <a:extLst>
                    <a:ext uri="{9D8B030D-6E8A-4147-A177-3AD203B41FA5}">
                      <a16:colId xmlns:a16="http://schemas.microsoft.com/office/drawing/2014/main" val="20002"/>
                    </a:ext>
                  </a:extLst>
                </a:gridCol>
              </a:tblGrid>
              <a:tr h="238125">
                <a:tc>
                  <a:txBody>
                    <a:bodyPr/>
                    <a:lstStyle/>
                    <a:p>
                      <a:pPr marL="0" marR="0" lvl="0" indent="0" algn="ctr" rtl="0">
                        <a:spcBef>
                          <a:spcPts val="0"/>
                        </a:spcBef>
                        <a:spcAft>
                          <a:spcPts val="0"/>
                        </a:spcAft>
                        <a:buNone/>
                      </a:pPr>
                      <a:r>
                        <a:rPr lang="en-US" sz="2000" b="1" u="none" strike="noStrike"/>
                        <a:t>Basis</a:t>
                      </a:r>
                      <a:endParaRPr sz="2000" b="1" i="0" u="none" strike="noStrike">
                        <a:solidFill>
                          <a:srgbClr val="555555"/>
                        </a:solidFill>
                        <a:latin typeface="Calibri"/>
                        <a:ea typeface="Calibri"/>
                        <a:cs typeface="Calibri"/>
                        <a:sym typeface="Calibri"/>
                      </a:endParaRPr>
                    </a:p>
                  </a:txBody>
                  <a:tcPr marL="9525" marR="9525" marT="47625" marB="47625" anchor="ctr">
                    <a:solidFill>
                      <a:srgbClr val="FFC000"/>
                    </a:solidFill>
                  </a:tcPr>
                </a:tc>
                <a:tc>
                  <a:txBody>
                    <a:bodyPr/>
                    <a:lstStyle/>
                    <a:p>
                      <a:pPr marL="0" marR="0" lvl="0" indent="0" algn="ctr" rtl="0">
                        <a:spcBef>
                          <a:spcPts val="0"/>
                        </a:spcBef>
                        <a:spcAft>
                          <a:spcPts val="0"/>
                        </a:spcAft>
                        <a:buNone/>
                      </a:pPr>
                      <a:r>
                        <a:rPr lang="en-US" sz="2000" b="1" u="none" strike="noStrike"/>
                        <a:t>Array</a:t>
                      </a:r>
                      <a:endParaRPr sz="2000" b="1" i="0" u="none" strike="noStrike">
                        <a:solidFill>
                          <a:srgbClr val="555555"/>
                        </a:solidFill>
                        <a:latin typeface="Calibri"/>
                        <a:ea typeface="Calibri"/>
                        <a:cs typeface="Calibri"/>
                        <a:sym typeface="Calibri"/>
                      </a:endParaRPr>
                    </a:p>
                  </a:txBody>
                  <a:tcPr marL="9525" marR="9525" marT="47625" marB="47625" anchor="ctr">
                    <a:solidFill>
                      <a:srgbClr val="FFC000"/>
                    </a:solidFill>
                  </a:tcPr>
                </a:tc>
                <a:tc>
                  <a:txBody>
                    <a:bodyPr/>
                    <a:lstStyle/>
                    <a:p>
                      <a:pPr marL="0" marR="0" lvl="0" indent="0" algn="ctr" rtl="0">
                        <a:spcBef>
                          <a:spcPts val="0"/>
                        </a:spcBef>
                        <a:spcAft>
                          <a:spcPts val="0"/>
                        </a:spcAft>
                        <a:buNone/>
                      </a:pPr>
                      <a:r>
                        <a:rPr lang="en-US" sz="2000" b="1" u="none" strike="noStrike"/>
                        <a:t>ArrayList   </a:t>
                      </a:r>
                      <a:endParaRPr sz="2000" b="1" i="0" u="none" strike="noStrike">
                        <a:solidFill>
                          <a:srgbClr val="555555"/>
                        </a:solidFill>
                        <a:latin typeface="Calibri"/>
                        <a:ea typeface="Calibri"/>
                        <a:cs typeface="Calibri"/>
                        <a:sym typeface="Calibri"/>
                      </a:endParaRPr>
                    </a:p>
                  </a:txBody>
                  <a:tcPr marL="9525" marR="9525" marT="47625" marB="47625" anchor="ctr">
                    <a:solidFill>
                      <a:srgbClr val="FFC000"/>
                    </a:solidFill>
                  </a:tcPr>
                </a:tc>
                <a:extLst>
                  <a:ext uri="{0D108BD9-81ED-4DB2-BD59-A6C34878D82A}">
                    <a16:rowId xmlns:a16="http://schemas.microsoft.com/office/drawing/2014/main" val="10000"/>
                  </a:ext>
                </a:extLst>
              </a:tr>
              <a:tr h="238125">
                <a:tc>
                  <a:txBody>
                    <a:bodyPr/>
                    <a:lstStyle/>
                    <a:p>
                      <a:pPr marL="0" marR="0" lvl="0" indent="0" algn="l" rtl="0">
                        <a:spcBef>
                          <a:spcPts val="0"/>
                        </a:spcBef>
                        <a:spcAft>
                          <a:spcPts val="0"/>
                        </a:spcAft>
                        <a:buNone/>
                      </a:pPr>
                      <a:r>
                        <a:rPr lang="en-US" sz="2000" b="1" u="none" strike="noStrike"/>
                        <a:t>Resizable</a:t>
                      </a:r>
                      <a:endParaRPr sz="2000" b="1" i="0" u="none" strike="noStrike">
                        <a:solidFill>
                          <a:srgbClr val="555555"/>
                        </a:solidFill>
                        <a:latin typeface="Calibri"/>
                        <a:ea typeface="Calibri"/>
                        <a:cs typeface="Calibri"/>
                        <a:sym typeface="Calibri"/>
                      </a:endParaRPr>
                    </a:p>
                  </a:txBody>
                  <a:tcPr marL="9525" marR="9525" marT="47625" marB="47625" anchor="ctr">
                    <a:solidFill>
                      <a:srgbClr val="FBE4D4"/>
                    </a:solidFill>
                  </a:tcPr>
                </a:tc>
                <a:tc>
                  <a:txBody>
                    <a:bodyPr/>
                    <a:lstStyle/>
                    <a:p>
                      <a:pPr marL="0" marR="0" lvl="0" indent="0" algn="l" rtl="0">
                        <a:spcBef>
                          <a:spcPts val="0"/>
                        </a:spcBef>
                        <a:spcAft>
                          <a:spcPts val="0"/>
                        </a:spcAft>
                        <a:buNone/>
                      </a:pPr>
                      <a:r>
                        <a:rPr lang="en-US" sz="2000" b="1" u="none" strike="noStrike"/>
                        <a:t>Fixed in size</a:t>
                      </a:r>
                      <a:endParaRPr sz="2000" b="1" i="0" u="none" strike="noStrike">
                        <a:solidFill>
                          <a:srgbClr val="555555"/>
                        </a:solidFill>
                        <a:latin typeface="Calibri"/>
                        <a:ea typeface="Calibri"/>
                        <a:cs typeface="Calibri"/>
                        <a:sym typeface="Calibri"/>
                      </a:endParaRPr>
                    </a:p>
                  </a:txBody>
                  <a:tcPr marL="9525" marR="9525" marT="47625" marB="47625" anchor="ctr">
                    <a:solidFill>
                      <a:srgbClr val="FBE4D4"/>
                    </a:solidFill>
                  </a:tcPr>
                </a:tc>
                <a:tc>
                  <a:txBody>
                    <a:bodyPr/>
                    <a:lstStyle/>
                    <a:p>
                      <a:pPr marL="0" marR="0" lvl="0" indent="0" algn="l" rtl="0">
                        <a:spcBef>
                          <a:spcPts val="0"/>
                        </a:spcBef>
                        <a:spcAft>
                          <a:spcPts val="0"/>
                        </a:spcAft>
                        <a:buNone/>
                      </a:pPr>
                      <a:r>
                        <a:rPr lang="en-US" sz="2000" b="1" u="none" strike="noStrike"/>
                        <a:t>Resizable</a:t>
                      </a:r>
                      <a:endParaRPr sz="2000" b="1" i="0" u="none" strike="noStrike">
                        <a:solidFill>
                          <a:srgbClr val="555555"/>
                        </a:solidFill>
                        <a:latin typeface="Calibri"/>
                        <a:ea typeface="Calibri"/>
                        <a:cs typeface="Calibri"/>
                        <a:sym typeface="Calibri"/>
                      </a:endParaRPr>
                    </a:p>
                  </a:txBody>
                  <a:tcPr marL="9525" marR="9525" marT="47625" marB="47625" anchor="ctr">
                    <a:solidFill>
                      <a:srgbClr val="FBE4D4"/>
                    </a:solidFill>
                  </a:tcPr>
                </a:tc>
                <a:extLst>
                  <a:ext uri="{0D108BD9-81ED-4DB2-BD59-A6C34878D82A}">
                    <a16:rowId xmlns:a16="http://schemas.microsoft.com/office/drawing/2014/main" val="10001"/>
                  </a:ext>
                </a:extLst>
              </a:tr>
              <a:tr h="238125">
                <a:tc>
                  <a:txBody>
                    <a:bodyPr/>
                    <a:lstStyle/>
                    <a:p>
                      <a:pPr marL="0" marR="0" lvl="0" indent="0" algn="l" rtl="0">
                        <a:spcBef>
                          <a:spcPts val="0"/>
                        </a:spcBef>
                        <a:spcAft>
                          <a:spcPts val="0"/>
                        </a:spcAft>
                        <a:buNone/>
                      </a:pPr>
                      <a:r>
                        <a:rPr lang="en-US" sz="2000" b="1" u="none" strike="noStrike"/>
                        <a:t>Performance</a:t>
                      </a:r>
                      <a:endParaRPr sz="2000" b="1" i="0" u="none" strike="noStrike">
                        <a:solidFill>
                          <a:srgbClr val="555555"/>
                        </a:solidFill>
                        <a:latin typeface="Calibri"/>
                        <a:ea typeface="Calibri"/>
                        <a:cs typeface="Calibri"/>
                        <a:sym typeface="Calibri"/>
                      </a:endParaRPr>
                    </a:p>
                  </a:txBody>
                  <a:tcPr marL="9525" marR="9525" marT="47625" marB="47625" anchor="ctr"/>
                </a:tc>
                <a:tc>
                  <a:txBody>
                    <a:bodyPr/>
                    <a:lstStyle/>
                    <a:p>
                      <a:pPr marL="0" marR="0" lvl="0" indent="0" algn="l" rtl="0">
                        <a:spcBef>
                          <a:spcPts val="0"/>
                        </a:spcBef>
                        <a:spcAft>
                          <a:spcPts val="0"/>
                        </a:spcAft>
                        <a:buNone/>
                      </a:pPr>
                      <a:r>
                        <a:rPr lang="en-US" sz="2000" b="1" u="none" strike="noStrike"/>
                        <a:t>Fast</a:t>
                      </a:r>
                      <a:endParaRPr sz="2000" b="1" i="0" u="none" strike="noStrike">
                        <a:solidFill>
                          <a:srgbClr val="555555"/>
                        </a:solidFill>
                        <a:latin typeface="Calibri"/>
                        <a:ea typeface="Calibri"/>
                        <a:cs typeface="Calibri"/>
                        <a:sym typeface="Calibri"/>
                      </a:endParaRPr>
                    </a:p>
                  </a:txBody>
                  <a:tcPr marL="9525" marR="9525" marT="47625" marB="47625" anchor="ctr"/>
                </a:tc>
                <a:tc>
                  <a:txBody>
                    <a:bodyPr/>
                    <a:lstStyle/>
                    <a:p>
                      <a:pPr marL="0" marR="0" lvl="0" indent="0" algn="l" rtl="0">
                        <a:spcBef>
                          <a:spcPts val="0"/>
                        </a:spcBef>
                        <a:spcAft>
                          <a:spcPts val="0"/>
                        </a:spcAft>
                        <a:buNone/>
                      </a:pPr>
                      <a:r>
                        <a:rPr lang="en-US" sz="2000" b="1" u="none" strike="noStrike"/>
                        <a:t>Slow</a:t>
                      </a:r>
                      <a:endParaRPr sz="2000" b="1" i="0" u="none" strike="noStrike">
                        <a:solidFill>
                          <a:srgbClr val="555555"/>
                        </a:solidFill>
                        <a:latin typeface="Calibri"/>
                        <a:ea typeface="Calibri"/>
                        <a:cs typeface="Calibri"/>
                        <a:sym typeface="Calibri"/>
                      </a:endParaRPr>
                    </a:p>
                  </a:txBody>
                  <a:tcPr marL="9525" marR="9525" marT="47625" marB="47625" anchor="ctr"/>
                </a:tc>
                <a:extLst>
                  <a:ext uri="{0D108BD9-81ED-4DB2-BD59-A6C34878D82A}">
                    <a16:rowId xmlns:a16="http://schemas.microsoft.com/office/drawing/2014/main" val="10002"/>
                  </a:ext>
                </a:extLst>
              </a:tr>
              <a:tr h="238125">
                <a:tc>
                  <a:txBody>
                    <a:bodyPr/>
                    <a:lstStyle/>
                    <a:p>
                      <a:pPr marL="0" marR="0" lvl="0" indent="0" algn="l" rtl="0">
                        <a:spcBef>
                          <a:spcPts val="0"/>
                        </a:spcBef>
                        <a:spcAft>
                          <a:spcPts val="0"/>
                        </a:spcAft>
                        <a:buNone/>
                      </a:pPr>
                      <a:r>
                        <a:rPr lang="en-US" sz="2000" b="1" u="none" strike="noStrike"/>
                        <a:t>Primitives</a:t>
                      </a:r>
                      <a:endParaRPr sz="2000" b="1" i="0" u="none" strike="noStrike">
                        <a:solidFill>
                          <a:srgbClr val="555555"/>
                        </a:solidFill>
                        <a:latin typeface="Calibri"/>
                        <a:ea typeface="Calibri"/>
                        <a:cs typeface="Calibri"/>
                        <a:sym typeface="Calibri"/>
                      </a:endParaRPr>
                    </a:p>
                  </a:txBody>
                  <a:tcPr marL="9525" marR="9525" marT="47625" marB="47625" anchor="ctr">
                    <a:solidFill>
                      <a:srgbClr val="FBE4D4"/>
                    </a:solidFill>
                  </a:tcPr>
                </a:tc>
                <a:tc>
                  <a:txBody>
                    <a:bodyPr/>
                    <a:lstStyle/>
                    <a:p>
                      <a:pPr marL="0" marR="0" lvl="0" indent="0" algn="l" rtl="0">
                        <a:spcBef>
                          <a:spcPts val="0"/>
                        </a:spcBef>
                        <a:spcAft>
                          <a:spcPts val="0"/>
                        </a:spcAft>
                        <a:buNone/>
                      </a:pPr>
                      <a:r>
                        <a:rPr lang="en-US" sz="2000" b="1" u="none" strike="noStrike"/>
                        <a:t>Possible to store primitive data types</a:t>
                      </a:r>
                      <a:endParaRPr sz="2000" b="1" i="0" u="none" strike="noStrike">
                        <a:solidFill>
                          <a:srgbClr val="555555"/>
                        </a:solidFill>
                        <a:latin typeface="Calibri"/>
                        <a:ea typeface="Calibri"/>
                        <a:cs typeface="Calibri"/>
                        <a:sym typeface="Calibri"/>
                      </a:endParaRPr>
                    </a:p>
                  </a:txBody>
                  <a:tcPr marL="9525" marR="9525" marT="47625" marB="47625" anchor="ctr">
                    <a:solidFill>
                      <a:srgbClr val="FBE4D4"/>
                    </a:solidFill>
                  </a:tcPr>
                </a:tc>
                <a:tc>
                  <a:txBody>
                    <a:bodyPr/>
                    <a:lstStyle/>
                    <a:p>
                      <a:pPr marL="0" marR="0" lvl="0" indent="0" algn="l" rtl="0">
                        <a:spcBef>
                          <a:spcPts val="0"/>
                        </a:spcBef>
                        <a:spcAft>
                          <a:spcPts val="0"/>
                        </a:spcAft>
                        <a:buNone/>
                      </a:pPr>
                      <a:r>
                        <a:rPr lang="en-US" sz="2000" b="1" u="none" strike="noStrike"/>
                        <a:t>Not possible to store primitive data types</a:t>
                      </a:r>
                      <a:endParaRPr sz="2000" b="1" i="0" u="none" strike="noStrike">
                        <a:solidFill>
                          <a:srgbClr val="555555"/>
                        </a:solidFill>
                        <a:latin typeface="Calibri"/>
                        <a:ea typeface="Calibri"/>
                        <a:cs typeface="Calibri"/>
                        <a:sym typeface="Calibri"/>
                      </a:endParaRPr>
                    </a:p>
                  </a:txBody>
                  <a:tcPr marL="9525" marR="9525" marT="47625" marB="47625" anchor="ctr">
                    <a:solidFill>
                      <a:srgbClr val="FBE4D4"/>
                    </a:solidFill>
                  </a:tcPr>
                </a:tc>
                <a:extLst>
                  <a:ext uri="{0D108BD9-81ED-4DB2-BD59-A6C34878D82A}">
                    <a16:rowId xmlns:a16="http://schemas.microsoft.com/office/drawing/2014/main" val="10003"/>
                  </a:ext>
                </a:extLst>
              </a:tr>
              <a:tr h="476250">
                <a:tc>
                  <a:txBody>
                    <a:bodyPr/>
                    <a:lstStyle/>
                    <a:p>
                      <a:pPr marL="0" marR="0" lvl="0" indent="0" algn="l" rtl="0">
                        <a:spcBef>
                          <a:spcPts val="0"/>
                        </a:spcBef>
                        <a:spcAft>
                          <a:spcPts val="0"/>
                        </a:spcAft>
                        <a:buNone/>
                      </a:pPr>
                      <a:r>
                        <a:rPr lang="en-US" sz="2000" b="1" u="none" strike="noStrike"/>
                        <a:t>Iterating the values</a:t>
                      </a:r>
                      <a:endParaRPr sz="2000" b="1" i="0" u="none" strike="noStrike">
                        <a:solidFill>
                          <a:srgbClr val="555555"/>
                        </a:solidFill>
                        <a:latin typeface="Calibri"/>
                        <a:ea typeface="Calibri"/>
                        <a:cs typeface="Calibri"/>
                        <a:sym typeface="Calibri"/>
                      </a:endParaRPr>
                    </a:p>
                  </a:txBody>
                  <a:tcPr marL="9525" marR="9525" marT="47625" marB="47625" anchor="ctr"/>
                </a:tc>
                <a:tc>
                  <a:txBody>
                    <a:bodyPr/>
                    <a:lstStyle/>
                    <a:p>
                      <a:pPr marL="0" marR="0" lvl="0" indent="0" algn="l" rtl="0">
                        <a:spcBef>
                          <a:spcPts val="0"/>
                        </a:spcBef>
                        <a:spcAft>
                          <a:spcPts val="0"/>
                        </a:spcAft>
                        <a:buNone/>
                      </a:pPr>
                      <a:r>
                        <a:rPr lang="en-US" sz="2000" b="1" u="none" strike="noStrike"/>
                        <a:t>Can use for loop, for each loop</a:t>
                      </a:r>
                      <a:endParaRPr sz="2000" b="1" i="0" u="none" strike="noStrike">
                        <a:solidFill>
                          <a:srgbClr val="555555"/>
                        </a:solidFill>
                        <a:latin typeface="Calibri"/>
                        <a:ea typeface="Calibri"/>
                        <a:cs typeface="Calibri"/>
                        <a:sym typeface="Calibri"/>
                      </a:endParaRPr>
                    </a:p>
                  </a:txBody>
                  <a:tcPr marL="9525" marR="9525" marT="47625" marB="47625" anchor="ctr"/>
                </a:tc>
                <a:tc>
                  <a:txBody>
                    <a:bodyPr/>
                    <a:lstStyle/>
                    <a:p>
                      <a:pPr marL="0" marR="0" lvl="0" indent="0" algn="l" rtl="0">
                        <a:spcBef>
                          <a:spcPts val="0"/>
                        </a:spcBef>
                        <a:spcAft>
                          <a:spcPts val="0"/>
                        </a:spcAft>
                        <a:buNone/>
                      </a:pPr>
                      <a:r>
                        <a:rPr lang="en-US" sz="2000" b="1" u="none" strike="noStrike"/>
                        <a:t>Can use iterator, for loop and for each loop</a:t>
                      </a:r>
                      <a:endParaRPr sz="2000" b="1" i="0" u="none" strike="noStrike">
                        <a:solidFill>
                          <a:srgbClr val="555555"/>
                        </a:solidFill>
                        <a:latin typeface="Calibri"/>
                        <a:ea typeface="Calibri"/>
                        <a:cs typeface="Calibri"/>
                        <a:sym typeface="Calibri"/>
                      </a:endParaRPr>
                    </a:p>
                  </a:txBody>
                  <a:tcPr marL="9525" marR="9525" marT="47625" marB="47625" anchor="ctr"/>
                </a:tc>
                <a:extLst>
                  <a:ext uri="{0D108BD9-81ED-4DB2-BD59-A6C34878D82A}">
                    <a16:rowId xmlns:a16="http://schemas.microsoft.com/office/drawing/2014/main" val="10004"/>
                  </a:ext>
                </a:extLst>
              </a:tr>
              <a:tr h="238125">
                <a:tc>
                  <a:txBody>
                    <a:bodyPr/>
                    <a:lstStyle/>
                    <a:p>
                      <a:pPr marL="0" marR="0" lvl="0" indent="0" algn="l" rtl="0">
                        <a:spcBef>
                          <a:spcPts val="0"/>
                        </a:spcBef>
                        <a:spcAft>
                          <a:spcPts val="0"/>
                        </a:spcAft>
                        <a:buNone/>
                      </a:pPr>
                      <a:r>
                        <a:rPr lang="en-US" sz="2000" b="1" u="none" strike="noStrike"/>
                        <a:t>Length</a:t>
                      </a:r>
                      <a:endParaRPr sz="2000" b="1" i="0" u="none" strike="noStrike">
                        <a:solidFill>
                          <a:srgbClr val="555555"/>
                        </a:solidFill>
                        <a:latin typeface="Calibri"/>
                        <a:ea typeface="Calibri"/>
                        <a:cs typeface="Calibri"/>
                        <a:sym typeface="Calibri"/>
                      </a:endParaRPr>
                    </a:p>
                  </a:txBody>
                  <a:tcPr marL="9525" marR="9525" marT="47625" marB="47625" anchor="ctr">
                    <a:solidFill>
                      <a:srgbClr val="FBE4D4"/>
                    </a:solidFill>
                  </a:tcPr>
                </a:tc>
                <a:tc>
                  <a:txBody>
                    <a:bodyPr/>
                    <a:lstStyle/>
                    <a:p>
                      <a:pPr marL="0" marR="0" lvl="0" indent="0" algn="l" rtl="0">
                        <a:spcBef>
                          <a:spcPts val="0"/>
                        </a:spcBef>
                        <a:spcAft>
                          <a:spcPts val="0"/>
                        </a:spcAft>
                        <a:buNone/>
                      </a:pPr>
                      <a:r>
                        <a:rPr lang="en-US" sz="2000" b="1" u="none" strike="noStrike"/>
                        <a:t>length variable provides the length of the array.</a:t>
                      </a:r>
                      <a:endParaRPr sz="2000" b="1" i="0" u="none" strike="noStrike">
                        <a:solidFill>
                          <a:srgbClr val="555555"/>
                        </a:solidFill>
                        <a:latin typeface="Calibri"/>
                        <a:ea typeface="Calibri"/>
                        <a:cs typeface="Calibri"/>
                        <a:sym typeface="Calibri"/>
                      </a:endParaRPr>
                    </a:p>
                  </a:txBody>
                  <a:tcPr marL="9525" marR="9525" marT="47625" marB="47625" anchor="ctr">
                    <a:solidFill>
                      <a:srgbClr val="FBE4D4"/>
                    </a:solidFill>
                  </a:tcPr>
                </a:tc>
                <a:tc>
                  <a:txBody>
                    <a:bodyPr/>
                    <a:lstStyle/>
                    <a:p>
                      <a:pPr marL="0" marR="0" lvl="0" indent="0" algn="l" rtl="0">
                        <a:spcBef>
                          <a:spcPts val="0"/>
                        </a:spcBef>
                        <a:spcAft>
                          <a:spcPts val="0"/>
                        </a:spcAft>
                        <a:buNone/>
                      </a:pPr>
                      <a:r>
                        <a:rPr lang="en-US" sz="2000" b="1" u="none" strike="noStrike"/>
                        <a:t>The size method provides the length of the ArrayList.</a:t>
                      </a:r>
                      <a:endParaRPr sz="2000" b="1" i="0" u="none" strike="noStrike">
                        <a:solidFill>
                          <a:srgbClr val="555555"/>
                        </a:solidFill>
                        <a:latin typeface="Calibri"/>
                        <a:ea typeface="Calibri"/>
                        <a:cs typeface="Calibri"/>
                        <a:sym typeface="Calibri"/>
                      </a:endParaRPr>
                    </a:p>
                  </a:txBody>
                  <a:tcPr marL="9525" marR="9525" marT="47625" marB="47625" anchor="ctr">
                    <a:solidFill>
                      <a:srgbClr val="FBE4D4"/>
                    </a:solidFill>
                  </a:tcPr>
                </a:tc>
                <a:extLst>
                  <a:ext uri="{0D108BD9-81ED-4DB2-BD59-A6C34878D82A}">
                    <a16:rowId xmlns:a16="http://schemas.microsoft.com/office/drawing/2014/main" val="10005"/>
                  </a:ext>
                </a:extLst>
              </a:tr>
              <a:tr h="476250">
                <a:tc>
                  <a:txBody>
                    <a:bodyPr/>
                    <a:lstStyle/>
                    <a:p>
                      <a:pPr marL="0" marR="0" lvl="0" indent="0" algn="l" rtl="0">
                        <a:spcBef>
                          <a:spcPts val="0"/>
                        </a:spcBef>
                        <a:spcAft>
                          <a:spcPts val="0"/>
                        </a:spcAft>
                        <a:buNone/>
                      </a:pPr>
                      <a:r>
                        <a:rPr lang="en-US" sz="2000" b="1" u="none" strike="noStrike"/>
                        <a:t>Adding elements</a:t>
                      </a:r>
                      <a:endParaRPr sz="2000" b="1" i="0" u="none" strike="noStrike">
                        <a:solidFill>
                          <a:srgbClr val="555555"/>
                        </a:solidFill>
                        <a:latin typeface="Calibri"/>
                        <a:ea typeface="Calibri"/>
                        <a:cs typeface="Calibri"/>
                        <a:sym typeface="Calibri"/>
                      </a:endParaRPr>
                    </a:p>
                  </a:txBody>
                  <a:tcPr marL="9525" marR="9525" marT="47625" marB="47625" anchor="ctr"/>
                </a:tc>
                <a:tc>
                  <a:txBody>
                    <a:bodyPr/>
                    <a:lstStyle/>
                    <a:p>
                      <a:pPr marL="0" marR="0" lvl="0" indent="0" algn="l" rtl="0">
                        <a:spcBef>
                          <a:spcPts val="0"/>
                        </a:spcBef>
                        <a:spcAft>
                          <a:spcPts val="0"/>
                        </a:spcAft>
                        <a:buNone/>
                      </a:pPr>
                      <a:r>
                        <a:rPr lang="en-US" sz="2000" b="1" u="none" strike="noStrike"/>
                        <a:t>The assignment operator is used in an array in order to add elements.</a:t>
                      </a:r>
                      <a:endParaRPr sz="2000" b="1" i="0" u="none" strike="noStrike">
                        <a:solidFill>
                          <a:srgbClr val="555555"/>
                        </a:solidFill>
                        <a:latin typeface="Calibri"/>
                        <a:ea typeface="Calibri"/>
                        <a:cs typeface="Calibri"/>
                        <a:sym typeface="Calibri"/>
                      </a:endParaRPr>
                    </a:p>
                  </a:txBody>
                  <a:tcPr marL="9525" marR="9525" marT="47625" marB="47625" anchor="ctr"/>
                </a:tc>
                <a:tc>
                  <a:txBody>
                    <a:bodyPr/>
                    <a:lstStyle/>
                    <a:p>
                      <a:pPr marL="0" marR="0" lvl="0" indent="0" algn="l" rtl="0">
                        <a:spcBef>
                          <a:spcPts val="0"/>
                        </a:spcBef>
                        <a:spcAft>
                          <a:spcPts val="0"/>
                        </a:spcAft>
                        <a:buNone/>
                      </a:pPr>
                      <a:r>
                        <a:rPr lang="en-US" sz="2000" b="1" u="none" strike="noStrike"/>
                        <a:t>The add method is used in an ArrayList object in order to add elements.</a:t>
                      </a:r>
                      <a:endParaRPr sz="2000" b="1" i="0" u="none" strike="noStrike">
                        <a:solidFill>
                          <a:srgbClr val="555555"/>
                        </a:solidFill>
                        <a:latin typeface="Calibri"/>
                        <a:ea typeface="Calibri"/>
                        <a:cs typeface="Calibri"/>
                        <a:sym typeface="Calibri"/>
                      </a:endParaRPr>
                    </a:p>
                  </a:txBody>
                  <a:tcPr marL="9525" marR="9525" marT="47625" marB="47625" anchor="ctr"/>
                </a:tc>
                <a:extLst>
                  <a:ext uri="{0D108BD9-81ED-4DB2-BD59-A6C34878D82A}">
                    <a16:rowId xmlns:a16="http://schemas.microsoft.com/office/drawing/2014/main" val="10006"/>
                  </a:ext>
                </a:extLst>
              </a:tr>
              <a:tr h="476250">
                <a:tc>
                  <a:txBody>
                    <a:bodyPr/>
                    <a:lstStyle/>
                    <a:p>
                      <a:pPr marL="0" marR="0" lvl="0" indent="0" algn="l" rtl="0">
                        <a:spcBef>
                          <a:spcPts val="0"/>
                        </a:spcBef>
                        <a:spcAft>
                          <a:spcPts val="0"/>
                        </a:spcAft>
                        <a:buNone/>
                      </a:pPr>
                      <a:r>
                        <a:rPr lang="en-US" sz="2000" b="1" u="none" strike="noStrike"/>
                        <a:t>Multi-dimensional</a:t>
                      </a:r>
                      <a:endParaRPr sz="2000" b="1" i="0" u="none" strike="noStrike">
                        <a:solidFill>
                          <a:srgbClr val="555555"/>
                        </a:solidFill>
                        <a:latin typeface="Calibri"/>
                        <a:ea typeface="Calibri"/>
                        <a:cs typeface="Calibri"/>
                        <a:sym typeface="Calibri"/>
                      </a:endParaRPr>
                    </a:p>
                  </a:txBody>
                  <a:tcPr marL="9525" marR="9525" marT="47625" marB="47625" anchor="ctr">
                    <a:solidFill>
                      <a:srgbClr val="FBE4D4"/>
                    </a:solidFill>
                  </a:tcPr>
                </a:tc>
                <a:tc>
                  <a:txBody>
                    <a:bodyPr/>
                    <a:lstStyle/>
                    <a:p>
                      <a:pPr marL="0" marR="0" lvl="0" indent="0" algn="l" rtl="0">
                        <a:spcBef>
                          <a:spcPts val="0"/>
                        </a:spcBef>
                        <a:spcAft>
                          <a:spcPts val="0"/>
                        </a:spcAft>
                        <a:buNone/>
                      </a:pPr>
                      <a:r>
                        <a:rPr lang="en-US" sz="2000" b="1" u="none" strike="noStrike"/>
                        <a:t>An array can be either a single dimensional array or a multidimensional array.</a:t>
                      </a:r>
                      <a:endParaRPr sz="2000" b="1" i="0" u="none" strike="noStrike">
                        <a:solidFill>
                          <a:srgbClr val="555555"/>
                        </a:solidFill>
                        <a:latin typeface="Calibri"/>
                        <a:ea typeface="Calibri"/>
                        <a:cs typeface="Calibri"/>
                        <a:sym typeface="Calibri"/>
                      </a:endParaRPr>
                    </a:p>
                  </a:txBody>
                  <a:tcPr marL="9525" marR="9525" marT="47625" marB="47625" anchor="ctr">
                    <a:solidFill>
                      <a:srgbClr val="FBE4D4"/>
                    </a:solidFill>
                  </a:tcPr>
                </a:tc>
                <a:tc>
                  <a:txBody>
                    <a:bodyPr/>
                    <a:lstStyle/>
                    <a:p>
                      <a:pPr marL="0" marR="0" lvl="0" indent="0" algn="l" rtl="0">
                        <a:spcBef>
                          <a:spcPts val="0"/>
                        </a:spcBef>
                        <a:spcAft>
                          <a:spcPts val="0"/>
                        </a:spcAft>
                        <a:buNone/>
                      </a:pPr>
                      <a:r>
                        <a:rPr lang="en-US" sz="2000" b="1" u="none" strike="noStrike"/>
                        <a:t>But an ArrayList is only single dimensional.</a:t>
                      </a:r>
                      <a:endParaRPr sz="2000" b="1" i="0" u="none" strike="noStrike">
                        <a:solidFill>
                          <a:srgbClr val="555555"/>
                        </a:solidFill>
                        <a:latin typeface="Calibri"/>
                        <a:ea typeface="Calibri"/>
                        <a:cs typeface="Calibri"/>
                        <a:sym typeface="Calibri"/>
                      </a:endParaRPr>
                    </a:p>
                  </a:txBody>
                  <a:tcPr marL="9525" marR="9525" marT="47625" marB="47625" anchor="ctr">
                    <a:solidFill>
                      <a:srgbClr val="FBE4D4"/>
                    </a:solid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pic>
        <p:nvPicPr>
          <p:cNvPr id="499" name="Google Shape;499;p22"/>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500" name="Google Shape;500;p22"/>
          <p:cNvGrpSpPr/>
          <p:nvPr/>
        </p:nvGrpSpPr>
        <p:grpSpPr>
          <a:xfrm>
            <a:off x="118191" y="106018"/>
            <a:ext cx="1498574" cy="904328"/>
            <a:chOff x="862157" y="4413681"/>
            <a:chExt cx="2570156" cy="1560001"/>
          </a:xfrm>
        </p:grpSpPr>
        <p:pic>
          <p:nvPicPr>
            <p:cNvPr id="501" name="Google Shape;501;p22"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502" name="Google Shape;502;p22"/>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503" name="Google Shape;503;p22"/>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Array List</a:t>
            </a:r>
            <a:endParaRPr/>
          </a:p>
        </p:txBody>
      </p:sp>
      <p:sp>
        <p:nvSpPr>
          <p:cNvPr id="504" name="Google Shape;504;p22"/>
          <p:cNvSpPr txBox="1"/>
          <p:nvPr/>
        </p:nvSpPr>
        <p:spPr>
          <a:xfrm>
            <a:off x="438533" y="2084363"/>
            <a:ext cx="11314934"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Write a java program that contains an Employee class with the following properties. eid (type is int), ename (type is String), Department (type is Department). </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Now create another class named Department which contains the properties did(type is int), dname(type is String) and designation (type is String). </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Now create another class named EmployeeApp which contains the main method.</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Now write code that prompts the user to enter the Employee details like id, name, and prompt Department details like department id, name and designation details in ArrayList&lt;Employee&gt; object. </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Enter at least 3 employees and department info print those details to the output.</a:t>
            </a:r>
            <a:endParaRPr/>
          </a:p>
        </p:txBody>
      </p:sp>
      <p:sp>
        <p:nvSpPr>
          <p:cNvPr id="505" name="Google Shape;505;p22"/>
          <p:cNvSpPr txBox="1"/>
          <p:nvPr/>
        </p:nvSpPr>
        <p:spPr>
          <a:xfrm>
            <a:off x="5299500" y="1061431"/>
            <a:ext cx="183095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1"/>
                </a:solidFill>
                <a:latin typeface="Calibri"/>
                <a:ea typeface="Calibri"/>
                <a:cs typeface="Calibri"/>
                <a:sym typeface="Calibri"/>
              </a:rPr>
              <a:t>Scenario</a:t>
            </a:r>
            <a:endParaRPr sz="36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23"/>
          <p:cNvSpPr/>
          <p:nvPr/>
        </p:nvSpPr>
        <p:spPr>
          <a:xfrm>
            <a:off x="1" y="0"/>
            <a:ext cx="3897442" cy="6858000"/>
          </a:xfrm>
          <a:prstGeom prst="rect">
            <a:avLst/>
          </a:pr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1" name="Google Shape;511;p23"/>
          <p:cNvSpPr txBox="1"/>
          <p:nvPr/>
        </p:nvSpPr>
        <p:spPr>
          <a:xfrm>
            <a:off x="1151292" y="237372"/>
            <a:ext cx="15948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Topics</a:t>
            </a:r>
            <a:endParaRPr/>
          </a:p>
        </p:txBody>
      </p:sp>
      <p:sp>
        <p:nvSpPr>
          <p:cNvPr id="512" name="Google Shape;512;p23"/>
          <p:cNvSpPr txBox="1"/>
          <p:nvPr/>
        </p:nvSpPr>
        <p:spPr>
          <a:xfrm>
            <a:off x="5989419" y="2721114"/>
            <a:ext cx="3213765"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61628"/>
                </a:solidFill>
                <a:latin typeface="Calibri"/>
                <a:ea typeface="Calibri"/>
                <a:cs typeface="Calibri"/>
                <a:sym typeface="Calibri"/>
              </a:rPr>
              <a:t>03	LinkedList</a:t>
            </a:r>
            <a:endParaRPr/>
          </a:p>
        </p:txBody>
      </p:sp>
      <p:pic>
        <p:nvPicPr>
          <p:cNvPr id="513" name="Google Shape;513;p23"/>
          <p:cNvPicPr preferRelativeResize="0"/>
          <p:nvPr/>
        </p:nvPicPr>
        <p:blipFill rotWithShape="1">
          <a:blip r:embed="rId3">
            <a:alphaModFix/>
          </a:blip>
          <a:srcRect l="25290" t="6287" r="23678" b="6958"/>
          <a:stretch/>
        </p:blipFill>
        <p:spPr>
          <a:xfrm>
            <a:off x="957407" y="1890227"/>
            <a:ext cx="1637034" cy="2782957"/>
          </a:xfrm>
          <a:prstGeom prst="rect">
            <a:avLst/>
          </a:prstGeom>
          <a:noFill/>
          <a:ln>
            <a:noFill/>
          </a:ln>
        </p:spPr>
      </p:pic>
      <p:sp>
        <p:nvSpPr>
          <p:cNvPr id="514" name="Google Shape;514;p23"/>
          <p:cNvSpPr txBox="1"/>
          <p:nvPr/>
        </p:nvSpPr>
        <p:spPr>
          <a:xfrm>
            <a:off x="4784035" y="0"/>
            <a:ext cx="564755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rgbClr val="261628"/>
                </a:solidFill>
                <a:latin typeface="Calibri"/>
                <a:ea typeface="Calibri"/>
                <a:cs typeface="Calibri"/>
                <a:sym typeface="Calibri"/>
              </a:rPr>
              <a:t>Collection Framework</a:t>
            </a:r>
            <a:endParaRPr/>
          </a:p>
        </p:txBody>
      </p:sp>
      <p:grpSp>
        <p:nvGrpSpPr>
          <p:cNvPr id="515" name="Google Shape;515;p23"/>
          <p:cNvGrpSpPr/>
          <p:nvPr/>
        </p:nvGrpSpPr>
        <p:grpSpPr>
          <a:xfrm>
            <a:off x="485505" y="4776597"/>
            <a:ext cx="2570156" cy="1560001"/>
            <a:chOff x="862157" y="4413681"/>
            <a:chExt cx="2570156" cy="1560001"/>
          </a:xfrm>
        </p:grpSpPr>
        <p:pic>
          <p:nvPicPr>
            <p:cNvPr id="516" name="Google Shape;516;p23"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517" name="Google Shape;517;p23"/>
            <p:cNvSpPr/>
            <p:nvPr/>
          </p:nvSpPr>
          <p:spPr>
            <a:xfrm>
              <a:off x="862157" y="4413681"/>
              <a:ext cx="2570156" cy="372346"/>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1">
                  <a:solidFill>
                    <a:schemeClr val="lt1"/>
                  </a:solidFill>
                  <a:latin typeface="Roboto"/>
                  <a:ea typeface="Roboto"/>
                  <a:cs typeface="Roboto"/>
                  <a:sym typeface="Roboto"/>
                </a:rPr>
                <a:t>Collection Framework</a:t>
              </a:r>
              <a:endParaRPr/>
            </a:p>
          </p:txBody>
        </p:sp>
      </p:gr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pic>
        <p:nvPicPr>
          <p:cNvPr id="522" name="Google Shape;522;p24"/>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523" name="Google Shape;523;p24"/>
          <p:cNvGrpSpPr/>
          <p:nvPr/>
        </p:nvGrpSpPr>
        <p:grpSpPr>
          <a:xfrm>
            <a:off x="118191" y="106018"/>
            <a:ext cx="1498574" cy="904328"/>
            <a:chOff x="862157" y="4413681"/>
            <a:chExt cx="2570156" cy="1560001"/>
          </a:xfrm>
        </p:grpSpPr>
        <p:pic>
          <p:nvPicPr>
            <p:cNvPr id="524" name="Google Shape;524;p24"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525" name="Google Shape;525;p24"/>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526" name="Google Shape;526;p24"/>
          <p:cNvSpPr/>
          <p:nvPr/>
        </p:nvSpPr>
        <p:spPr>
          <a:xfrm>
            <a:off x="5105959" y="562846"/>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Collection</a:t>
            </a:r>
            <a:endParaRPr/>
          </a:p>
        </p:txBody>
      </p:sp>
      <p:sp>
        <p:nvSpPr>
          <p:cNvPr id="527" name="Google Shape;527;p24"/>
          <p:cNvSpPr/>
          <p:nvPr/>
        </p:nvSpPr>
        <p:spPr>
          <a:xfrm>
            <a:off x="5105961" y="2247892"/>
            <a:ext cx="1868557" cy="614578"/>
          </a:xfrm>
          <a:prstGeom prst="rect">
            <a:avLst/>
          </a:prstGeom>
          <a:solidFill>
            <a:schemeClr val="accent1">
              <a:alpha val="49803"/>
            </a:schemeClr>
          </a:solid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List (1.2)</a:t>
            </a:r>
            <a:endParaRPr/>
          </a:p>
        </p:txBody>
      </p:sp>
      <p:sp>
        <p:nvSpPr>
          <p:cNvPr id="528" name="Google Shape;528;p24"/>
          <p:cNvSpPr/>
          <p:nvPr/>
        </p:nvSpPr>
        <p:spPr>
          <a:xfrm>
            <a:off x="1536233" y="3434917"/>
            <a:ext cx="1124132" cy="490330"/>
          </a:xfrm>
          <a:prstGeom prst="rect">
            <a:avLst/>
          </a:prstGeom>
          <a:solidFill>
            <a:schemeClr val="accent1">
              <a:alpha val="49803"/>
            </a:schemeClr>
          </a:solidFill>
          <a:ln w="38100" cap="flat" cmpd="sng">
            <a:solidFill>
              <a:srgbClr val="95A5A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ArrayList (1.2)</a:t>
            </a:r>
            <a:endParaRPr/>
          </a:p>
        </p:txBody>
      </p:sp>
      <p:sp>
        <p:nvSpPr>
          <p:cNvPr id="529" name="Google Shape;529;p24"/>
          <p:cNvSpPr/>
          <p:nvPr/>
        </p:nvSpPr>
        <p:spPr>
          <a:xfrm>
            <a:off x="5478172" y="3434917"/>
            <a:ext cx="1124133" cy="490330"/>
          </a:xfrm>
          <a:prstGeom prst="rect">
            <a:avLst/>
          </a:prstGeom>
          <a:solidFill>
            <a:schemeClr val="accent1">
              <a:alpha val="49803"/>
            </a:schemeClr>
          </a:solid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LinkedList(1.2)</a:t>
            </a:r>
            <a:endParaRPr/>
          </a:p>
        </p:txBody>
      </p:sp>
      <p:sp>
        <p:nvSpPr>
          <p:cNvPr id="530" name="Google Shape;530;p24"/>
          <p:cNvSpPr/>
          <p:nvPr/>
        </p:nvSpPr>
        <p:spPr>
          <a:xfrm>
            <a:off x="8636126" y="3537764"/>
            <a:ext cx="1124133" cy="490330"/>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Vector (1.0)</a:t>
            </a:r>
            <a:endParaRPr/>
          </a:p>
        </p:txBody>
      </p:sp>
      <p:sp>
        <p:nvSpPr>
          <p:cNvPr id="531" name="Google Shape;531;p24"/>
          <p:cNvSpPr/>
          <p:nvPr/>
        </p:nvSpPr>
        <p:spPr>
          <a:xfrm>
            <a:off x="8636127" y="5522375"/>
            <a:ext cx="1124133" cy="490330"/>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Stack (1.0)</a:t>
            </a:r>
            <a:endParaRPr/>
          </a:p>
        </p:txBody>
      </p:sp>
      <p:cxnSp>
        <p:nvCxnSpPr>
          <p:cNvPr id="532" name="Google Shape;532;p24"/>
          <p:cNvCxnSpPr>
            <a:stCxn id="531" idx="0"/>
            <a:endCxn id="530" idx="2"/>
          </p:cNvCxnSpPr>
          <p:nvPr/>
        </p:nvCxnSpPr>
        <p:spPr>
          <a:xfrm rot="10800000">
            <a:off x="9198194" y="4028075"/>
            <a:ext cx="0" cy="1494300"/>
          </a:xfrm>
          <a:prstGeom prst="straightConnector1">
            <a:avLst/>
          </a:prstGeom>
          <a:noFill/>
          <a:ln w="28575" cap="flat" cmpd="sng">
            <a:solidFill>
              <a:schemeClr val="dk1"/>
            </a:solidFill>
            <a:prstDash val="solid"/>
            <a:miter lim="800000"/>
            <a:headEnd type="none" w="sm" len="sm"/>
            <a:tailEnd type="triangle" w="med" len="med"/>
          </a:ln>
        </p:spPr>
      </p:cxnSp>
      <p:cxnSp>
        <p:nvCxnSpPr>
          <p:cNvPr id="533" name="Google Shape;533;p24"/>
          <p:cNvCxnSpPr>
            <a:stCxn id="528" idx="0"/>
            <a:endCxn id="527" idx="2"/>
          </p:cNvCxnSpPr>
          <p:nvPr/>
        </p:nvCxnSpPr>
        <p:spPr>
          <a:xfrm rot="10800000" flipH="1">
            <a:off x="2098299" y="2862517"/>
            <a:ext cx="3942000" cy="572400"/>
          </a:xfrm>
          <a:prstGeom prst="straightConnector1">
            <a:avLst/>
          </a:prstGeom>
          <a:noFill/>
          <a:ln w="28575" cap="flat" cmpd="sng">
            <a:solidFill>
              <a:schemeClr val="dk1"/>
            </a:solidFill>
            <a:prstDash val="dash"/>
            <a:miter lim="800000"/>
            <a:headEnd type="none" w="sm" len="sm"/>
            <a:tailEnd type="triangle" w="med" len="med"/>
          </a:ln>
        </p:spPr>
      </p:cxnSp>
      <p:cxnSp>
        <p:nvCxnSpPr>
          <p:cNvPr id="534" name="Google Shape;534;p24"/>
          <p:cNvCxnSpPr>
            <a:stCxn id="529" idx="0"/>
            <a:endCxn id="527" idx="2"/>
          </p:cNvCxnSpPr>
          <p:nvPr/>
        </p:nvCxnSpPr>
        <p:spPr>
          <a:xfrm rot="10800000">
            <a:off x="6040238" y="2862517"/>
            <a:ext cx="0" cy="572400"/>
          </a:xfrm>
          <a:prstGeom prst="straightConnector1">
            <a:avLst/>
          </a:prstGeom>
          <a:noFill/>
          <a:ln w="28575" cap="flat" cmpd="sng">
            <a:solidFill>
              <a:schemeClr val="dk1"/>
            </a:solidFill>
            <a:prstDash val="dash"/>
            <a:miter lim="800000"/>
            <a:headEnd type="none" w="sm" len="sm"/>
            <a:tailEnd type="triangle" w="med" len="med"/>
          </a:ln>
        </p:spPr>
      </p:cxnSp>
      <p:cxnSp>
        <p:nvCxnSpPr>
          <p:cNvPr id="535" name="Google Shape;535;p24"/>
          <p:cNvCxnSpPr>
            <a:stCxn id="530" idx="0"/>
            <a:endCxn id="527" idx="2"/>
          </p:cNvCxnSpPr>
          <p:nvPr/>
        </p:nvCxnSpPr>
        <p:spPr>
          <a:xfrm rot="10800000">
            <a:off x="6040092" y="2862464"/>
            <a:ext cx="3158100" cy="675300"/>
          </a:xfrm>
          <a:prstGeom prst="straightConnector1">
            <a:avLst/>
          </a:prstGeom>
          <a:noFill/>
          <a:ln w="28575" cap="flat" cmpd="sng">
            <a:solidFill>
              <a:schemeClr val="dk1"/>
            </a:solidFill>
            <a:prstDash val="dash"/>
            <a:miter lim="800000"/>
            <a:headEnd type="none" w="sm" len="sm"/>
            <a:tailEnd type="triangle" w="med" len="med"/>
          </a:ln>
        </p:spPr>
      </p:cxnSp>
      <p:cxnSp>
        <p:nvCxnSpPr>
          <p:cNvPr id="536" name="Google Shape;536;p24"/>
          <p:cNvCxnSpPr>
            <a:stCxn id="527" idx="0"/>
            <a:endCxn id="526" idx="2"/>
          </p:cNvCxnSpPr>
          <p:nvPr/>
        </p:nvCxnSpPr>
        <p:spPr>
          <a:xfrm rot="10800000">
            <a:off x="6040239" y="1106392"/>
            <a:ext cx="0" cy="1141500"/>
          </a:xfrm>
          <a:prstGeom prst="straightConnector1">
            <a:avLst/>
          </a:prstGeom>
          <a:noFill/>
          <a:ln w="28575" cap="flat" cmpd="sng">
            <a:solidFill>
              <a:schemeClr val="dk1"/>
            </a:solidFill>
            <a:prstDash val="solid"/>
            <a:miter lim="800000"/>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541" name="Google Shape;541;p25"/>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542" name="Google Shape;542;p25"/>
          <p:cNvGrpSpPr/>
          <p:nvPr/>
        </p:nvGrpSpPr>
        <p:grpSpPr>
          <a:xfrm>
            <a:off x="118191" y="106018"/>
            <a:ext cx="1498574" cy="904328"/>
            <a:chOff x="862157" y="4413681"/>
            <a:chExt cx="2570156" cy="1560001"/>
          </a:xfrm>
        </p:grpSpPr>
        <p:pic>
          <p:nvPicPr>
            <p:cNvPr id="543" name="Google Shape;543;p25"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544" name="Google Shape;544;p25"/>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545" name="Google Shape;545;p25"/>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Linked List</a:t>
            </a:r>
            <a:endParaRPr/>
          </a:p>
        </p:txBody>
      </p:sp>
      <p:sp>
        <p:nvSpPr>
          <p:cNvPr id="546" name="Google Shape;546;p25"/>
          <p:cNvSpPr/>
          <p:nvPr/>
        </p:nvSpPr>
        <p:spPr>
          <a:xfrm>
            <a:off x="3810773" y="2169612"/>
            <a:ext cx="7480079" cy="2677656"/>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000000"/>
              </a:buClr>
              <a:buSzPts val="2400"/>
              <a:buFont typeface="Noto Sans Symbols"/>
              <a:buChar char="▪"/>
            </a:pPr>
            <a:r>
              <a:rPr lang="en-US" sz="2400" b="1">
                <a:solidFill>
                  <a:srgbClr val="000000"/>
                </a:solidFill>
                <a:latin typeface="Calibri"/>
                <a:ea typeface="Calibri"/>
                <a:cs typeface="Calibri"/>
                <a:sym typeface="Calibri"/>
              </a:rPr>
              <a:t>LinkedList class uses a doubly linked list to store the elements. </a:t>
            </a:r>
            <a:endParaRPr/>
          </a:p>
          <a:p>
            <a:pPr marL="342900" marR="0" lvl="0" indent="-190500" algn="l" rtl="0">
              <a:spcBef>
                <a:spcPts val="0"/>
              </a:spcBef>
              <a:spcAft>
                <a:spcPts val="0"/>
              </a:spcAft>
              <a:buClr>
                <a:schemeClr val="dk1"/>
              </a:buClr>
              <a:buSzPts val="2400"/>
              <a:buFont typeface="Noto Sans Symbols"/>
              <a:buNone/>
            </a:pPr>
            <a:endParaRPr sz="2400" b="1">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b="1">
                <a:solidFill>
                  <a:srgbClr val="000000"/>
                </a:solidFill>
                <a:latin typeface="Calibri"/>
                <a:ea typeface="Calibri"/>
                <a:cs typeface="Calibri"/>
                <a:sym typeface="Calibri"/>
              </a:rPr>
              <a:t>It provides a linked-list data structure. </a:t>
            </a:r>
            <a:endParaRPr/>
          </a:p>
          <a:p>
            <a:pPr marL="342900" marR="0" lvl="0" indent="-190500" algn="l" rtl="0">
              <a:spcBef>
                <a:spcPts val="0"/>
              </a:spcBef>
              <a:spcAft>
                <a:spcPts val="0"/>
              </a:spcAft>
              <a:buClr>
                <a:schemeClr val="dk1"/>
              </a:buClr>
              <a:buSzPts val="2400"/>
              <a:buFont typeface="Noto Sans Symbols"/>
              <a:buNone/>
            </a:pPr>
            <a:endParaRPr sz="2400" b="1">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b="1">
                <a:solidFill>
                  <a:srgbClr val="000000"/>
                </a:solidFill>
                <a:latin typeface="Calibri"/>
                <a:ea typeface="Calibri"/>
                <a:cs typeface="Calibri"/>
                <a:sym typeface="Calibri"/>
              </a:rPr>
              <a:t>It inherits the AbstractList class and implements List and Deque (Deque - Double Ended Queue) interfaces.</a:t>
            </a:r>
            <a:endParaRPr sz="2400" b="1">
              <a:solidFill>
                <a:schemeClr val="dk1"/>
              </a:solidFill>
              <a:latin typeface="Calibri"/>
              <a:ea typeface="Calibri"/>
              <a:cs typeface="Calibri"/>
              <a:sym typeface="Calibri"/>
            </a:endParaRPr>
          </a:p>
        </p:txBody>
      </p:sp>
      <p:pic>
        <p:nvPicPr>
          <p:cNvPr id="547" name="Google Shape;547;p25" descr="Java LinkedList class hierarchy"/>
          <p:cNvPicPr preferRelativeResize="0"/>
          <p:nvPr/>
        </p:nvPicPr>
        <p:blipFill rotWithShape="1">
          <a:blip r:embed="rId5">
            <a:alphaModFix/>
          </a:blip>
          <a:srcRect/>
          <a:stretch/>
        </p:blipFill>
        <p:spPr>
          <a:xfrm>
            <a:off x="295219" y="1321775"/>
            <a:ext cx="3515554" cy="481398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pic>
        <p:nvPicPr>
          <p:cNvPr id="552" name="Google Shape;552;p26"/>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553" name="Google Shape;553;p26"/>
          <p:cNvGrpSpPr/>
          <p:nvPr/>
        </p:nvGrpSpPr>
        <p:grpSpPr>
          <a:xfrm>
            <a:off x="118191" y="106018"/>
            <a:ext cx="1498574" cy="904328"/>
            <a:chOff x="862157" y="4413681"/>
            <a:chExt cx="2570156" cy="1560001"/>
          </a:xfrm>
        </p:grpSpPr>
        <p:pic>
          <p:nvPicPr>
            <p:cNvPr id="554" name="Google Shape;554;p26"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555" name="Google Shape;555;p26"/>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556" name="Google Shape;556;p26"/>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Linked List</a:t>
            </a:r>
            <a:endParaRPr/>
          </a:p>
        </p:txBody>
      </p:sp>
      <p:sp>
        <p:nvSpPr>
          <p:cNvPr id="557" name="Google Shape;557;p26"/>
          <p:cNvSpPr/>
          <p:nvPr/>
        </p:nvSpPr>
        <p:spPr>
          <a:xfrm>
            <a:off x="1117548" y="1161833"/>
            <a:ext cx="9956903" cy="4893647"/>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000000"/>
              </a:buClr>
              <a:buSzPts val="2400"/>
              <a:buFont typeface="Noto Sans Symbols"/>
              <a:buChar char="▪"/>
            </a:pPr>
            <a:r>
              <a:rPr lang="en-US" sz="2400" b="1">
                <a:solidFill>
                  <a:srgbClr val="000000"/>
                </a:solidFill>
                <a:latin typeface="Calibri"/>
                <a:ea typeface="Calibri"/>
                <a:cs typeface="Calibri"/>
                <a:sym typeface="Calibri"/>
              </a:rPr>
              <a:t>LinkedList can contain duplicate elements.</a:t>
            </a:r>
            <a:endParaRPr/>
          </a:p>
          <a:p>
            <a:pPr marL="342900" marR="0" lvl="0" indent="-190500" algn="l" rtl="0">
              <a:spcBef>
                <a:spcPts val="0"/>
              </a:spcBef>
              <a:spcAft>
                <a:spcPts val="0"/>
              </a:spcAft>
              <a:buClr>
                <a:schemeClr val="dk1"/>
              </a:buClr>
              <a:buSzPts val="2400"/>
              <a:buFont typeface="Noto Sans Symbols"/>
              <a:buNone/>
            </a:pPr>
            <a:endParaRPr sz="2400" b="1">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b="1">
                <a:solidFill>
                  <a:srgbClr val="000000"/>
                </a:solidFill>
                <a:latin typeface="Calibri"/>
                <a:ea typeface="Calibri"/>
                <a:cs typeface="Calibri"/>
                <a:sym typeface="Calibri"/>
              </a:rPr>
              <a:t>LinkedList maintains insertion order.</a:t>
            </a:r>
            <a:endParaRPr/>
          </a:p>
          <a:p>
            <a:pPr marL="342900" marR="0" lvl="0" indent="-190500" algn="l" rtl="0">
              <a:spcBef>
                <a:spcPts val="0"/>
              </a:spcBef>
              <a:spcAft>
                <a:spcPts val="0"/>
              </a:spcAft>
              <a:buClr>
                <a:schemeClr val="dk1"/>
              </a:buClr>
              <a:buSzPts val="2400"/>
              <a:buFont typeface="Noto Sans Symbols"/>
              <a:buNone/>
            </a:pPr>
            <a:endParaRPr sz="2400" b="1">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b="1">
                <a:solidFill>
                  <a:srgbClr val="000000"/>
                </a:solidFill>
                <a:latin typeface="Calibri"/>
                <a:ea typeface="Calibri"/>
                <a:cs typeface="Calibri"/>
                <a:sym typeface="Calibri"/>
              </a:rPr>
              <a:t>LinkedList is non synchronized.</a:t>
            </a:r>
            <a:endParaRPr/>
          </a:p>
          <a:p>
            <a:pPr marL="342900" marR="0" lvl="0" indent="-190500" algn="l" rtl="0">
              <a:spcBef>
                <a:spcPts val="0"/>
              </a:spcBef>
              <a:spcAft>
                <a:spcPts val="0"/>
              </a:spcAft>
              <a:buClr>
                <a:schemeClr val="dk1"/>
              </a:buClr>
              <a:buSzPts val="2400"/>
              <a:buFont typeface="Noto Sans Symbols"/>
              <a:buNone/>
            </a:pPr>
            <a:endParaRPr sz="2400" b="1">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b="1">
                <a:solidFill>
                  <a:srgbClr val="000000"/>
                </a:solidFill>
                <a:latin typeface="Calibri"/>
                <a:ea typeface="Calibri"/>
                <a:cs typeface="Calibri"/>
                <a:sym typeface="Calibri"/>
              </a:rPr>
              <a:t>In LinkedList, manipulation is fast because no shifting needs to occur.</a:t>
            </a:r>
            <a:endParaRPr/>
          </a:p>
          <a:p>
            <a:pPr marL="342900" marR="0" lvl="0" indent="-190500" algn="l" rtl="0">
              <a:spcBef>
                <a:spcPts val="0"/>
              </a:spcBef>
              <a:spcAft>
                <a:spcPts val="0"/>
              </a:spcAft>
              <a:buClr>
                <a:schemeClr val="dk1"/>
              </a:buClr>
              <a:buSzPts val="2400"/>
              <a:buFont typeface="Noto Sans Symbols"/>
              <a:buNone/>
            </a:pPr>
            <a:endParaRPr sz="2400" b="1">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b="1">
                <a:solidFill>
                  <a:srgbClr val="000000"/>
                </a:solidFill>
                <a:latin typeface="Calibri"/>
                <a:ea typeface="Calibri"/>
                <a:cs typeface="Calibri"/>
                <a:sym typeface="Calibri"/>
              </a:rPr>
              <a:t>LinkedList can be used as a list, stack or queue.</a:t>
            </a:r>
            <a:endParaRPr/>
          </a:p>
          <a:p>
            <a:pPr marL="342900" marR="0" lvl="0" indent="-190500" algn="l" rtl="0">
              <a:spcBef>
                <a:spcPts val="0"/>
              </a:spcBef>
              <a:spcAft>
                <a:spcPts val="0"/>
              </a:spcAft>
              <a:buClr>
                <a:schemeClr val="dk1"/>
              </a:buClr>
              <a:buSzPts val="2400"/>
              <a:buFont typeface="Noto Sans Symbols"/>
              <a:buNone/>
            </a:pPr>
            <a:endParaRPr sz="2400" b="1">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b="1">
                <a:solidFill>
                  <a:srgbClr val="000000"/>
                </a:solidFill>
                <a:latin typeface="Calibri"/>
                <a:ea typeface="Calibri"/>
                <a:cs typeface="Calibri"/>
                <a:sym typeface="Calibri"/>
              </a:rPr>
              <a:t>Has two Constructors:</a:t>
            </a:r>
            <a:endParaRPr/>
          </a:p>
          <a:p>
            <a:pPr marL="1257300" marR="0" lvl="2" indent="-342900" algn="l" rtl="0">
              <a:spcBef>
                <a:spcPts val="0"/>
              </a:spcBef>
              <a:spcAft>
                <a:spcPts val="0"/>
              </a:spcAft>
              <a:buClr>
                <a:srgbClr val="000000"/>
              </a:buClr>
              <a:buSzPts val="2400"/>
              <a:buFont typeface="Noto Sans Symbols"/>
              <a:buChar char="▪"/>
            </a:pPr>
            <a:r>
              <a:rPr lang="en-US" sz="2400" b="1" i="0" u="none" strike="noStrike" cap="none">
                <a:solidFill>
                  <a:srgbClr val="000000"/>
                </a:solidFill>
                <a:latin typeface="Calibri"/>
                <a:ea typeface="Calibri"/>
                <a:cs typeface="Calibri"/>
                <a:sym typeface="Calibri"/>
              </a:rPr>
              <a:t>LinkedList()</a:t>
            </a:r>
            <a:endParaRPr/>
          </a:p>
          <a:p>
            <a:pPr marL="1257300" marR="0" lvl="2"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LinkedList(Collection&lt;? extends E&gt; c)</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pic>
        <p:nvPicPr>
          <p:cNvPr id="562" name="Google Shape;562;p27"/>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563" name="Google Shape;563;p27"/>
          <p:cNvGrpSpPr/>
          <p:nvPr/>
        </p:nvGrpSpPr>
        <p:grpSpPr>
          <a:xfrm>
            <a:off x="118191" y="106018"/>
            <a:ext cx="1498574" cy="904328"/>
            <a:chOff x="862157" y="4413681"/>
            <a:chExt cx="2570156" cy="1560001"/>
          </a:xfrm>
        </p:grpSpPr>
        <p:pic>
          <p:nvPicPr>
            <p:cNvPr id="564" name="Google Shape;564;p27"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565" name="Google Shape;565;p27"/>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566" name="Google Shape;566;p27"/>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Linked List</a:t>
            </a:r>
            <a:endParaRPr/>
          </a:p>
        </p:txBody>
      </p:sp>
      <p:graphicFrame>
        <p:nvGraphicFramePr>
          <p:cNvPr id="567" name="Google Shape;567;p27"/>
          <p:cNvGraphicFramePr/>
          <p:nvPr/>
        </p:nvGraphicFramePr>
        <p:xfrm>
          <a:off x="984443" y="1223272"/>
          <a:ext cx="3000000" cy="3000000"/>
        </p:xfrm>
        <a:graphic>
          <a:graphicData uri="http://schemas.openxmlformats.org/drawingml/2006/table">
            <a:tbl>
              <a:tblPr>
                <a:noFill/>
                <a:tableStyleId>{B9160D5A-F4D8-4355-9011-09AB1966FD5C}</a:tableStyleId>
              </a:tblPr>
              <a:tblGrid>
                <a:gridCol w="3051450">
                  <a:extLst>
                    <a:ext uri="{9D8B030D-6E8A-4147-A177-3AD203B41FA5}">
                      <a16:colId xmlns:a16="http://schemas.microsoft.com/office/drawing/2014/main" val="20000"/>
                    </a:ext>
                  </a:extLst>
                </a:gridCol>
                <a:gridCol w="7520475">
                  <a:extLst>
                    <a:ext uri="{9D8B030D-6E8A-4147-A177-3AD203B41FA5}">
                      <a16:colId xmlns:a16="http://schemas.microsoft.com/office/drawing/2014/main" val="20001"/>
                    </a:ext>
                  </a:extLst>
                </a:gridCol>
              </a:tblGrid>
              <a:tr h="368025">
                <a:tc>
                  <a:txBody>
                    <a:bodyPr/>
                    <a:lstStyle/>
                    <a:p>
                      <a:pPr marL="0" marR="0" lvl="0" indent="0" algn="l" rtl="0">
                        <a:spcBef>
                          <a:spcPts val="0"/>
                        </a:spcBef>
                        <a:spcAft>
                          <a:spcPts val="0"/>
                        </a:spcAft>
                        <a:buNone/>
                      </a:pPr>
                      <a:r>
                        <a:rPr lang="en-US" sz="2000" b="1" u="none" strike="noStrike"/>
                        <a:t>Method</a:t>
                      </a:r>
                      <a:endParaRPr sz="2000" b="1" i="0" u="none" strike="noStrike">
                        <a:solidFill>
                          <a:srgbClr val="000000"/>
                        </a:solidFill>
                        <a:latin typeface="Calibri"/>
                        <a:ea typeface="Calibri"/>
                        <a:cs typeface="Calibri"/>
                        <a:sym typeface="Calibri"/>
                      </a:endParaRPr>
                    </a:p>
                  </a:txBody>
                  <a:tcPr marL="8950" marR="8950" marT="8950" marB="0" anchor="b">
                    <a:solidFill>
                      <a:schemeClr val="accent2"/>
                    </a:solidFill>
                  </a:tcPr>
                </a:tc>
                <a:tc>
                  <a:txBody>
                    <a:bodyPr/>
                    <a:lstStyle/>
                    <a:p>
                      <a:pPr marL="0" marR="0" lvl="0" indent="0" algn="l" rtl="0">
                        <a:spcBef>
                          <a:spcPts val="0"/>
                        </a:spcBef>
                        <a:spcAft>
                          <a:spcPts val="0"/>
                        </a:spcAft>
                        <a:buNone/>
                      </a:pPr>
                      <a:r>
                        <a:rPr lang="en-US" sz="2000" b="1" u="none" strike="noStrike"/>
                        <a:t>Description</a:t>
                      </a:r>
                      <a:endParaRPr sz="2000" b="1" i="0" u="none" strike="noStrike">
                        <a:solidFill>
                          <a:srgbClr val="000000"/>
                        </a:solidFill>
                        <a:latin typeface="Calibri"/>
                        <a:ea typeface="Calibri"/>
                        <a:cs typeface="Calibri"/>
                        <a:sym typeface="Calibri"/>
                      </a:endParaRPr>
                    </a:p>
                  </a:txBody>
                  <a:tcPr marL="8950" marR="8950" marT="8950" marB="0" anchor="b">
                    <a:solidFill>
                      <a:schemeClr val="accent2"/>
                    </a:solidFill>
                  </a:tcPr>
                </a:tc>
                <a:extLst>
                  <a:ext uri="{0D108BD9-81ED-4DB2-BD59-A6C34878D82A}">
                    <a16:rowId xmlns:a16="http://schemas.microsoft.com/office/drawing/2014/main" val="10000"/>
                  </a:ext>
                </a:extLst>
              </a:tr>
              <a:tr h="368025">
                <a:tc>
                  <a:txBody>
                    <a:bodyPr/>
                    <a:lstStyle/>
                    <a:p>
                      <a:pPr marL="0" marR="0" lvl="0" indent="0" algn="l" rtl="0">
                        <a:spcBef>
                          <a:spcPts val="0"/>
                        </a:spcBef>
                        <a:spcAft>
                          <a:spcPts val="0"/>
                        </a:spcAft>
                        <a:buNone/>
                      </a:pPr>
                      <a:r>
                        <a:rPr lang="en-US" sz="2000" b="1" u="none" strike="noStrike"/>
                        <a:t>boolean add(E e)</a:t>
                      </a:r>
                      <a:endParaRPr sz="2000" b="1" i="0" u="none" strike="noStrike">
                        <a:solidFill>
                          <a:srgbClr val="000000"/>
                        </a:solidFill>
                        <a:latin typeface="Calibri"/>
                        <a:ea typeface="Calibri"/>
                        <a:cs typeface="Calibri"/>
                        <a:sym typeface="Calibri"/>
                      </a:endParaRPr>
                    </a:p>
                  </a:txBody>
                  <a:tcPr marL="8950" marR="8950" marT="8950" marB="0" anchor="b">
                    <a:solidFill>
                      <a:srgbClr val="FBE4D4"/>
                    </a:solidFill>
                  </a:tcPr>
                </a:tc>
                <a:tc>
                  <a:txBody>
                    <a:bodyPr/>
                    <a:lstStyle/>
                    <a:p>
                      <a:pPr marL="0" marR="0" lvl="0" indent="0" algn="l" rtl="0">
                        <a:spcBef>
                          <a:spcPts val="0"/>
                        </a:spcBef>
                        <a:spcAft>
                          <a:spcPts val="0"/>
                        </a:spcAft>
                        <a:buNone/>
                      </a:pPr>
                      <a:r>
                        <a:rPr lang="en-US" sz="2000" b="1" u="none" strike="noStrike"/>
                        <a:t>It is used to append the specified element to the end of a list.</a:t>
                      </a:r>
                      <a:endParaRPr sz="2000" b="1" i="0" u="none" strike="noStrike">
                        <a:solidFill>
                          <a:srgbClr val="000000"/>
                        </a:solidFill>
                        <a:latin typeface="Calibri"/>
                        <a:ea typeface="Calibri"/>
                        <a:cs typeface="Calibri"/>
                        <a:sym typeface="Calibri"/>
                      </a:endParaRPr>
                    </a:p>
                  </a:txBody>
                  <a:tcPr marL="8950" marR="8950" marT="8950" marB="0" anchor="b">
                    <a:solidFill>
                      <a:srgbClr val="FBE4D4"/>
                    </a:solidFill>
                  </a:tcPr>
                </a:tc>
                <a:extLst>
                  <a:ext uri="{0D108BD9-81ED-4DB2-BD59-A6C34878D82A}">
                    <a16:rowId xmlns:a16="http://schemas.microsoft.com/office/drawing/2014/main" val="10001"/>
                  </a:ext>
                </a:extLst>
              </a:tr>
              <a:tr h="725550">
                <a:tc>
                  <a:txBody>
                    <a:bodyPr/>
                    <a:lstStyle/>
                    <a:p>
                      <a:pPr marL="0" marR="0" lvl="0" indent="0" algn="l" rtl="0">
                        <a:spcBef>
                          <a:spcPts val="0"/>
                        </a:spcBef>
                        <a:spcAft>
                          <a:spcPts val="0"/>
                        </a:spcAft>
                        <a:buNone/>
                      </a:pPr>
                      <a:r>
                        <a:rPr lang="en-US" sz="2000" b="1" u="none" strike="noStrike"/>
                        <a:t>void add(int index, E element)</a:t>
                      </a:r>
                      <a:endParaRPr sz="2000" b="1" i="0" u="none" strike="noStrike">
                        <a:solidFill>
                          <a:srgbClr val="000000"/>
                        </a:solidFill>
                        <a:latin typeface="Calibri"/>
                        <a:ea typeface="Calibri"/>
                        <a:cs typeface="Calibri"/>
                        <a:sym typeface="Calibri"/>
                      </a:endParaRPr>
                    </a:p>
                  </a:txBody>
                  <a:tcPr marL="8950" marR="8950" marT="8950" marB="0" anchor="b"/>
                </a:tc>
                <a:tc>
                  <a:txBody>
                    <a:bodyPr/>
                    <a:lstStyle/>
                    <a:p>
                      <a:pPr marL="0" marR="0" lvl="0" indent="0" algn="l" rtl="0">
                        <a:spcBef>
                          <a:spcPts val="0"/>
                        </a:spcBef>
                        <a:spcAft>
                          <a:spcPts val="0"/>
                        </a:spcAft>
                        <a:buNone/>
                      </a:pPr>
                      <a:r>
                        <a:rPr lang="en-US" sz="2000" b="1" u="none" strike="noStrike"/>
                        <a:t>It is used to insert the specified element at the specified position index in a list.</a:t>
                      </a:r>
                      <a:endParaRPr sz="2000" b="1" i="0" u="none" strike="noStrike">
                        <a:solidFill>
                          <a:srgbClr val="000000"/>
                        </a:solidFill>
                        <a:latin typeface="Calibri"/>
                        <a:ea typeface="Calibri"/>
                        <a:cs typeface="Calibri"/>
                        <a:sym typeface="Calibri"/>
                      </a:endParaRPr>
                    </a:p>
                  </a:txBody>
                  <a:tcPr marL="8950" marR="8950" marT="8950" marB="0" anchor="b"/>
                </a:tc>
                <a:extLst>
                  <a:ext uri="{0D108BD9-81ED-4DB2-BD59-A6C34878D82A}">
                    <a16:rowId xmlns:a16="http://schemas.microsoft.com/office/drawing/2014/main" val="10002"/>
                  </a:ext>
                </a:extLst>
              </a:tr>
              <a:tr h="1083075">
                <a:tc>
                  <a:txBody>
                    <a:bodyPr/>
                    <a:lstStyle/>
                    <a:p>
                      <a:pPr marL="0" marR="0" lvl="0" indent="0" algn="l" rtl="0">
                        <a:spcBef>
                          <a:spcPts val="0"/>
                        </a:spcBef>
                        <a:spcAft>
                          <a:spcPts val="0"/>
                        </a:spcAft>
                        <a:buNone/>
                      </a:pPr>
                      <a:r>
                        <a:rPr lang="en-US" sz="2000" b="1" u="none" strike="noStrike"/>
                        <a:t>boolean addAll(Collection&lt;? extends E&gt; c)</a:t>
                      </a:r>
                      <a:endParaRPr sz="2000" b="1" i="0" u="none" strike="noStrike">
                        <a:solidFill>
                          <a:srgbClr val="000000"/>
                        </a:solidFill>
                        <a:latin typeface="Calibri"/>
                        <a:ea typeface="Calibri"/>
                        <a:cs typeface="Calibri"/>
                        <a:sym typeface="Calibri"/>
                      </a:endParaRPr>
                    </a:p>
                  </a:txBody>
                  <a:tcPr marL="8950" marR="8950" marT="8950" marB="0" anchor="b">
                    <a:solidFill>
                      <a:srgbClr val="FBE4D4"/>
                    </a:solidFill>
                  </a:tcPr>
                </a:tc>
                <a:tc>
                  <a:txBody>
                    <a:bodyPr/>
                    <a:lstStyle/>
                    <a:p>
                      <a:pPr marL="0" marR="0" lvl="0" indent="0" algn="l" rtl="0">
                        <a:spcBef>
                          <a:spcPts val="0"/>
                        </a:spcBef>
                        <a:spcAft>
                          <a:spcPts val="0"/>
                        </a:spcAft>
                        <a:buNone/>
                      </a:pPr>
                      <a:r>
                        <a:rPr lang="en-US" sz="2000" b="1" u="none" strike="noStrike"/>
                        <a:t>It is used to append all of the elements in the specified collection to the end of this list, in the order that they are returned by the specified collection's iterator.</a:t>
                      </a:r>
                      <a:endParaRPr sz="2000" b="1" i="0" u="none" strike="noStrike">
                        <a:solidFill>
                          <a:srgbClr val="000000"/>
                        </a:solidFill>
                        <a:latin typeface="Calibri"/>
                        <a:ea typeface="Calibri"/>
                        <a:cs typeface="Calibri"/>
                        <a:sym typeface="Calibri"/>
                      </a:endParaRPr>
                    </a:p>
                  </a:txBody>
                  <a:tcPr marL="8950" marR="8950" marT="8950" marB="0" anchor="b">
                    <a:solidFill>
                      <a:srgbClr val="FBE4D4"/>
                    </a:solidFill>
                  </a:tcPr>
                </a:tc>
                <a:extLst>
                  <a:ext uri="{0D108BD9-81ED-4DB2-BD59-A6C34878D82A}">
                    <a16:rowId xmlns:a16="http://schemas.microsoft.com/office/drawing/2014/main" val="10003"/>
                  </a:ext>
                </a:extLst>
              </a:tr>
              <a:tr h="725550">
                <a:tc>
                  <a:txBody>
                    <a:bodyPr/>
                    <a:lstStyle/>
                    <a:p>
                      <a:pPr marL="0" marR="0" lvl="0" indent="0" algn="l" rtl="0">
                        <a:spcBef>
                          <a:spcPts val="0"/>
                        </a:spcBef>
                        <a:spcAft>
                          <a:spcPts val="0"/>
                        </a:spcAft>
                        <a:buNone/>
                      </a:pPr>
                      <a:r>
                        <a:rPr lang="en-US" sz="2000" b="1" u="none" strike="noStrike"/>
                        <a:t>boolean addAll(int index, Collection&lt;? extends E&gt; c)</a:t>
                      </a:r>
                      <a:endParaRPr sz="2000" b="1" i="0" u="none" strike="noStrike">
                        <a:solidFill>
                          <a:srgbClr val="000000"/>
                        </a:solidFill>
                        <a:latin typeface="Calibri"/>
                        <a:ea typeface="Calibri"/>
                        <a:cs typeface="Calibri"/>
                        <a:sym typeface="Calibri"/>
                      </a:endParaRPr>
                    </a:p>
                  </a:txBody>
                  <a:tcPr marL="8950" marR="8950" marT="8950" marB="0" anchor="b"/>
                </a:tc>
                <a:tc>
                  <a:txBody>
                    <a:bodyPr/>
                    <a:lstStyle/>
                    <a:p>
                      <a:pPr marL="0" marR="0" lvl="0" indent="0" algn="l" rtl="0">
                        <a:spcBef>
                          <a:spcPts val="0"/>
                        </a:spcBef>
                        <a:spcAft>
                          <a:spcPts val="0"/>
                        </a:spcAft>
                        <a:buNone/>
                      </a:pPr>
                      <a:r>
                        <a:rPr lang="en-US" sz="2000" b="1" u="none" strike="noStrike"/>
                        <a:t>It is used to append all the elements in the specified collection, starting at the specified position of the list.</a:t>
                      </a:r>
                      <a:endParaRPr sz="2000" b="1" i="0" u="none" strike="noStrike">
                        <a:solidFill>
                          <a:srgbClr val="000000"/>
                        </a:solidFill>
                        <a:latin typeface="Calibri"/>
                        <a:ea typeface="Calibri"/>
                        <a:cs typeface="Calibri"/>
                        <a:sym typeface="Calibri"/>
                      </a:endParaRPr>
                    </a:p>
                  </a:txBody>
                  <a:tcPr marL="8950" marR="8950" marT="8950" marB="0" anchor="b"/>
                </a:tc>
                <a:extLst>
                  <a:ext uri="{0D108BD9-81ED-4DB2-BD59-A6C34878D82A}">
                    <a16:rowId xmlns:a16="http://schemas.microsoft.com/office/drawing/2014/main" val="10004"/>
                  </a:ext>
                </a:extLst>
              </a:tr>
              <a:tr h="368025">
                <a:tc>
                  <a:txBody>
                    <a:bodyPr/>
                    <a:lstStyle/>
                    <a:p>
                      <a:pPr marL="0" marR="0" lvl="0" indent="0" algn="l" rtl="0">
                        <a:spcBef>
                          <a:spcPts val="0"/>
                        </a:spcBef>
                        <a:spcAft>
                          <a:spcPts val="0"/>
                        </a:spcAft>
                        <a:buNone/>
                      </a:pPr>
                      <a:r>
                        <a:rPr lang="en-US" sz="2000" b="1" u="none" strike="noStrike"/>
                        <a:t>void addFirst(E e)</a:t>
                      </a:r>
                      <a:endParaRPr sz="2000" b="1" i="0" u="none" strike="noStrike">
                        <a:solidFill>
                          <a:srgbClr val="000000"/>
                        </a:solidFill>
                        <a:latin typeface="Calibri"/>
                        <a:ea typeface="Calibri"/>
                        <a:cs typeface="Calibri"/>
                        <a:sym typeface="Calibri"/>
                      </a:endParaRPr>
                    </a:p>
                  </a:txBody>
                  <a:tcPr marL="8950" marR="8950" marT="8950" marB="0" anchor="b">
                    <a:solidFill>
                      <a:srgbClr val="FBE4D4"/>
                    </a:solidFill>
                  </a:tcPr>
                </a:tc>
                <a:tc>
                  <a:txBody>
                    <a:bodyPr/>
                    <a:lstStyle/>
                    <a:p>
                      <a:pPr marL="0" marR="0" lvl="0" indent="0" algn="l" rtl="0">
                        <a:spcBef>
                          <a:spcPts val="0"/>
                        </a:spcBef>
                        <a:spcAft>
                          <a:spcPts val="0"/>
                        </a:spcAft>
                        <a:buNone/>
                      </a:pPr>
                      <a:r>
                        <a:rPr lang="en-US" sz="2000" b="1" u="none" strike="noStrike"/>
                        <a:t>It is used to insert the given element at the beginning of a list.</a:t>
                      </a:r>
                      <a:endParaRPr sz="2000" b="1" i="0" u="none" strike="noStrike">
                        <a:solidFill>
                          <a:srgbClr val="000000"/>
                        </a:solidFill>
                        <a:latin typeface="Calibri"/>
                        <a:ea typeface="Calibri"/>
                        <a:cs typeface="Calibri"/>
                        <a:sym typeface="Calibri"/>
                      </a:endParaRPr>
                    </a:p>
                  </a:txBody>
                  <a:tcPr marL="8950" marR="8950" marT="8950" marB="0" anchor="b">
                    <a:solidFill>
                      <a:srgbClr val="FBE4D4"/>
                    </a:solidFill>
                  </a:tcPr>
                </a:tc>
                <a:extLst>
                  <a:ext uri="{0D108BD9-81ED-4DB2-BD59-A6C34878D82A}">
                    <a16:rowId xmlns:a16="http://schemas.microsoft.com/office/drawing/2014/main" val="10005"/>
                  </a:ext>
                </a:extLst>
              </a:tr>
              <a:tr h="368025">
                <a:tc>
                  <a:txBody>
                    <a:bodyPr/>
                    <a:lstStyle/>
                    <a:p>
                      <a:pPr marL="0" marR="0" lvl="0" indent="0" algn="l" rtl="0">
                        <a:spcBef>
                          <a:spcPts val="0"/>
                        </a:spcBef>
                        <a:spcAft>
                          <a:spcPts val="0"/>
                        </a:spcAft>
                        <a:buNone/>
                      </a:pPr>
                      <a:r>
                        <a:rPr lang="en-US" sz="2000" b="1" u="none" strike="noStrike"/>
                        <a:t>void addLast(E e)</a:t>
                      </a:r>
                      <a:endParaRPr sz="2000" b="1" i="0" u="none" strike="noStrike">
                        <a:solidFill>
                          <a:srgbClr val="000000"/>
                        </a:solidFill>
                        <a:latin typeface="Calibri"/>
                        <a:ea typeface="Calibri"/>
                        <a:cs typeface="Calibri"/>
                        <a:sym typeface="Calibri"/>
                      </a:endParaRPr>
                    </a:p>
                  </a:txBody>
                  <a:tcPr marL="8950" marR="8950" marT="8950" marB="0" anchor="b"/>
                </a:tc>
                <a:tc>
                  <a:txBody>
                    <a:bodyPr/>
                    <a:lstStyle/>
                    <a:p>
                      <a:pPr marL="0" marR="0" lvl="0" indent="0" algn="l" rtl="0">
                        <a:spcBef>
                          <a:spcPts val="0"/>
                        </a:spcBef>
                        <a:spcAft>
                          <a:spcPts val="0"/>
                        </a:spcAft>
                        <a:buNone/>
                      </a:pPr>
                      <a:r>
                        <a:rPr lang="en-US" sz="2000" b="1" u="none" strike="noStrike"/>
                        <a:t>It is used to append the given element to the end of a list.</a:t>
                      </a:r>
                      <a:endParaRPr sz="2000" b="1" i="0" u="none" strike="noStrike">
                        <a:solidFill>
                          <a:srgbClr val="000000"/>
                        </a:solidFill>
                        <a:latin typeface="Calibri"/>
                        <a:ea typeface="Calibri"/>
                        <a:cs typeface="Calibri"/>
                        <a:sym typeface="Calibri"/>
                      </a:endParaRPr>
                    </a:p>
                  </a:txBody>
                  <a:tcPr marL="8950" marR="8950" marT="8950" marB="0" anchor="b"/>
                </a:tc>
                <a:extLst>
                  <a:ext uri="{0D108BD9-81ED-4DB2-BD59-A6C34878D82A}">
                    <a16:rowId xmlns:a16="http://schemas.microsoft.com/office/drawing/2014/main" val="10006"/>
                  </a:ext>
                </a:extLst>
              </a:tr>
              <a:tr h="368025">
                <a:tc>
                  <a:txBody>
                    <a:bodyPr/>
                    <a:lstStyle/>
                    <a:p>
                      <a:pPr marL="0" marR="0" lvl="0" indent="0" algn="l" rtl="0">
                        <a:spcBef>
                          <a:spcPts val="0"/>
                        </a:spcBef>
                        <a:spcAft>
                          <a:spcPts val="0"/>
                        </a:spcAft>
                        <a:buNone/>
                      </a:pPr>
                      <a:r>
                        <a:rPr lang="en-US" sz="2000" b="1" u="none" strike="noStrike"/>
                        <a:t>void clear()</a:t>
                      </a:r>
                      <a:endParaRPr sz="2000" b="1" i="0" u="none" strike="noStrike">
                        <a:solidFill>
                          <a:srgbClr val="000000"/>
                        </a:solidFill>
                        <a:latin typeface="Calibri"/>
                        <a:ea typeface="Calibri"/>
                        <a:cs typeface="Calibri"/>
                        <a:sym typeface="Calibri"/>
                      </a:endParaRPr>
                    </a:p>
                  </a:txBody>
                  <a:tcPr marL="8950" marR="8950" marT="8950" marB="0" anchor="b">
                    <a:solidFill>
                      <a:srgbClr val="FBE4D4"/>
                    </a:solidFill>
                  </a:tcPr>
                </a:tc>
                <a:tc>
                  <a:txBody>
                    <a:bodyPr/>
                    <a:lstStyle/>
                    <a:p>
                      <a:pPr marL="0" marR="0" lvl="0" indent="0" algn="l" rtl="0">
                        <a:spcBef>
                          <a:spcPts val="0"/>
                        </a:spcBef>
                        <a:spcAft>
                          <a:spcPts val="0"/>
                        </a:spcAft>
                        <a:buNone/>
                      </a:pPr>
                      <a:r>
                        <a:rPr lang="en-US" sz="2000" b="1" u="none" strike="noStrike"/>
                        <a:t>It is used to remove all the elements from a list.</a:t>
                      </a:r>
                      <a:endParaRPr sz="2000" b="1" i="0" u="none" strike="noStrike">
                        <a:solidFill>
                          <a:srgbClr val="000000"/>
                        </a:solidFill>
                        <a:latin typeface="Calibri"/>
                        <a:ea typeface="Calibri"/>
                        <a:cs typeface="Calibri"/>
                        <a:sym typeface="Calibri"/>
                      </a:endParaRPr>
                    </a:p>
                  </a:txBody>
                  <a:tcPr marL="8950" marR="8950" marT="8950" marB="0" anchor="b">
                    <a:solidFill>
                      <a:srgbClr val="FBE4D4"/>
                    </a:solidFill>
                  </a:tcPr>
                </a:tc>
                <a:extLst>
                  <a:ext uri="{0D108BD9-81ED-4DB2-BD59-A6C34878D82A}">
                    <a16:rowId xmlns:a16="http://schemas.microsoft.com/office/drawing/2014/main" val="10007"/>
                  </a:ext>
                </a:extLst>
              </a:tr>
              <a:tr h="368025">
                <a:tc>
                  <a:txBody>
                    <a:bodyPr/>
                    <a:lstStyle/>
                    <a:p>
                      <a:pPr marL="0" marR="0" lvl="0" indent="0" algn="l" rtl="0">
                        <a:spcBef>
                          <a:spcPts val="0"/>
                        </a:spcBef>
                        <a:spcAft>
                          <a:spcPts val="0"/>
                        </a:spcAft>
                        <a:buNone/>
                      </a:pPr>
                      <a:r>
                        <a:rPr lang="en-US" sz="2000" b="1" u="none" strike="noStrike"/>
                        <a:t>boolean contains(Object o)</a:t>
                      </a:r>
                      <a:endParaRPr sz="2000" b="1" i="0" u="none" strike="noStrike">
                        <a:solidFill>
                          <a:srgbClr val="000000"/>
                        </a:solidFill>
                        <a:latin typeface="Calibri"/>
                        <a:ea typeface="Calibri"/>
                        <a:cs typeface="Calibri"/>
                        <a:sym typeface="Calibri"/>
                      </a:endParaRPr>
                    </a:p>
                  </a:txBody>
                  <a:tcPr marL="8950" marR="8950" marT="8950" marB="0" anchor="b"/>
                </a:tc>
                <a:tc>
                  <a:txBody>
                    <a:bodyPr/>
                    <a:lstStyle/>
                    <a:p>
                      <a:pPr marL="0" marR="0" lvl="0" indent="0" algn="l" rtl="0">
                        <a:spcBef>
                          <a:spcPts val="0"/>
                        </a:spcBef>
                        <a:spcAft>
                          <a:spcPts val="0"/>
                        </a:spcAft>
                        <a:buNone/>
                      </a:pPr>
                      <a:r>
                        <a:rPr lang="en-US" sz="2000" b="1" u="none" strike="noStrike"/>
                        <a:t>It is used to return true if a list contains a specified element.</a:t>
                      </a:r>
                      <a:endParaRPr sz="2000" b="1" i="0" u="none" strike="noStrike">
                        <a:solidFill>
                          <a:srgbClr val="000000"/>
                        </a:solidFill>
                        <a:latin typeface="Calibri"/>
                        <a:ea typeface="Calibri"/>
                        <a:cs typeface="Calibri"/>
                        <a:sym typeface="Calibri"/>
                      </a:endParaRPr>
                    </a:p>
                  </a:txBody>
                  <a:tcPr marL="8950" marR="8950" marT="8950" marB="0" anchor="b"/>
                </a:tc>
                <a:extLst>
                  <a:ext uri="{0D108BD9-81ED-4DB2-BD59-A6C34878D82A}">
                    <a16:rowId xmlns:a16="http://schemas.microsoft.com/office/drawing/2014/main" val="10008"/>
                  </a:ext>
                </a:extLst>
              </a:tr>
              <a:tr h="368025">
                <a:tc>
                  <a:txBody>
                    <a:bodyPr/>
                    <a:lstStyle/>
                    <a:p>
                      <a:pPr marL="0" marR="0" lvl="0" indent="0" algn="l" rtl="0">
                        <a:spcBef>
                          <a:spcPts val="0"/>
                        </a:spcBef>
                        <a:spcAft>
                          <a:spcPts val="0"/>
                        </a:spcAft>
                        <a:buNone/>
                      </a:pPr>
                      <a:r>
                        <a:rPr lang="en-US" sz="2000" b="1" u="none" strike="noStrike"/>
                        <a:t>E get(int index)</a:t>
                      </a:r>
                      <a:endParaRPr sz="2000" b="1" i="0" u="none" strike="noStrike">
                        <a:solidFill>
                          <a:srgbClr val="000000"/>
                        </a:solidFill>
                        <a:latin typeface="Calibri"/>
                        <a:ea typeface="Calibri"/>
                        <a:cs typeface="Calibri"/>
                        <a:sym typeface="Calibri"/>
                      </a:endParaRPr>
                    </a:p>
                  </a:txBody>
                  <a:tcPr marL="8950" marR="8950" marT="8950" marB="0" anchor="b">
                    <a:solidFill>
                      <a:srgbClr val="FBE4D4"/>
                    </a:solidFill>
                  </a:tcPr>
                </a:tc>
                <a:tc>
                  <a:txBody>
                    <a:bodyPr/>
                    <a:lstStyle/>
                    <a:p>
                      <a:pPr marL="0" marR="0" lvl="0" indent="0" algn="l" rtl="0">
                        <a:spcBef>
                          <a:spcPts val="0"/>
                        </a:spcBef>
                        <a:spcAft>
                          <a:spcPts val="0"/>
                        </a:spcAft>
                        <a:buNone/>
                      </a:pPr>
                      <a:r>
                        <a:rPr lang="en-US" sz="2000" b="1" u="none" strike="noStrike"/>
                        <a:t>It is used to return the element at the specified position in a list.</a:t>
                      </a:r>
                      <a:endParaRPr sz="2000" b="1" i="0" u="none" strike="noStrike">
                        <a:solidFill>
                          <a:srgbClr val="000000"/>
                        </a:solidFill>
                        <a:latin typeface="Calibri"/>
                        <a:ea typeface="Calibri"/>
                        <a:cs typeface="Calibri"/>
                        <a:sym typeface="Calibri"/>
                      </a:endParaRPr>
                    </a:p>
                  </a:txBody>
                  <a:tcPr marL="8950" marR="8950" marT="8950" marB="0" anchor="b">
                    <a:solidFill>
                      <a:srgbClr val="FBE4D4"/>
                    </a:solidFill>
                  </a:tcP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pic>
        <p:nvPicPr>
          <p:cNvPr id="572" name="Google Shape;572;p28"/>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573" name="Google Shape;573;p28"/>
          <p:cNvGrpSpPr/>
          <p:nvPr/>
        </p:nvGrpSpPr>
        <p:grpSpPr>
          <a:xfrm>
            <a:off x="118191" y="106018"/>
            <a:ext cx="1498574" cy="904328"/>
            <a:chOff x="862157" y="4413681"/>
            <a:chExt cx="2570156" cy="1560001"/>
          </a:xfrm>
        </p:grpSpPr>
        <p:pic>
          <p:nvPicPr>
            <p:cNvPr id="574" name="Google Shape;574;p28"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575" name="Google Shape;575;p28"/>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576" name="Google Shape;576;p28"/>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Linked List</a:t>
            </a:r>
            <a:endParaRPr/>
          </a:p>
        </p:txBody>
      </p:sp>
      <p:graphicFrame>
        <p:nvGraphicFramePr>
          <p:cNvPr id="577" name="Google Shape;577;p28"/>
          <p:cNvGraphicFramePr/>
          <p:nvPr/>
        </p:nvGraphicFramePr>
        <p:xfrm>
          <a:off x="984443" y="1223272"/>
          <a:ext cx="3000000" cy="3000000"/>
        </p:xfrm>
        <a:graphic>
          <a:graphicData uri="http://schemas.openxmlformats.org/drawingml/2006/table">
            <a:tbl>
              <a:tblPr>
                <a:noFill/>
                <a:tableStyleId>{B9160D5A-F4D8-4355-9011-09AB1966FD5C}</a:tableStyleId>
              </a:tblPr>
              <a:tblGrid>
                <a:gridCol w="3051450">
                  <a:extLst>
                    <a:ext uri="{9D8B030D-6E8A-4147-A177-3AD203B41FA5}">
                      <a16:colId xmlns:a16="http://schemas.microsoft.com/office/drawing/2014/main" val="20000"/>
                    </a:ext>
                  </a:extLst>
                </a:gridCol>
                <a:gridCol w="7520475">
                  <a:extLst>
                    <a:ext uri="{9D8B030D-6E8A-4147-A177-3AD203B41FA5}">
                      <a16:colId xmlns:a16="http://schemas.microsoft.com/office/drawing/2014/main" val="20001"/>
                    </a:ext>
                  </a:extLst>
                </a:gridCol>
              </a:tblGrid>
              <a:tr h="368025">
                <a:tc>
                  <a:txBody>
                    <a:bodyPr/>
                    <a:lstStyle/>
                    <a:p>
                      <a:pPr marL="0" marR="0" lvl="0" indent="0" algn="l" rtl="0">
                        <a:spcBef>
                          <a:spcPts val="0"/>
                        </a:spcBef>
                        <a:spcAft>
                          <a:spcPts val="0"/>
                        </a:spcAft>
                        <a:buNone/>
                      </a:pPr>
                      <a:r>
                        <a:rPr lang="en-US" sz="2000" b="1" u="none" strike="noStrike"/>
                        <a:t>Method</a:t>
                      </a:r>
                      <a:endParaRPr sz="2000" b="1" i="0" u="none" strike="noStrike">
                        <a:solidFill>
                          <a:srgbClr val="000000"/>
                        </a:solidFill>
                        <a:latin typeface="Calibri"/>
                        <a:ea typeface="Calibri"/>
                        <a:cs typeface="Calibri"/>
                        <a:sym typeface="Calibri"/>
                      </a:endParaRPr>
                    </a:p>
                  </a:txBody>
                  <a:tcPr marL="8950" marR="8950" marT="8950" marB="0" anchor="b">
                    <a:solidFill>
                      <a:schemeClr val="accent2"/>
                    </a:solidFill>
                  </a:tcPr>
                </a:tc>
                <a:tc>
                  <a:txBody>
                    <a:bodyPr/>
                    <a:lstStyle/>
                    <a:p>
                      <a:pPr marL="0" marR="0" lvl="0" indent="0" algn="l" rtl="0">
                        <a:spcBef>
                          <a:spcPts val="0"/>
                        </a:spcBef>
                        <a:spcAft>
                          <a:spcPts val="0"/>
                        </a:spcAft>
                        <a:buNone/>
                      </a:pPr>
                      <a:r>
                        <a:rPr lang="en-US" sz="2000" b="1" u="none" strike="noStrike"/>
                        <a:t>Description</a:t>
                      </a:r>
                      <a:endParaRPr sz="2000" b="1" i="0" u="none" strike="noStrike">
                        <a:solidFill>
                          <a:srgbClr val="000000"/>
                        </a:solidFill>
                        <a:latin typeface="Calibri"/>
                        <a:ea typeface="Calibri"/>
                        <a:cs typeface="Calibri"/>
                        <a:sym typeface="Calibri"/>
                      </a:endParaRPr>
                    </a:p>
                  </a:txBody>
                  <a:tcPr marL="8950" marR="8950" marT="8950" marB="0" anchor="b">
                    <a:solidFill>
                      <a:schemeClr val="accent2"/>
                    </a:solidFill>
                  </a:tcPr>
                </a:tc>
                <a:extLst>
                  <a:ext uri="{0D108BD9-81ED-4DB2-BD59-A6C34878D82A}">
                    <a16:rowId xmlns:a16="http://schemas.microsoft.com/office/drawing/2014/main" val="10000"/>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 getFirst()</a:t>
                      </a:r>
                      <a:endParaRPr/>
                    </a:p>
                  </a:txBody>
                  <a:tcPr marL="9525" marR="9525" marT="9525"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return the first element in a list.</a:t>
                      </a:r>
                      <a:endParaRPr/>
                    </a:p>
                  </a:txBody>
                  <a:tcPr marL="9525" marR="9525" marT="9525" marB="0" anchor="b">
                    <a:solidFill>
                      <a:srgbClr val="FBE4D4"/>
                    </a:solidFill>
                  </a:tcPr>
                </a:tc>
                <a:extLst>
                  <a:ext uri="{0D108BD9-81ED-4DB2-BD59-A6C34878D82A}">
                    <a16:rowId xmlns:a16="http://schemas.microsoft.com/office/drawing/2014/main" val="10001"/>
                  </a:ext>
                </a:extLst>
              </a:tr>
              <a:tr h="72555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 getLast()</a:t>
                      </a:r>
                      <a:endParaRPr/>
                    </a:p>
                  </a:txBody>
                  <a:tcPr marL="9525" marR="9525" marT="9525" marB="0" anchor="b"/>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return the last element in a list.</a:t>
                      </a:r>
                      <a:endParaRPr/>
                    </a:p>
                  </a:txBody>
                  <a:tcPr marL="9525" marR="9525" marT="9525" marB="0" anchor="b"/>
                </a:tc>
                <a:extLst>
                  <a:ext uri="{0D108BD9-81ED-4DB2-BD59-A6C34878D82A}">
                    <a16:rowId xmlns:a16="http://schemas.microsoft.com/office/drawing/2014/main" val="10002"/>
                  </a:ext>
                </a:extLst>
              </a:tr>
              <a:tr h="68115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int indexOf(Object o)</a:t>
                      </a:r>
                      <a:endParaRPr/>
                    </a:p>
                  </a:txBody>
                  <a:tcPr marL="9525" marR="9525" marT="9525"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return the index in a list of the first occurrence of the specified element, or -1 if the list does not contain any element.</a:t>
                      </a:r>
                      <a:endParaRPr/>
                    </a:p>
                  </a:txBody>
                  <a:tcPr marL="9525" marR="9525" marT="9525" marB="0" anchor="b">
                    <a:solidFill>
                      <a:srgbClr val="FBE4D4"/>
                    </a:solidFill>
                  </a:tcPr>
                </a:tc>
                <a:extLst>
                  <a:ext uri="{0D108BD9-81ED-4DB2-BD59-A6C34878D82A}">
                    <a16:rowId xmlns:a16="http://schemas.microsoft.com/office/drawing/2014/main" val="10003"/>
                  </a:ext>
                </a:extLst>
              </a:tr>
              <a:tr h="72555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int lastIndexOf(Object o)</a:t>
                      </a:r>
                      <a:endParaRPr/>
                    </a:p>
                  </a:txBody>
                  <a:tcPr marL="9525" marR="9525" marT="9525" marB="0" anchor="b"/>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return the index in a list of the last occurrence of the specified element, or -1 if the list does not contain any element.</a:t>
                      </a:r>
                      <a:endParaRPr/>
                    </a:p>
                  </a:txBody>
                  <a:tcPr marL="9525" marR="9525" marT="9525" marB="0" anchor="b"/>
                </a:tc>
                <a:extLst>
                  <a:ext uri="{0D108BD9-81ED-4DB2-BD59-A6C34878D82A}">
                    <a16:rowId xmlns:a16="http://schemas.microsoft.com/office/drawing/2014/main" val="10004"/>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boolean offer(E e)</a:t>
                      </a:r>
                      <a:endParaRPr/>
                    </a:p>
                  </a:txBody>
                  <a:tcPr marL="9525" marR="9525" marT="9525"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adds the specified element as the last element of a list.</a:t>
                      </a:r>
                      <a:endParaRPr/>
                    </a:p>
                  </a:txBody>
                  <a:tcPr marL="9525" marR="9525" marT="9525" marB="0" anchor="b">
                    <a:solidFill>
                      <a:srgbClr val="FBE4D4"/>
                    </a:solidFill>
                  </a:tcPr>
                </a:tc>
                <a:extLst>
                  <a:ext uri="{0D108BD9-81ED-4DB2-BD59-A6C34878D82A}">
                    <a16:rowId xmlns:a16="http://schemas.microsoft.com/office/drawing/2014/main" val="10005"/>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boolean offerFirst(E e)</a:t>
                      </a:r>
                      <a:endParaRPr/>
                    </a:p>
                  </a:txBody>
                  <a:tcPr marL="9525" marR="9525" marT="9525" marB="0" anchor="b"/>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inserts the specified element at the front of a list.</a:t>
                      </a:r>
                      <a:endParaRPr/>
                    </a:p>
                  </a:txBody>
                  <a:tcPr marL="9525" marR="9525" marT="9525" marB="0" anchor="b"/>
                </a:tc>
                <a:extLst>
                  <a:ext uri="{0D108BD9-81ED-4DB2-BD59-A6C34878D82A}">
                    <a16:rowId xmlns:a16="http://schemas.microsoft.com/office/drawing/2014/main" val="10006"/>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boolean offerLast(E e)</a:t>
                      </a:r>
                      <a:endParaRPr/>
                    </a:p>
                  </a:txBody>
                  <a:tcPr marL="9525" marR="9525" marT="9525"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inserts the specified element at the end of a list.</a:t>
                      </a:r>
                      <a:endParaRPr/>
                    </a:p>
                  </a:txBody>
                  <a:tcPr marL="9525" marR="9525" marT="9525" marB="0" anchor="b">
                    <a:solidFill>
                      <a:srgbClr val="FBE4D4"/>
                    </a:solidFill>
                  </a:tcPr>
                </a:tc>
                <a:extLst>
                  <a:ext uri="{0D108BD9-81ED-4DB2-BD59-A6C34878D82A}">
                    <a16:rowId xmlns:a16="http://schemas.microsoft.com/office/drawing/2014/main" val="10007"/>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 peek()</a:t>
                      </a:r>
                      <a:endParaRPr/>
                    </a:p>
                  </a:txBody>
                  <a:tcPr marL="9525" marR="9525" marT="9525" marB="0" anchor="b"/>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retrieves the first element of a list</a:t>
                      </a:r>
                      <a:endParaRPr/>
                    </a:p>
                  </a:txBody>
                  <a:tcPr marL="9525" marR="9525" marT="9525" marB="0" anchor="b"/>
                </a:tc>
                <a:extLst>
                  <a:ext uri="{0D108BD9-81ED-4DB2-BD59-A6C34878D82A}">
                    <a16:rowId xmlns:a16="http://schemas.microsoft.com/office/drawing/2014/main" val="10008"/>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 peekFirst()</a:t>
                      </a:r>
                      <a:endParaRPr/>
                    </a:p>
                  </a:txBody>
                  <a:tcPr marL="9525" marR="9525" marT="9525"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retrieves the first element of a list or returns null if a list is empty.</a:t>
                      </a:r>
                      <a:endParaRPr/>
                    </a:p>
                  </a:txBody>
                  <a:tcPr marL="9525" marR="9525" marT="9525" marB="0" anchor="b">
                    <a:solidFill>
                      <a:srgbClr val="FBE4D4"/>
                    </a:solidFill>
                  </a:tcP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pic>
        <p:nvPicPr>
          <p:cNvPr id="582" name="Google Shape;582;p29"/>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583" name="Google Shape;583;p29"/>
          <p:cNvGrpSpPr/>
          <p:nvPr/>
        </p:nvGrpSpPr>
        <p:grpSpPr>
          <a:xfrm>
            <a:off x="118191" y="106018"/>
            <a:ext cx="1498574" cy="904328"/>
            <a:chOff x="862157" y="4413681"/>
            <a:chExt cx="2570156" cy="1560001"/>
          </a:xfrm>
        </p:grpSpPr>
        <p:pic>
          <p:nvPicPr>
            <p:cNvPr id="584" name="Google Shape;584;p29"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585" name="Google Shape;585;p29"/>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586" name="Google Shape;586;p29"/>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Linked List</a:t>
            </a:r>
            <a:endParaRPr/>
          </a:p>
        </p:txBody>
      </p:sp>
      <p:graphicFrame>
        <p:nvGraphicFramePr>
          <p:cNvPr id="587" name="Google Shape;587;p29"/>
          <p:cNvGraphicFramePr/>
          <p:nvPr/>
        </p:nvGraphicFramePr>
        <p:xfrm>
          <a:off x="984443" y="1223272"/>
          <a:ext cx="3000000" cy="3000000"/>
        </p:xfrm>
        <a:graphic>
          <a:graphicData uri="http://schemas.openxmlformats.org/drawingml/2006/table">
            <a:tbl>
              <a:tblPr>
                <a:noFill/>
                <a:tableStyleId>{B9160D5A-F4D8-4355-9011-09AB1966FD5C}</a:tableStyleId>
              </a:tblPr>
              <a:tblGrid>
                <a:gridCol w="3051450">
                  <a:extLst>
                    <a:ext uri="{9D8B030D-6E8A-4147-A177-3AD203B41FA5}">
                      <a16:colId xmlns:a16="http://schemas.microsoft.com/office/drawing/2014/main" val="20000"/>
                    </a:ext>
                  </a:extLst>
                </a:gridCol>
                <a:gridCol w="7520475">
                  <a:extLst>
                    <a:ext uri="{9D8B030D-6E8A-4147-A177-3AD203B41FA5}">
                      <a16:colId xmlns:a16="http://schemas.microsoft.com/office/drawing/2014/main" val="20001"/>
                    </a:ext>
                  </a:extLst>
                </a:gridCol>
              </a:tblGrid>
              <a:tr h="368025">
                <a:tc>
                  <a:txBody>
                    <a:bodyPr/>
                    <a:lstStyle/>
                    <a:p>
                      <a:pPr marL="0" marR="0" lvl="0" indent="0" algn="l" rtl="0">
                        <a:spcBef>
                          <a:spcPts val="0"/>
                        </a:spcBef>
                        <a:spcAft>
                          <a:spcPts val="0"/>
                        </a:spcAft>
                        <a:buNone/>
                      </a:pPr>
                      <a:r>
                        <a:rPr lang="en-US" sz="2000" b="1" u="none" strike="noStrike"/>
                        <a:t>Method</a:t>
                      </a:r>
                      <a:endParaRPr sz="2000" b="1" i="0" u="none" strike="noStrike">
                        <a:solidFill>
                          <a:srgbClr val="000000"/>
                        </a:solidFill>
                        <a:latin typeface="Calibri"/>
                        <a:ea typeface="Calibri"/>
                        <a:cs typeface="Calibri"/>
                        <a:sym typeface="Calibri"/>
                      </a:endParaRPr>
                    </a:p>
                  </a:txBody>
                  <a:tcPr marL="8950" marR="8950" marT="8950" marB="0" anchor="b">
                    <a:solidFill>
                      <a:schemeClr val="accent2"/>
                    </a:solidFill>
                  </a:tcPr>
                </a:tc>
                <a:tc>
                  <a:txBody>
                    <a:bodyPr/>
                    <a:lstStyle/>
                    <a:p>
                      <a:pPr marL="0" marR="0" lvl="0" indent="0" algn="l" rtl="0">
                        <a:spcBef>
                          <a:spcPts val="0"/>
                        </a:spcBef>
                        <a:spcAft>
                          <a:spcPts val="0"/>
                        </a:spcAft>
                        <a:buNone/>
                      </a:pPr>
                      <a:r>
                        <a:rPr lang="en-US" sz="2000" b="1" u="none" strike="noStrike"/>
                        <a:t>Description</a:t>
                      </a:r>
                      <a:endParaRPr sz="2000" b="1" i="0" u="none" strike="noStrike">
                        <a:solidFill>
                          <a:srgbClr val="000000"/>
                        </a:solidFill>
                        <a:latin typeface="Calibri"/>
                        <a:ea typeface="Calibri"/>
                        <a:cs typeface="Calibri"/>
                        <a:sym typeface="Calibri"/>
                      </a:endParaRPr>
                    </a:p>
                  </a:txBody>
                  <a:tcPr marL="8950" marR="8950" marT="8950" marB="0" anchor="b">
                    <a:solidFill>
                      <a:schemeClr val="accent2"/>
                    </a:solidFill>
                  </a:tcPr>
                </a:tc>
                <a:extLst>
                  <a:ext uri="{0D108BD9-81ED-4DB2-BD59-A6C34878D82A}">
                    <a16:rowId xmlns:a16="http://schemas.microsoft.com/office/drawing/2014/main" val="10000"/>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 poll()</a:t>
                      </a:r>
                      <a:endParaRPr/>
                    </a:p>
                  </a:txBody>
                  <a:tcPr marL="9525" marR="9525" marT="9525"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retrieves and removes the first element of a list.</a:t>
                      </a:r>
                      <a:endParaRPr/>
                    </a:p>
                  </a:txBody>
                  <a:tcPr marL="9525" marR="9525" marT="9525" marB="0" anchor="b">
                    <a:solidFill>
                      <a:srgbClr val="FBE4D4"/>
                    </a:solidFill>
                  </a:tcPr>
                </a:tc>
                <a:extLst>
                  <a:ext uri="{0D108BD9-81ED-4DB2-BD59-A6C34878D82A}">
                    <a16:rowId xmlns:a16="http://schemas.microsoft.com/office/drawing/2014/main" val="10001"/>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 pollFirst()</a:t>
                      </a:r>
                      <a:endParaRPr/>
                    </a:p>
                  </a:txBody>
                  <a:tcPr marL="9525" marR="9525" marT="9525" marB="0" anchor="b"/>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retrieves and removes the first element of a list, or returns null if a list is empty.</a:t>
                      </a:r>
                      <a:endParaRPr/>
                    </a:p>
                  </a:txBody>
                  <a:tcPr marL="9525" marR="9525" marT="9525" marB="0" anchor="b"/>
                </a:tc>
                <a:extLst>
                  <a:ext uri="{0D108BD9-81ED-4DB2-BD59-A6C34878D82A}">
                    <a16:rowId xmlns:a16="http://schemas.microsoft.com/office/drawing/2014/main" val="10002"/>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 pollLast()</a:t>
                      </a:r>
                      <a:endParaRPr/>
                    </a:p>
                  </a:txBody>
                  <a:tcPr marL="9525" marR="9525" marT="9525"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retrieves and removes the last element of a list, or returns null if a list is empty.</a:t>
                      </a:r>
                      <a:endParaRPr/>
                    </a:p>
                  </a:txBody>
                  <a:tcPr marL="9525" marR="9525" marT="9525" marB="0" anchor="b">
                    <a:solidFill>
                      <a:srgbClr val="FBE4D4"/>
                    </a:solidFill>
                  </a:tcPr>
                </a:tc>
                <a:extLst>
                  <a:ext uri="{0D108BD9-81ED-4DB2-BD59-A6C34878D82A}">
                    <a16:rowId xmlns:a16="http://schemas.microsoft.com/office/drawing/2014/main" val="10003"/>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 pop()</a:t>
                      </a:r>
                      <a:endParaRPr/>
                    </a:p>
                  </a:txBody>
                  <a:tcPr marL="9525" marR="9525" marT="9525" marB="0" anchor="b"/>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pops an element from the stack represented by a list.</a:t>
                      </a:r>
                      <a:endParaRPr/>
                    </a:p>
                  </a:txBody>
                  <a:tcPr marL="9525" marR="9525" marT="9525" marB="0" anchor="b"/>
                </a:tc>
                <a:extLst>
                  <a:ext uri="{0D108BD9-81ED-4DB2-BD59-A6C34878D82A}">
                    <a16:rowId xmlns:a16="http://schemas.microsoft.com/office/drawing/2014/main" val="10004"/>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void push(E e)</a:t>
                      </a:r>
                      <a:endParaRPr/>
                    </a:p>
                  </a:txBody>
                  <a:tcPr marL="9525" marR="9525" marT="9525"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pushes an element onto the stack represented by a list.</a:t>
                      </a:r>
                      <a:endParaRPr/>
                    </a:p>
                  </a:txBody>
                  <a:tcPr marL="9525" marR="9525" marT="9525" marB="0" anchor="b">
                    <a:solidFill>
                      <a:srgbClr val="FBE4D4"/>
                    </a:solidFill>
                  </a:tcPr>
                </a:tc>
                <a:extLst>
                  <a:ext uri="{0D108BD9-81ED-4DB2-BD59-A6C34878D82A}">
                    <a16:rowId xmlns:a16="http://schemas.microsoft.com/office/drawing/2014/main" val="10005"/>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 remove()</a:t>
                      </a:r>
                      <a:endParaRPr/>
                    </a:p>
                  </a:txBody>
                  <a:tcPr marL="9525" marR="9525" marT="9525" marB="0" anchor="b"/>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retrieve and removes the first element of a list.</a:t>
                      </a:r>
                      <a:endParaRPr/>
                    </a:p>
                  </a:txBody>
                  <a:tcPr marL="9525" marR="9525" marT="9525" marB="0" anchor="b"/>
                </a:tc>
                <a:extLst>
                  <a:ext uri="{0D108BD9-81ED-4DB2-BD59-A6C34878D82A}">
                    <a16:rowId xmlns:a16="http://schemas.microsoft.com/office/drawing/2014/main" val="10006"/>
                  </a:ext>
                </a:extLst>
              </a:tr>
              <a:tr h="38957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 remove(int index)</a:t>
                      </a:r>
                      <a:endParaRPr/>
                    </a:p>
                  </a:txBody>
                  <a:tcPr marL="9525" marR="9525" marT="9525"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remove the element at the specified position in a list.</a:t>
                      </a:r>
                      <a:endParaRPr/>
                    </a:p>
                  </a:txBody>
                  <a:tcPr marL="9525" marR="9525" marT="9525" marB="0" anchor="b">
                    <a:solidFill>
                      <a:srgbClr val="FBE4D4"/>
                    </a:solidFill>
                  </a:tcPr>
                </a:tc>
                <a:extLst>
                  <a:ext uri="{0D108BD9-81ED-4DB2-BD59-A6C34878D82A}">
                    <a16:rowId xmlns:a16="http://schemas.microsoft.com/office/drawing/2014/main" val="10007"/>
                  </a:ext>
                </a:extLst>
              </a:tr>
              <a:tr h="68115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boolean remove(Object o)</a:t>
                      </a:r>
                      <a:endParaRPr/>
                    </a:p>
                  </a:txBody>
                  <a:tcPr marL="9525" marR="9525" marT="9525" marB="0" anchor="b"/>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remove the first occurrence of the specified element in a list.</a:t>
                      </a:r>
                      <a:endParaRPr/>
                    </a:p>
                  </a:txBody>
                  <a:tcPr marL="9525" marR="9525" marT="9525" marB="0" anchor="b"/>
                </a:tc>
                <a:extLst>
                  <a:ext uri="{0D108BD9-81ED-4DB2-BD59-A6C34878D82A}">
                    <a16:rowId xmlns:a16="http://schemas.microsoft.com/office/drawing/2014/main" val="10008"/>
                  </a:ext>
                </a:extLst>
              </a:tr>
              <a:tr h="326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 removeFirst()</a:t>
                      </a:r>
                      <a:endParaRPr/>
                    </a:p>
                  </a:txBody>
                  <a:tcPr marL="9525" marR="9525" marT="9525"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removes and returns the first element from a list.</a:t>
                      </a:r>
                      <a:endParaRPr/>
                    </a:p>
                  </a:txBody>
                  <a:tcPr marL="9525" marR="9525" marT="9525" marB="0" anchor="b">
                    <a:solidFill>
                      <a:srgbClr val="FBE4D4"/>
                    </a:solidFill>
                  </a:tcP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pic>
        <p:nvPicPr>
          <p:cNvPr id="592" name="Google Shape;592;p30"/>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593" name="Google Shape;593;p30"/>
          <p:cNvGrpSpPr/>
          <p:nvPr/>
        </p:nvGrpSpPr>
        <p:grpSpPr>
          <a:xfrm>
            <a:off x="118191" y="106018"/>
            <a:ext cx="1498574" cy="904328"/>
            <a:chOff x="862157" y="4413681"/>
            <a:chExt cx="2570156" cy="1560001"/>
          </a:xfrm>
        </p:grpSpPr>
        <p:pic>
          <p:nvPicPr>
            <p:cNvPr id="594" name="Google Shape;594;p30"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595" name="Google Shape;595;p30"/>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596" name="Google Shape;596;p30"/>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Linked List</a:t>
            </a:r>
            <a:endParaRPr/>
          </a:p>
        </p:txBody>
      </p:sp>
      <p:graphicFrame>
        <p:nvGraphicFramePr>
          <p:cNvPr id="597" name="Google Shape;597;p30"/>
          <p:cNvGraphicFramePr/>
          <p:nvPr/>
        </p:nvGraphicFramePr>
        <p:xfrm>
          <a:off x="715382" y="1804750"/>
          <a:ext cx="3000000" cy="3000000"/>
        </p:xfrm>
        <a:graphic>
          <a:graphicData uri="http://schemas.openxmlformats.org/drawingml/2006/table">
            <a:tbl>
              <a:tblPr>
                <a:noFill/>
                <a:tableStyleId>{B9160D5A-F4D8-4355-9011-09AB1966FD5C}</a:tableStyleId>
              </a:tblPr>
              <a:tblGrid>
                <a:gridCol w="3723850">
                  <a:extLst>
                    <a:ext uri="{9D8B030D-6E8A-4147-A177-3AD203B41FA5}">
                      <a16:colId xmlns:a16="http://schemas.microsoft.com/office/drawing/2014/main" val="20000"/>
                    </a:ext>
                  </a:extLst>
                </a:gridCol>
                <a:gridCol w="7037375">
                  <a:extLst>
                    <a:ext uri="{9D8B030D-6E8A-4147-A177-3AD203B41FA5}">
                      <a16:colId xmlns:a16="http://schemas.microsoft.com/office/drawing/2014/main" val="20001"/>
                    </a:ext>
                  </a:extLst>
                </a:gridCol>
              </a:tblGrid>
              <a:tr h="368025">
                <a:tc>
                  <a:txBody>
                    <a:bodyPr/>
                    <a:lstStyle/>
                    <a:p>
                      <a:pPr marL="0" marR="0" lvl="0" indent="0" algn="l" rtl="0">
                        <a:spcBef>
                          <a:spcPts val="0"/>
                        </a:spcBef>
                        <a:spcAft>
                          <a:spcPts val="0"/>
                        </a:spcAft>
                        <a:buNone/>
                      </a:pPr>
                      <a:r>
                        <a:rPr lang="en-US" sz="2000" b="1" u="none" strike="noStrike"/>
                        <a:t>Method</a:t>
                      </a:r>
                      <a:endParaRPr sz="2000" b="1" i="0" u="none" strike="noStrike">
                        <a:solidFill>
                          <a:srgbClr val="000000"/>
                        </a:solidFill>
                        <a:latin typeface="Calibri"/>
                        <a:ea typeface="Calibri"/>
                        <a:cs typeface="Calibri"/>
                        <a:sym typeface="Calibri"/>
                      </a:endParaRPr>
                    </a:p>
                  </a:txBody>
                  <a:tcPr marL="8950" marR="8950" marT="8950" marB="0" anchor="b">
                    <a:solidFill>
                      <a:schemeClr val="accent2"/>
                    </a:solidFill>
                  </a:tcPr>
                </a:tc>
                <a:tc>
                  <a:txBody>
                    <a:bodyPr/>
                    <a:lstStyle/>
                    <a:p>
                      <a:pPr marL="0" marR="0" lvl="0" indent="0" algn="l" rtl="0">
                        <a:spcBef>
                          <a:spcPts val="0"/>
                        </a:spcBef>
                        <a:spcAft>
                          <a:spcPts val="0"/>
                        </a:spcAft>
                        <a:buNone/>
                      </a:pPr>
                      <a:r>
                        <a:rPr lang="en-US" sz="2000" b="1" u="none" strike="noStrike"/>
                        <a:t>Description</a:t>
                      </a:r>
                      <a:endParaRPr sz="2000" b="1" i="0" u="none" strike="noStrike">
                        <a:solidFill>
                          <a:srgbClr val="000000"/>
                        </a:solidFill>
                        <a:latin typeface="Calibri"/>
                        <a:ea typeface="Calibri"/>
                        <a:cs typeface="Calibri"/>
                        <a:sym typeface="Calibri"/>
                      </a:endParaRPr>
                    </a:p>
                  </a:txBody>
                  <a:tcPr marL="8950" marR="8950" marT="8950" marB="0" anchor="b">
                    <a:solidFill>
                      <a:schemeClr val="accent2"/>
                    </a:solidFill>
                  </a:tcPr>
                </a:tc>
                <a:extLst>
                  <a:ext uri="{0D108BD9-81ED-4DB2-BD59-A6C34878D82A}">
                    <a16:rowId xmlns:a16="http://schemas.microsoft.com/office/drawing/2014/main" val="10000"/>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boolean removeFirstOccurrence(Object o)</a:t>
                      </a:r>
                      <a:endParaRPr/>
                    </a:p>
                  </a:txBody>
                  <a:tcPr marL="9525" marR="9525" marT="9525"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remove the first occurrence of the specified element in a list (when traversing the list from head to tail).</a:t>
                      </a:r>
                      <a:endParaRPr/>
                    </a:p>
                  </a:txBody>
                  <a:tcPr marL="9525" marR="9525" marT="9525" marB="0" anchor="b">
                    <a:solidFill>
                      <a:srgbClr val="FBE4D4"/>
                    </a:solidFill>
                  </a:tcPr>
                </a:tc>
                <a:extLst>
                  <a:ext uri="{0D108BD9-81ED-4DB2-BD59-A6C34878D82A}">
                    <a16:rowId xmlns:a16="http://schemas.microsoft.com/office/drawing/2014/main" val="10001"/>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 removeLast()</a:t>
                      </a:r>
                      <a:endParaRPr/>
                    </a:p>
                  </a:txBody>
                  <a:tcPr marL="9525" marR="9525" marT="9525" marB="0" anchor="b"/>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removes and returns the last element from a list.</a:t>
                      </a:r>
                      <a:endParaRPr/>
                    </a:p>
                  </a:txBody>
                  <a:tcPr marL="9525" marR="9525" marT="9525" marB="0" anchor="b"/>
                </a:tc>
                <a:extLst>
                  <a:ext uri="{0D108BD9-81ED-4DB2-BD59-A6C34878D82A}">
                    <a16:rowId xmlns:a16="http://schemas.microsoft.com/office/drawing/2014/main" val="10002"/>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boolean removeLastOccurrence(Object o)</a:t>
                      </a:r>
                      <a:endParaRPr/>
                    </a:p>
                  </a:txBody>
                  <a:tcPr marL="9525" marR="9525" marT="9525"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removes the last occurrence of the specified element in a list (when traversing the list from head to tail).</a:t>
                      </a:r>
                      <a:endParaRPr/>
                    </a:p>
                  </a:txBody>
                  <a:tcPr marL="9525" marR="9525" marT="9525" marB="0" anchor="b">
                    <a:solidFill>
                      <a:srgbClr val="FBE4D4"/>
                    </a:solidFill>
                  </a:tcPr>
                </a:tc>
                <a:extLst>
                  <a:ext uri="{0D108BD9-81ED-4DB2-BD59-A6C34878D82A}">
                    <a16:rowId xmlns:a16="http://schemas.microsoft.com/office/drawing/2014/main" val="10003"/>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 set(int index, E element)</a:t>
                      </a:r>
                      <a:endParaRPr/>
                    </a:p>
                  </a:txBody>
                  <a:tcPr marL="9525" marR="9525" marT="9525" marB="0" anchor="b"/>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replaces the element at the specified position in a list with the specified element.</a:t>
                      </a:r>
                      <a:endParaRPr/>
                    </a:p>
                  </a:txBody>
                  <a:tcPr marL="9525" marR="9525" marT="9525" marB="0" anchor="b"/>
                </a:tc>
                <a:extLst>
                  <a:ext uri="{0D108BD9-81ED-4DB2-BD59-A6C34878D82A}">
                    <a16:rowId xmlns:a16="http://schemas.microsoft.com/office/drawing/2014/main" val="10004"/>
                  </a:ext>
                </a:extLst>
              </a:tr>
              <a:tr h="368025">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int size()</a:t>
                      </a:r>
                      <a:endParaRPr/>
                    </a:p>
                  </a:txBody>
                  <a:tcPr marL="9525" marR="9525" marT="9525"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return the number of elements in a list.</a:t>
                      </a:r>
                      <a:endParaRPr/>
                    </a:p>
                  </a:txBody>
                  <a:tcPr marL="9525" marR="9525" marT="9525" marB="0" anchor="b">
                    <a:solidFill>
                      <a:srgbClr val="FBE4D4"/>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pic>
        <p:nvPicPr>
          <p:cNvPr id="602" name="Google Shape;602;p31"/>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603" name="Google Shape;603;p31"/>
          <p:cNvGrpSpPr/>
          <p:nvPr/>
        </p:nvGrpSpPr>
        <p:grpSpPr>
          <a:xfrm>
            <a:off x="118191" y="106018"/>
            <a:ext cx="1498574" cy="904328"/>
            <a:chOff x="862157" y="4413681"/>
            <a:chExt cx="2570156" cy="1560001"/>
          </a:xfrm>
        </p:grpSpPr>
        <p:pic>
          <p:nvPicPr>
            <p:cNvPr id="604" name="Google Shape;604;p31"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605" name="Google Shape;605;p31"/>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606" name="Google Shape;606;p31"/>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Array List vs Linked List</a:t>
            </a:r>
            <a:endParaRPr/>
          </a:p>
        </p:txBody>
      </p:sp>
      <p:graphicFrame>
        <p:nvGraphicFramePr>
          <p:cNvPr id="607" name="Google Shape;607;p31"/>
          <p:cNvGraphicFramePr/>
          <p:nvPr/>
        </p:nvGraphicFramePr>
        <p:xfrm>
          <a:off x="867478" y="1126437"/>
          <a:ext cx="3000000" cy="3000000"/>
        </p:xfrm>
        <a:graphic>
          <a:graphicData uri="http://schemas.openxmlformats.org/drawingml/2006/table">
            <a:tbl>
              <a:tblPr firstRow="1" firstCol="1" bandRow="1">
                <a:noFill/>
                <a:tableStyleId>{B9160D5A-F4D8-4355-9011-09AB1966FD5C}</a:tableStyleId>
              </a:tblPr>
              <a:tblGrid>
                <a:gridCol w="5406000">
                  <a:extLst>
                    <a:ext uri="{9D8B030D-6E8A-4147-A177-3AD203B41FA5}">
                      <a16:colId xmlns:a16="http://schemas.microsoft.com/office/drawing/2014/main" val="20000"/>
                    </a:ext>
                  </a:extLst>
                </a:gridCol>
                <a:gridCol w="5513775">
                  <a:extLst>
                    <a:ext uri="{9D8B030D-6E8A-4147-A177-3AD203B41FA5}">
                      <a16:colId xmlns:a16="http://schemas.microsoft.com/office/drawing/2014/main" val="20001"/>
                    </a:ext>
                  </a:extLst>
                </a:gridCol>
              </a:tblGrid>
              <a:tr h="318400">
                <a:tc>
                  <a:txBody>
                    <a:bodyPr/>
                    <a:lstStyle/>
                    <a:p>
                      <a:pPr marL="0" marR="0" lvl="0" indent="0" algn="ctr" rtl="0">
                        <a:spcBef>
                          <a:spcPts val="0"/>
                        </a:spcBef>
                        <a:spcAft>
                          <a:spcPts val="0"/>
                        </a:spcAft>
                        <a:buNone/>
                      </a:pPr>
                      <a:r>
                        <a:rPr lang="en-US" sz="1800" b="1"/>
                        <a:t>ArrayList</a:t>
                      </a:r>
                      <a:endParaRPr sz="1800" b="1">
                        <a:latin typeface="Calibri"/>
                        <a:ea typeface="Calibri"/>
                        <a:cs typeface="Calibri"/>
                        <a:sym typeface="Calibri"/>
                      </a:endParaRPr>
                    </a:p>
                  </a:txBody>
                  <a:tcPr marL="68575" marR="68575" marT="0" marB="0">
                    <a:solidFill>
                      <a:schemeClr val="accent6"/>
                    </a:solidFill>
                  </a:tcPr>
                </a:tc>
                <a:tc>
                  <a:txBody>
                    <a:bodyPr/>
                    <a:lstStyle/>
                    <a:p>
                      <a:pPr marL="0" marR="0" lvl="0" indent="0" algn="ctr" rtl="0">
                        <a:spcBef>
                          <a:spcPts val="0"/>
                        </a:spcBef>
                        <a:spcAft>
                          <a:spcPts val="0"/>
                        </a:spcAft>
                        <a:buNone/>
                      </a:pPr>
                      <a:r>
                        <a:rPr lang="en-US" sz="1800" b="1"/>
                        <a:t>LinkedList</a:t>
                      </a:r>
                      <a:endParaRPr sz="1800" b="1">
                        <a:latin typeface="Calibri"/>
                        <a:ea typeface="Calibri"/>
                        <a:cs typeface="Calibri"/>
                        <a:sym typeface="Calibri"/>
                      </a:endParaRPr>
                    </a:p>
                  </a:txBody>
                  <a:tcPr marL="68575" marR="68575" marT="0" marB="0">
                    <a:solidFill>
                      <a:schemeClr val="accent6"/>
                    </a:solidFill>
                  </a:tcPr>
                </a:tc>
                <a:extLst>
                  <a:ext uri="{0D108BD9-81ED-4DB2-BD59-A6C34878D82A}">
                    <a16:rowId xmlns:a16="http://schemas.microsoft.com/office/drawing/2014/main" val="10000"/>
                  </a:ext>
                </a:extLst>
              </a:tr>
              <a:tr h="636775">
                <a:tc>
                  <a:txBody>
                    <a:bodyPr/>
                    <a:lstStyle/>
                    <a:p>
                      <a:pPr marL="0" marR="0" lvl="0" indent="0" algn="l" rtl="0">
                        <a:spcBef>
                          <a:spcPts val="0"/>
                        </a:spcBef>
                        <a:spcAft>
                          <a:spcPts val="0"/>
                        </a:spcAft>
                        <a:buNone/>
                      </a:pPr>
                      <a:r>
                        <a:rPr lang="en-US" sz="1800" b="1">
                          <a:solidFill>
                            <a:schemeClr val="dk1"/>
                          </a:solidFill>
                        </a:rPr>
                        <a:t>ArrayList internally uses a dynamic array (growable/resizable) to store the elements.</a:t>
                      </a:r>
                      <a:endParaRPr sz="1800" b="1">
                        <a:solidFill>
                          <a:schemeClr val="dk1"/>
                        </a:solidFill>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800" b="1"/>
                        <a:t>LinkedList internally uses a doubly linked list to store the elements.</a:t>
                      </a:r>
                      <a:endParaRPr sz="1800" b="1">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1"/>
                  </a:ext>
                </a:extLst>
              </a:tr>
              <a:tr h="318400">
                <a:tc>
                  <a:txBody>
                    <a:bodyPr/>
                    <a:lstStyle/>
                    <a:p>
                      <a:pPr marL="0" marR="0" lvl="0" indent="0" algn="l" rtl="0">
                        <a:spcBef>
                          <a:spcPts val="0"/>
                        </a:spcBef>
                        <a:spcAft>
                          <a:spcPts val="0"/>
                        </a:spcAft>
                        <a:buNone/>
                      </a:pPr>
                      <a:r>
                        <a:rPr lang="en-US" sz="1800" b="1">
                          <a:solidFill>
                            <a:schemeClr val="dk1"/>
                          </a:solidFill>
                        </a:rPr>
                        <a:t>Data is stored in the form of array.</a:t>
                      </a:r>
                      <a:endParaRPr sz="1800" b="1">
                        <a:solidFill>
                          <a:schemeClr val="dk1"/>
                        </a:solidFill>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800" b="1"/>
                        <a:t>Data is stored in the form of node.</a:t>
                      </a:r>
                      <a:endParaRPr sz="1800" b="1">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2"/>
                  </a:ext>
                </a:extLst>
              </a:tr>
              <a:tr h="636775">
                <a:tc>
                  <a:txBody>
                    <a:bodyPr/>
                    <a:lstStyle/>
                    <a:p>
                      <a:pPr marL="0" marR="0" lvl="0" indent="0" algn="l" rtl="0">
                        <a:spcBef>
                          <a:spcPts val="0"/>
                        </a:spcBef>
                        <a:spcAft>
                          <a:spcPts val="0"/>
                        </a:spcAft>
                        <a:buNone/>
                      </a:pPr>
                      <a:r>
                        <a:rPr lang="en-US" sz="1800" b="1">
                          <a:solidFill>
                            <a:schemeClr val="dk1"/>
                          </a:solidFill>
                        </a:rPr>
                        <a:t>Initial Capacity and Incremental Capacity is applicable.</a:t>
                      </a:r>
                      <a:endParaRPr sz="1800" b="1">
                        <a:solidFill>
                          <a:schemeClr val="dk1"/>
                        </a:solidFill>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800" b="1"/>
                        <a:t>Initial Capacity and Incremental Capacity is not applicable.</a:t>
                      </a:r>
                      <a:endParaRPr sz="1800" b="1">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3"/>
                  </a:ext>
                </a:extLst>
              </a:tr>
              <a:tr h="1273550">
                <a:tc>
                  <a:txBody>
                    <a:bodyPr/>
                    <a:lstStyle/>
                    <a:p>
                      <a:pPr marL="0" marR="0" lvl="0" indent="0" algn="l" rtl="0">
                        <a:spcBef>
                          <a:spcPts val="0"/>
                        </a:spcBef>
                        <a:spcAft>
                          <a:spcPts val="0"/>
                        </a:spcAft>
                        <a:buNone/>
                      </a:pPr>
                      <a:r>
                        <a:rPr lang="en-US" sz="1800" b="1">
                          <a:solidFill>
                            <a:schemeClr val="dk1"/>
                          </a:solidFill>
                        </a:rPr>
                        <a:t>Involves shift operations. That is manipulation with ArrayList is slow because it internally uses an array and If any element is removed from the array, all the bits are shifted in memory.</a:t>
                      </a:r>
                      <a:endParaRPr sz="1800" b="1">
                        <a:solidFill>
                          <a:schemeClr val="dk1"/>
                        </a:solidFill>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800" b="1"/>
                        <a:t>Does not involves any shift operations. That is manipulation with LinkedList is faster than ArrayList because it uses a doubly linked list, so no bit shifting is required in memory.</a:t>
                      </a:r>
                      <a:endParaRPr sz="1800" b="1">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4"/>
                  </a:ext>
                </a:extLst>
              </a:tr>
              <a:tr h="318400">
                <a:tc>
                  <a:txBody>
                    <a:bodyPr/>
                    <a:lstStyle/>
                    <a:p>
                      <a:pPr marL="0" marR="0" lvl="0" indent="0" algn="l" rtl="0">
                        <a:spcBef>
                          <a:spcPts val="0"/>
                        </a:spcBef>
                        <a:spcAft>
                          <a:spcPts val="0"/>
                        </a:spcAft>
                        <a:buNone/>
                      </a:pPr>
                      <a:r>
                        <a:rPr lang="en-US" sz="1800" b="1">
                          <a:solidFill>
                            <a:schemeClr val="dk1"/>
                          </a:solidFill>
                        </a:rPr>
                        <a:t>Has three overloaded constructors.</a:t>
                      </a:r>
                      <a:endParaRPr sz="1800" b="1">
                        <a:solidFill>
                          <a:schemeClr val="dk1"/>
                        </a:solidFill>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800" b="1"/>
                        <a:t>Has two overloaded constructors.</a:t>
                      </a:r>
                      <a:endParaRPr sz="1800" b="1">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5"/>
                  </a:ext>
                </a:extLst>
              </a:tr>
              <a:tr h="318400">
                <a:tc>
                  <a:txBody>
                    <a:bodyPr/>
                    <a:lstStyle/>
                    <a:p>
                      <a:pPr marL="0" marR="0" lvl="0" indent="0" algn="l" rtl="0">
                        <a:spcBef>
                          <a:spcPts val="0"/>
                        </a:spcBef>
                        <a:spcAft>
                          <a:spcPts val="0"/>
                        </a:spcAft>
                        <a:buNone/>
                      </a:pPr>
                      <a:r>
                        <a:rPr lang="en-US" sz="1800" b="1">
                          <a:solidFill>
                            <a:schemeClr val="dk1"/>
                          </a:solidFill>
                        </a:rPr>
                        <a:t>Memory is continuous.</a:t>
                      </a:r>
                      <a:endParaRPr sz="1800" b="1">
                        <a:solidFill>
                          <a:schemeClr val="dk1"/>
                        </a:solidFill>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800" b="1"/>
                        <a:t>Memory may not be continuous.</a:t>
                      </a:r>
                      <a:endParaRPr sz="1800" b="1">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6"/>
                  </a:ext>
                </a:extLst>
              </a:tr>
              <a:tr h="636775">
                <a:tc>
                  <a:txBody>
                    <a:bodyPr/>
                    <a:lstStyle/>
                    <a:p>
                      <a:pPr marL="0" marR="0" lvl="0" indent="0" algn="l" rtl="0">
                        <a:spcBef>
                          <a:spcPts val="0"/>
                        </a:spcBef>
                        <a:spcAft>
                          <a:spcPts val="0"/>
                        </a:spcAft>
                        <a:buNone/>
                      </a:pPr>
                      <a:r>
                        <a:rPr lang="en-US" sz="1800" b="1">
                          <a:solidFill>
                            <a:schemeClr val="dk1"/>
                          </a:solidFill>
                        </a:rPr>
                        <a:t>An ArrayList class can act as a list only because it implements List only.</a:t>
                      </a:r>
                      <a:endParaRPr sz="1800" b="1">
                        <a:solidFill>
                          <a:schemeClr val="dk1"/>
                        </a:solidFill>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800" b="1"/>
                        <a:t>LinkedList class can act as a list and queue both because it implements List and Deque interfaces.</a:t>
                      </a:r>
                      <a:endParaRPr sz="1800" b="1">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7"/>
                  </a:ext>
                </a:extLst>
              </a:tr>
              <a:tr h="636775">
                <a:tc>
                  <a:txBody>
                    <a:bodyPr/>
                    <a:lstStyle/>
                    <a:p>
                      <a:pPr marL="0" marR="0" lvl="0" indent="0" algn="l" rtl="0">
                        <a:spcBef>
                          <a:spcPts val="0"/>
                        </a:spcBef>
                        <a:spcAft>
                          <a:spcPts val="0"/>
                        </a:spcAft>
                        <a:buNone/>
                      </a:pPr>
                      <a:r>
                        <a:rPr lang="en-US" sz="1800" b="1">
                          <a:solidFill>
                            <a:schemeClr val="dk1"/>
                          </a:solidFill>
                        </a:rPr>
                        <a:t>ArrayList is better for storing and accessing data.</a:t>
                      </a:r>
                      <a:endParaRPr sz="1800" b="1">
                        <a:solidFill>
                          <a:schemeClr val="dk1"/>
                        </a:solidFill>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800" b="1"/>
                        <a:t>LinkedList is better for manipulating data. (Insertion or removal of data in between)</a:t>
                      </a:r>
                      <a:endParaRPr sz="1800" b="1">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8"/>
                  </a:ext>
                </a:extLst>
              </a:tr>
              <a:tr h="318400">
                <a:tc>
                  <a:txBody>
                    <a:bodyPr/>
                    <a:lstStyle/>
                    <a:p>
                      <a:pPr marL="0" marR="0" lvl="0" indent="0" algn="l" rtl="0">
                        <a:spcBef>
                          <a:spcPts val="0"/>
                        </a:spcBef>
                        <a:spcAft>
                          <a:spcPts val="0"/>
                        </a:spcAft>
                        <a:buNone/>
                      </a:pPr>
                      <a:r>
                        <a:rPr lang="en-US" sz="1800" b="1">
                          <a:solidFill>
                            <a:schemeClr val="dk1"/>
                          </a:solidFill>
                        </a:rPr>
                        <a:t>Consumes less memory.</a:t>
                      </a:r>
                      <a:endParaRPr sz="1800" b="1">
                        <a:solidFill>
                          <a:schemeClr val="dk1"/>
                        </a:solidFill>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800" b="1"/>
                        <a:t>Consumes more memory.</a:t>
                      </a:r>
                      <a:endParaRPr sz="1800" b="1">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pic>
        <p:nvPicPr>
          <p:cNvPr id="612" name="Google Shape;612;p32"/>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613" name="Google Shape;613;p32"/>
          <p:cNvGrpSpPr/>
          <p:nvPr/>
        </p:nvGrpSpPr>
        <p:grpSpPr>
          <a:xfrm>
            <a:off x="118191" y="106018"/>
            <a:ext cx="1498574" cy="904328"/>
            <a:chOff x="862157" y="4413681"/>
            <a:chExt cx="2570156" cy="1560001"/>
          </a:xfrm>
        </p:grpSpPr>
        <p:pic>
          <p:nvPicPr>
            <p:cNvPr id="614" name="Google Shape;614;p32"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615" name="Google Shape;615;p32"/>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616" name="Google Shape;616;p32"/>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Linked List</a:t>
            </a:r>
            <a:endParaRPr/>
          </a:p>
        </p:txBody>
      </p:sp>
      <p:sp>
        <p:nvSpPr>
          <p:cNvPr id="617" name="Google Shape;617;p32"/>
          <p:cNvSpPr txBox="1"/>
          <p:nvPr/>
        </p:nvSpPr>
        <p:spPr>
          <a:xfrm>
            <a:off x="438533" y="2084363"/>
            <a:ext cx="11314934"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Write a java program to implement Linked List to Make A Playlist.</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Write a java program to implement Linked List to navigate to Previous and next page in web browser.</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Write a java program to implement Linked List to navigate within the Lift of a given building</a:t>
            </a:r>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p:txBody>
      </p:sp>
      <p:sp>
        <p:nvSpPr>
          <p:cNvPr id="618" name="Google Shape;618;p32"/>
          <p:cNvSpPr txBox="1"/>
          <p:nvPr/>
        </p:nvSpPr>
        <p:spPr>
          <a:xfrm>
            <a:off x="5299500" y="1061431"/>
            <a:ext cx="183095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1"/>
                </a:solidFill>
                <a:latin typeface="Calibri"/>
                <a:ea typeface="Calibri"/>
                <a:cs typeface="Calibri"/>
                <a:sym typeface="Calibri"/>
              </a:rPr>
              <a:t>Scenario</a:t>
            </a:r>
            <a:endParaRPr sz="36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33"/>
          <p:cNvSpPr/>
          <p:nvPr/>
        </p:nvSpPr>
        <p:spPr>
          <a:xfrm>
            <a:off x="1" y="0"/>
            <a:ext cx="3897442" cy="6858000"/>
          </a:xfrm>
          <a:prstGeom prst="rect">
            <a:avLst/>
          </a:pr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4" name="Google Shape;624;p33"/>
          <p:cNvSpPr txBox="1"/>
          <p:nvPr/>
        </p:nvSpPr>
        <p:spPr>
          <a:xfrm>
            <a:off x="1151292" y="237372"/>
            <a:ext cx="15948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Topics</a:t>
            </a:r>
            <a:endParaRPr/>
          </a:p>
        </p:txBody>
      </p:sp>
      <p:sp>
        <p:nvSpPr>
          <p:cNvPr id="625" name="Google Shape;625;p33"/>
          <p:cNvSpPr txBox="1"/>
          <p:nvPr/>
        </p:nvSpPr>
        <p:spPr>
          <a:xfrm>
            <a:off x="5989419" y="2721114"/>
            <a:ext cx="248895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61628"/>
                </a:solidFill>
                <a:latin typeface="Calibri"/>
                <a:ea typeface="Calibri"/>
                <a:cs typeface="Calibri"/>
                <a:sym typeface="Calibri"/>
              </a:rPr>
              <a:t>04	Vector</a:t>
            </a:r>
            <a:endParaRPr/>
          </a:p>
        </p:txBody>
      </p:sp>
      <p:pic>
        <p:nvPicPr>
          <p:cNvPr id="626" name="Google Shape;626;p33"/>
          <p:cNvPicPr preferRelativeResize="0"/>
          <p:nvPr/>
        </p:nvPicPr>
        <p:blipFill rotWithShape="1">
          <a:blip r:embed="rId3">
            <a:alphaModFix/>
          </a:blip>
          <a:srcRect l="25290" t="6287" r="23678" b="6958"/>
          <a:stretch/>
        </p:blipFill>
        <p:spPr>
          <a:xfrm>
            <a:off x="957407" y="1890227"/>
            <a:ext cx="1637034" cy="2782957"/>
          </a:xfrm>
          <a:prstGeom prst="rect">
            <a:avLst/>
          </a:prstGeom>
          <a:noFill/>
          <a:ln>
            <a:noFill/>
          </a:ln>
        </p:spPr>
      </p:pic>
      <p:sp>
        <p:nvSpPr>
          <p:cNvPr id="627" name="Google Shape;627;p33"/>
          <p:cNvSpPr txBox="1"/>
          <p:nvPr/>
        </p:nvSpPr>
        <p:spPr>
          <a:xfrm>
            <a:off x="4784035" y="0"/>
            <a:ext cx="564755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rgbClr val="261628"/>
                </a:solidFill>
                <a:latin typeface="Calibri"/>
                <a:ea typeface="Calibri"/>
                <a:cs typeface="Calibri"/>
                <a:sym typeface="Calibri"/>
              </a:rPr>
              <a:t>Collection Framework</a:t>
            </a:r>
            <a:endParaRPr/>
          </a:p>
        </p:txBody>
      </p:sp>
      <p:grpSp>
        <p:nvGrpSpPr>
          <p:cNvPr id="628" name="Google Shape;628;p33"/>
          <p:cNvGrpSpPr/>
          <p:nvPr/>
        </p:nvGrpSpPr>
        <p:grpSpPr>
          <a:xfrm>
            <a:off x="485505" y="4776597"/>
            <a:ext cx="2570156" cy="1560001"/>
            <a:chOff x="862157" y="4413681"/>
            <a:chExt cx="2570156" cy="1560001"/>
          </a:xfrm>
        </p:grpSpPr>
        <p:pic>
          <p:nvPicPr>
            <p:cNvPr id="629" name="Google Shape;629;p33"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630" name="Google Shape;630;p33"/>
            <p:cNvSpPr/>
            <p:nvPr/>
          </p:nvSpPr>
          <p:spPr>
            <a:xfrm>
              <a:off x="862157" y="4413681"/>
              <a:ext cx="2570156" cy="372346"/>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1">
                  <a:solidFill>
                    <a:schemeClr val="lt1"/>
                  </a:solidFill>
                  <a:latin typeface="Roboto"/>
                  <a:ea typeface="Roboto"/>
                  <a:cs typeface="Roboto"/>
                  <a:sym typeface="Roboto"/>
                </a:rPr>
                <a:t>Collection Framework</a:t>
              </a:r>
              <a:endParaRPr/>
            </a:p>
          </p:txBody>
        </p:sp>
      </p:gr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pic>
        <p:nvPicPr>
          <p:cNvPr id="635" name="Google Shape;635;p34"/>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636" name="Google Shape;636;p34"/>
          <p:cNvGrpSpPr/>
          <p:nvPr/>
        </p:nvGrpSpPr>
        <p:grpSpPr>
          <a:xfrm>
            <a:off x="118191" y="106018"/>
            <a:ext cx="1498574" cy="904328"/>
            <a:chOff x="862157" y="4413681"/>
            <a:chExt cx="2570156" cy="1560001"/>
          </a:xfrm>
        </p:grpSpPr>
        <p:pic>
          <p:nvPicPr>
            <p:cNvPr id="637" name="Google Shape;637;p34"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638" name="Google Shape;638;p34"/>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639" name="Google Shape;639;p34"/>
          <p:cNvSpPr/>
          <p:nvPr/>
        </p:nvSpPr>
        <p:spPr>
          <a:xfrm>
            <a:off x="5105959" y="562846"/>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Collection</a:t>
            </a:r>
            <a:endParaRPr/>
          </a:p>
        </p:txBody>
      </p:sp>
      <p:sp>
        <p:nvSpPr>
          <p:cNvPr id="640" name="Google Shape;640;p34"/>
          <p:cNvSpPr/>
          <p:nvPr/>
        </p:nvSpPr>
        <p:spPr>
          <a:xfrm>
            <a:off x="5105961" y="2247892"/>
            <a:ext cx="1868557" cy="614578"/>
          </a:xfrm>
          <a:prstGeom prst="rect">
            <a:avLst/>
          </a:prstGeom>
          <a:solidFill>
            <a:schemeClr val="accent1">
              <a:alpha val="49803"/>
            </a:schemeClr>
          </a:solid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List (1.2)</a:t>
            </a:r>
            <a:endParaRPr/>
          </a:p>
        </p:txBody>
      </p:sp>
      <p:sp>
        <p:nvSpPr>
          <p:cNvPr id="641" name="Google Shape;641;p34"/>
          <p:cNvSpPr/>
          <p:nvPr/>
        </p:nvSpPr>
        <p:spPr>
          <a:xfrm>
            <a:off x="1536233" y="3434917"/>
            <a:ext cx="1124132" cy="490330"/>
          </a:xfrm>
          <a:prstGeom prst="rect">
            <a:avLst/>
          </a:prstGeom>
          <a:solidFill>
            <a:schemeClr val="accent1">
              <a:alpha val="49803"/>
            </a:schemeClr>
          </a:solidFill>
          <a:ln w="38100" cap="flat" cmpd="sng">
            <a:solidFill>
              <a:srgbClr val="95A5A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ArrayList (1.2)</a:t>
            </a:r>
            <a:endParaRPr/>
          </a:p>
        </p:txBody>
      </p:sp>
      <p:sp>
        <p:nvSpPr>
          <p:cNvPr id="642" name="Google Shape;642;p34"/>
          <p:cNvSpPr/>
          <p:nvPr/>
        </p:nvSpPr>
        <p:spPr>
          <a:xfrm>
            <a:off x="5478172" y="3434917"/>
            <a:ext cx="1124133" cy="490330"/>
          </a:xfrm>
          <a:prstGeom prst="rect">
            <a:avLst/>
          </a:prstGeom>
          <a:solidFill>
            <a:schemeClr val="accent1">
              <a:alpha val="49803"/>
            </a:schemeClr>
          </a:solidFill>
          <a:ln w="38100" cap="flat" cmpd="sng">
            <a:solidFill>
              <a:srgbClr val="A1B8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LinkedList(1.2)</a:t>
            </a:r>
            <a:endParaRPr/>
          </a:p>
        </p:txBody>
      </p:sp>
      <p:sp>
        <p:nvSpPr>
          <p:cNvPr id="643" name="Google Shape;643;p34"/>
          <p:cNvSpPr/>
          <p:nvPr/>
        </p:nvSpPr>
        <p:spPr>
          <a:xfrm>
            <a:off x="8636126" y="3537764"/>
            <a:ext cx="1124133" cy="490330"/>
          </a:xfrm>
          <a:prstGeom prst="rect">
            <a:avLst/>
          </a:prstGeom>
          <a:solidFill>
            <a:schemeClr val="accent1">
              <a:alpha val="49803"/>
            </a:schemeClr>
          </a:solid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Vector (1.0)</a:t>
            </a:r>
            <a:endParaRPr/>
          </a:p>
        </p:txBody>
      </p:sp>
      <p:sp>
        <p:nvSpPr>
          <p:cNvPr id="644" name="Google Shape;644;p34"/>
          <p:cNvSpPr/>
          <p:nvPr/>
        </p:nvSpPr>
        <p:spPr>
          <a:xfrm>
            <a:off x="8636127" y="5522375"/>
            <a:ext cx="1124133" cy="490330"/>
          </a:xfrm>
          <a:prstGeom prst="rect">
            <a:avLst/>
          </a:prstGeom>
          <a:solidFill>
            <a:schemeClr val="accen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Stack (1.0)</a:t>
            </a:r>
            <a:endParaRPr/>
          </a:p>
        </p:txBody>
      </p:sp>
      <p:cxnSp>
        <p:nvCxnSpPr>
          <p:cNvPr id="645" name="Google Shape;645;p34"/>
          <p:cNvCxnSpPr>
            <a:stCxn id="644" idx="0"/>
            <a:endCxn id="643" idx="2"/>
          </p:cNvCxnSpPr>
          <p:nvPr/>
        </p:nvCxnSpPr>
        <p:spPr>
          <a:xfrm rot="10800000">
            <a:off x="9198194" y="4028075"/>
            <a:ext cx="0" cy="1494300"/>
          </a:xfrm>
          <a:prstGeom prst="straightConnector1">
            <a:avLst/>
          </a:prstGeom>
          <a:noFill/>
          <a:ln w="28575" cap="flat" cmpd="sng">
            <a:solidFill>
              <a:schemeClr val="dk1"/>
            </a:solidFill>
            <a:prstDash val="solid"/>
            <a:miter lim="800000"/>
            <a:headEnd type="none" w="sm" len="sm"/>
            <a:tailEnd type="triangle" w="med" len="med"/>
          </a:ln>
        </p:spPr>
      </p:cxnSp>
      <p:cxnSp>
        <p:nvCxnSpPr>
          <p:cNvPr id="646" name="Google Shape;646;p34"/>
          <p:cNvCxnSpPr>
            <a:stCxn id="641" idx="0"/>
            <a:endCxn id="640" idx="2"/>
          </p:cNvCxnSpPr>
          <p:nvPr/>
        </p:nvCxnSpPr>
        <p:spPr>
          <a:xfrm rot="10800000" flipH="1">
            <a:off x="2098299" y="2862517"/>
            <a:ext cx="3942000" cy="572400"/>
          </a:xfrm>
          <a:prstGeom prst="straightConnector1">
            <a:avLst/>
          </a:prstGeom>
          <a:noFill/>
          <a:ln w="28575" cap="flat" cmpd="sng">
            <a:solidFill>
              <a:schemeClr val="dk1"/>
            </a:solidFill>
            <a:prstDash val="dash"/>
            <a:miter lim="800000"/>
            <a:headEnd type="none" w="sm" len="sm"/>
            <a:tailEnd type="triangle" w="med" len="med"/>
          </a:ln>
        </p:spPr>
      </p:cxnSp>
      <p:cxnSp>
        <p:nvCxnSpPr>
          <p:cNvPr id="647" name="Google Shape;647;p34"/>
          <p:cNvCxnSpPr>
            <a:stCxn id="642" idx="0"/>
            <a:endCxn id="640" idx="2"/>
          </p:cNvCxnSpPr>
          <p:nvPr/>
        </p:nvCxnSpPr>
        <p:spPr>
          <a:xfrm rot="10800000">
            <a:off x="6040238" y="2862517"/>
            <a:ext cx="0" cy="572400"/>
          </a:xfrm>
          <a:prstGeom prst="straightConnector1">
            <a:avLst/>
          </a:prstGeom>
          <a:noFill/>
          <a:ln w="28575" cap="flat" cmpd="sng">
            <a:solidFill>
              <a:schemeClr val="dk1"/>
            </a:solidFill>
            <a:prstDash val="dash"/>
            <a:miter lim="800000"/>
            <a:headEnd type="none" w="sm" len="sm"/>
            <a:tailEnd type="triangle" w="med" len="med"/>
          </a:ln>
        </p:spPr>
      </p:cxnSp>
      <p:cxnSp>
        <p:nvCxnSpPr>
          <p:cNvPr id="648" name="Google Shape;648;p34"/>
          <p:cNvCxnSpPr>
            <a:stCxn id="643" idx="0"/>
            <a:endCxn id="640" idx="2"/>
          </p:cNvCxnSpPr>
          <p:nvPr/>
        </p:nvCxnSpPr>
        <p:spPr>
          <a:xfrm rot="10800000">
            <a:off x="6040092" y="2862464"/>
            <a:ext cx="3158100" cy="675300"/>
          </a:xfrm>
          <a:prstGeom prst="straightConnector1">
            <a:avLst/>
          </a:prstGeom>
          <a:noFill/>
          <a:ln w="28575" cap="flat" cmpd="sng">
            <a:solidFill>
              <a:schemeClr val="dk1"/>
            </a:solidFill>
            <a:prstDash val="dash"/>
            <a:miter lim="800000"/>
            <a:headEnd type="none" w="sm" len="sm"/>
            <a:tailEnd type="triangle" w="med" len="med"/>
          </a:ln>
        </p:spPr>
      </p:cxnSp>
      <p:cxnSp>
        <p:nvCxnSpPr>
          <p:cNvPr id="649" name="Google Shape;649;p34"/>
          <p:cNvCxnSpPr>
            <a:stCxn id="640" idx="0"/>
            <a:endCxn id="639" idx="2"/>
          </p:cNvCxnSpPr>
          <p:nvPr/>
        </p:nvCxnSpPr>
        <p:spPr>
          <a:xfrm rot="10800000">
            <a:off x="6040239" y="1106392"/>
            <a:ext cx="0" cy="1141500"/>
          </a:xfrm>
          <a:prstGeom prst="straightConnector1">
            <a:avLst/>
          </a:prstGeom>
          <a:noFill/>
          <a:ln w="28575" cap="flat" cmpd="sng">
            <a:solidFill>
              <a:schemeClr val="dk1"/>
            </a:solidFill>
            <a:prstDash val="solid"/>
            <a:miter lim="800000"/>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pic>
        <p:nvPicPr>
          <p:cNvPr id="654" name="Google Shape;654;p35"/>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655" name="Google Shape;655;p35"/>
          <p:cNvGrpSpPr/>
          <p:nvPr/>
        </p:nvGrpSpPr>
        <p:grpSpPr>
          <a:xfrm>
            <a:off x="118191" y="106018"/>
            <a:ext cx="1498574" cy="904328"/>
            <a:chOff x="862157" y="4413681"/>
            <a:chExt cx="2570156" cy="1560001"/>
          </a:xfrm>
        </p:grpSpPr>
        <p:pic>
          <p:nvPicPr>
            <p:cNvPr id="656" name="Google Shape;656;p35"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657" name="Google Shape;657;p35"/>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658" name="Google Shape;658;p35"/>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Vector</a:t>
            </a:r>
            <a:endParaRPr/>
          </a:p>
        </p:txBody>
      </p:sp>
      <p:sp>
        <p:nvSpPr>
          <p:cNvPr id="659" name="Google Shape;659;p35"/>
          <p:cNvSpPr txBox="1"/>
          <p:nvPr/>
        </p:nvSpPr>
        <p:spPr>
          <a:xfrm>
            <a:off x="479501" y="1010346"/>
            <a:ext cx="11407699" cy="575542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300"/>
              <a:buFont typeface="Noto Sans Symbols"/>
              <a:buChar char="▪"/>
            </a:pPr>
            <a:r>
              <a:rPr lang="en-US" sz="2300" b="1">
                <a:solidFill>
                  <a:schemeClr val="dk1"/>
                </a:solidFill>
                <a:latin typeface="Calibri"/>
                <a:ea typeface="Calibri"/>
                <a:cs typeface="Calibri"/>
                <a:sym typeface="Calibri"/>
              </a:rPr>
              <a:t>Vector class comes under the java.util package. </a:t>
            </a:r>
            <a:endParaRPr/>
          </a:p>
          <a:p>
            <a:pPr marL="342900" marR="0" lvl="0" indent="-196850" algn="l" rtl="0">
              <a:spcBef>
                <a:spcPts val="0"/>
              </a:spcBef>
              <a:spcAft>
                <a:spcPts val="0"/>
              </a:spcAft>
              <a:buClr>
                <a:schemeClr val="dk1"/>
              </a:buClr>
              <a:buSzPts val="2300"/>
              <a:buFont typeface="Noto Sans Symbols"/>
              <a:buNone/>
            </a:pPr>
            <a:endParaRPr sz="23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300"/>
              <a:buFont typeface="Noto Sans Symbols"/>
              <a:buChar char="▪"/>
            </a:pPr>
            <a:r>
              <a:rPr lang="en-US" sz="2300" b="1">
                <a:solidFill>
                  <a:schemeClr val="dk1"/>
                </a:solidFill>
                <a:latin typeface="Calibri"/>
                <a:ea typeface="Calibri"/>
                <a:cs typeface="Calibri"/>
                <a:sym typeface="Calibri"/>
              </a:rPr>
              <a:t>Vector implements a growable array of objects. </a:t>
            </a:r>
            <a:endParaRPr/>
          </a:p>
          <a:p>
            <a:pPr marL="342900" marR="0" lvl="0" indent="-196850" algn="l" rtl="0">
              <a:spcBef>
                <a:spcPts val="0"/>
              </a:spcBef>
              <a:spcAft>
                <a:spcPts val="0"/>
              </a:spcAft>
              <a:buClr>
                <a:schemeClr val="dk1"/>
              </a:buClr>
              <a:buSzPts val="2300"/>
              <a:buFont typeface="Noto Sans Symbols"/>
              <a:buNone/>
            </a:pPr>
            <a:endParaRPr sz="23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300"/>
              <a:buFont typeface="Noto Sans Symbols"/>
              <a:buChar char="▪"/>
            </a:pPr>
            <a:r>
              <a:rPr lang="en-US" sz="2300" b="1">
                <a:solidFill>
                  <a:schemeClr val="dk1"/>
                </a:solidFill>
                <a:latin typeface="Calibri"/>
                <a:ea typeface="Calibri"/>
                <a:cs typeface="Calibri"/>
                <a:sym typeface="Calibri"/>
              </a:rPr>
              <a:t>Like an array, it contains the component that can be accessed using an integer index.</a:t>
            </a:r>
            <a:endParaRPr/>
          </a:p>
          <a:p>
            <a:pPr marL="342900" marR="0" lvl="0" indent="-196850" algn="l" rtl="0">
              <a:spcBef>
                <a:spcPts val="0"/>
              </a:spcBef>
              <a:spcAft>
                <a:spcPts val="0"/>
              </a:spcAft>
              <a:buClr>
                <a:schemeClr val="dk1"/>
              </a:buClr>
              <a:buSzPts val="2300"/>
              <a:buFont typeface="Noto Sans Symbols"/>
              <a:buNone/>
            </a:pPr>
            <a:endParaRPr sz="23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300"/>
              <a:buFont typeface="Noto Sans Symbols"/>
              <a:buChar char="▪"/>
            </a:pPr>
            <a:r>
              <a:rPr lang="en-US" sz="2300" b="1">
                <a:solidFill>
                  <a:schemeClr val="dk1"/>
                </a:solidFill>
                <a:latin typeface="Calibri"/>
                <a:ea typeface="Calibri"/>
                <a:cs typeface="Calibri"/>
                <a:sym typeface="Calibri"/>
              </a:rPr>
              <a:t>Vector is very useful if we don't know the size of an array in advance or we need one that can change the size over the lifetime of a program.</a:t>
            </a:r>
            <a:endParaRPr/>
          </a:p>
          <a:p>
            <a:pPr marL="342900" marR="0" lvl="0" indent="-196850" algn="l" rtl="0">
              <a:spcBef>
                <a:spcPts val="0"/>
              </a:spcBef>
              <a:spcAft>
                <a:spcPts val="0"/>
              </a:spcAft>
              <a:buClr>
                <a:schemeClr val="dk1"/>
              </a:buClr>
              <a:buSzPts val="2300"/>
              <a:buFont typeface="Noto Sans Symbols"/>
              <a:buNone/>
            </a:pPr>
            <a:endParaRPr sz="23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300"/>
              <a:buFont typeface="Noto Sans Symbols"/>
              <a:buChar char="▪"/>
            </a:pPr>
            <a:r>
              <a:rPr lang="en-US" sz="2300" b="1">
                <a:solidFill>
                  <a:schemeClr val="dk1"/>
                </a:solidFill>
                <a:latin typeface="Calibri"/>
                <a:ea typeface="Calibri"/>
                <a:cs typeface="Calibri"/>
                <a:sym typeface="Calibri"/>
              </a:rPr>
              <a:t>Vector implements a dynamic array that means it can grow or shrink as required. </a:t>
            </a:r>
            <a:endParaRPr/>
          </a:p>
          <a:p>
            <a:pPr marL="342900" marR="0" lvl="0" indent="-196850" algn="l" rtl="0">
              <a:spcBef>
                <a:spcPts val="0"/>
              </a:spcBef>
              <a:spcAft>
                <a:spcPts val="0"/>
              </a:spcAft>
              <a:buClr>
                <a:schemeClr val="dk1"/>
              </a:buClr>
              <a:buSzPts val="2300"/>
              <a:buFont typeface="Noto Sans Symbols"/>
              <a:buNone/>
            </a:pPr>
            <a:endParaRPr sz="23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300"/>
              <a:buFont typeface="Noto Sans Symbols"/>
              <a:buChar char="▪"/>
            </a:pPr>
            <a:r>
              <a:rPr lang="en-US" sz="2300" b="1">
                <a:solidFill>
                  <a:schemeClr val="dk1"/>
                </a:solidFill>
                <a:latin typeface="Calibri"/>
                <a:ea typeface="Calibri"/>
                <a:cs typeface="Calibri"/>
                <a:sym typeface="Calibri"/>
              </a:rPr>
              <a:t>It is similar to the ArrayList, but with two differences-</a:t>
            </a:r>
            <a:endParaRPr/>
          </a:p>
          <a:p>
            <a:pPr marL="342900" marR="0" lvl="0" indent="-196850" algn="l" rtl="0">
              <a:spcBef>
                <a:spcPts val="0"/>
              </a:spcBef>
              <a:spcAft>
                <a:spcPts val="0"/>
              </a:spcAft>
              <a:buClr>
                <a:schemeClr val="dk1"/>
              </a:buClr>
              <a:buSzPts val="2300"/>
              <a:buFont typeface="Noto Sans Symbols"/>
              <a:buNone/>
            </a:pPr>
            <a:endParaRPr sz="2300" b="1">
              <a:solidFill>
                <a:schemeClr val="dk1"/>
              </a:solidFill>
              <a:latin typeface="Calibri"/>
              <a:ea typeface="Calibri"/>
              <a:cs typeface="Calibri"/>
              <a:sym typeface="Calibri"/>
            </a:endParaRPr>
          </a:p>
          <a:p>
            <a:pPr marL="1257300" marR="0" lvl="2" indent="-342900" algn="l" rtl="0">
              <a:spcBef>
                <a:spcPts val="0"/>
              </a:spcBef>
              <a:spcAft>
                <a:spcPts val="0"/>
              </a:spcAft>
              <a:buClr>
                <a:schemeClr val="dk1"/>
              </a:buClr>
              <a:buSzPts val="2300"/>
              <a:buFont typeface="Noto Sans Symbols"/>
              <a:buChar char="▪"/>
            </a:pPr>
            <a:r>
              <a:rPr lang="en-US" sz="2300" b="1" i="0" u="none" strike="noStrike" cap="none">
                <a:solidFill>
                  <a:schemeClr val="dk1"/>
                </a:solidFill>
                <a:latin typeface="Calibri"/>
                <a:ea typeface="Calibri"/>
                <a:cs typeface="Calibri"/>
                <a:sym typeface="Calibri"/>
              </a:rPr>
              <a:t>Vector is synchronized.</a:t>
            </a:r>
            <a:endParaRPr/>
          </a:p>
          <a:p>
            <a:pPr marL="1257300" marR="0" lvl="2" indent="-342900" algn="l" rtl="0">
              <a:spcBef>
                <a:spcPts val="0"/>
              </a:spcBef>
              <a:spcAft>
                <a:spcPts val="0"/>
              </a:spcAft>
              <a:buClr>
                <a:schemeClr val="dk1"/>
              </a:buClr>
              <a:buSzPts val="2300"/>
              <a:buFont typeface="Noto Sans Symbols"/>
              <a:buChar char="▪"/>
            </a:pPr>
            <a:r>
              <a:rPr lang="en-US" sz="2300" b="1" i="0" u="none" strike="noStrike" cap="none">
                <a:solidFill>
                  <a:schemeClr val="dk1"/>
                </a:solidFill>
                <a:latin typeface="Calibri"/>
                <a:ea typeface="Calibri"/>
                <a:cs typeface="Calibri"/>
                <a:sym typeface="Calibri"/>
              </a:rPr>
              <a:t>The vector contains many legacy methods that are not the part of a collections framework</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pic>
        <p:nvPicPr>
          <p:cNvPr id="664" name="Google Shape;664;p36"/>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665" name="Google Shape;665;p36"/>
          <p:cNvGrpSpPr/>
          <p:nvPr/>
        </p:nvGrpSpPr>
        <p:grpSpPr>
          <a:xfrm>
            <a:off x="118191" y="106018"/>
            <a:ext cx="1498574" cy="904328"/>
            <a:chOff x="862157" y="4413681"/>
            <a:chExt cx="2570156" cy="1560001"/>
          </a:xfrm>
        </p:grpSpPr>
        <p:pic>
          <p:nvPicPr>
            <p:cNvPr id="666" name="Google Shape;666;p36"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667" name="Google Shape;667;p36"/>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668" name="Google Shape;668;p36"/>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Vector</a:t>
            </a:r>
            <a:endParaRPr/>
          </a:p>
        </p:txBody>
      </p:sp>
      <p:sp>
        <p:nvSpPr>
          <p:cNvPr id="669" name="Google Shape;669;p36"/>
          <p:cNvSpPr txBox="1"/>
          <p:nvPr/>
        </p:nvSpPr>
        <p:spPr>
          <a:xfrm>
            <a:off x="479501" y="1010346"/>
            <a:ext cx="11407699" cy="433965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300"/>
              <a:buFont typeface="Noto Sans Symbols"/>
              <a:buChar char="▪"/>
            </a:pPr>
            <a:r>
              <a:rPr lang="en-US" sz="2300" b="1">
                <a:solidFill>
                  <a:schemeClr val="dk1"/>
                </a:solidFill>
                <a:latin typeface="Calibri"/>
                <a:ea typeface="Calibri"/>
                <a:cs typeface="Calibri"/>
                <a:sym typeface="Calibri"/>
              </a:rPr>
              <a:t>Vector class supports four types of constructors.</a:t>
            </a:r>
            <a:endParaRPr/>
          </a:p>
          <a:p>
            <a:pPr marL="342900" marR="0" lvl="0" indent="-196850" algn="l" rtl="0">
              <a:spcBef>
                <a:spcPts val="0"/>
              </a:spcBef>
              <a:spcAft>
                <a:spcPts val="0"/>
              </a:spcAft>
              <a:buClr>
                <a:schemeClr val="dk1"/>
              </a:buClr>
              <a:buSzPts val="2300"/>
              <a:buFont typeface="Noto Sans Symbols"/>
              <a:buNone/>
            </a:pPr>
            <a:endParaRPr sz="2300" b="1">
              <a:solidFill>
                <a:schemeClr val="dk1"/>
              </a:solidFill>
              <a:latin typeface="Calibri"/>
              <a:ea typeface="Calibri"/>
              <a:cs typeface="Calibri"/>
              <a:sym typeface="Calibri"/>
            </a:endParaRPr>
          </a:p>
          <a:p>
            <a:pPr marL="342900" marR="0" lvl="0" indent="-196850" algn="l" rtl="0">
              <a:spcBef>
                <a:spcPts val="0"/>
              </a:spcBef>
              <a:spcAft>
                <a:spcPts val="0"/>
              </a:spcAft>
              <a:buClr>
                <a:schemeClr val="dk1"/>
              </a:buClr>
              <a:buSzPts val="2300"/>
              <a:buFont typeface="Noto Sans Symbols"/>
              <a:buNone/>
            </a:pPr>
            <a:endParaRPr sz="23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300"/>
              <a:buFont typeface="Noto Sans Symbols"/>
              <a:buChar char="▪"/>
            </a:pPr>
            <a:r>
              <a:rPr lang="en-US" sz="2300" b="1">
                <a:solidFill>
                  <a:schemeClr val="dk1"/>
                </a:solidFill>
                <a:latin typeface="Calibri"/>
                <a:ea typeface="Calibri"/>
                <a:cs typeface="Calibri"/>
                <a:sym typeface="Calibri"/>
              </a:rPr>
              <a:t>vector() </a:t>
            </a:r>
            <a:endParaRPr/>
          </a:p>
          <a:p>
            <a:pPr marL="2171700" marR="0" lvl="4" indent="-342900" algn="l" rtl="0">
              <a:spcBef>
                <a:spcPts val="0"/>
              </a:spcBef>
              <a:spcAft>
                <a:spcPts val="0"/>
              </a:spcAft>
              <a:buClr>
                <a:schemeClr val="dk1"/>
              </a:buClr>
              <a:buSzPts val="2300"/>
              <a:buFont typeface="Noto Sans Symbols"/>
              <a:buChar char="▪"/>
            </a:pPr>
            <a:r>
              <a:rPr lang="en-US" sz="2300" b="1" i="0" u="none" strike="noStrike" cap="none">
                <a:solidFill>
                  <a:schemeClr val="dk1"/>
                </a:solidFill>
                <a:latin typeface="Calibri"/>
                <a:ea typeface="Calibri"/>
                <a:cs typeface="Calibri"/>
                <a:sym typeface="Calibri"/>
              </a:rPr>
              <a:t>– default size will be 10 if this is used.</a:t>
            </a:r>
            <a:endParaRPr/>
          </a:p>
          <a:p>
            <a:pPr marL="342900" marR="0" lvl="0" indent="-342900" algn="l" rtl="0">
              <a:spcBef>
                <a:spcPts val="0"/>
              </a:spcBef>
              <a:spcAft>
                <a:spcPts val="0"/>
              </a:spcAft>
              <a:buClr>
                <a:schemeClr val="dk1"/>
              </a:buClr>
              <a:buSzPts val="2300"/>
              <a:buFont typeface="Noto Sans Symbols"/>
              <a:buChar char="▪"/>
            </a:pPr>
            <a:r>
              <a:rPr lang="en-US" sz="2300" b="1">
                <a:solidFill>
                  <a:schemeClr val="dk1"/>
                </a:solidFill>
                <a:latin typeface="Calibri"/>
                <a:ea typeface="Calibri"/>
                <a:cs typeface="Calibri"/>
                <a:sym typeface="Calibri"/>
              </a:rPr>
              <a:t>vector(int initialCapacity) </a:t>
            </a:r>
            <a:endParaRPr/>
          </a:p>
          <a:p>
            <a:pPr marL="2171700" marR="0" lvl="4" indent="-342900" algn="l" rtl="0">
              <a:spcBef>
                <a:spcPts val="0"/>
              </a:spcBef>
              <a:spcAft>
                <a:spcPts val="0"/>
              </a:spcAft>
              <a:buClr>
                <a:schemeClr val="dk1"/>
              </a:buClr>
              <a:buSzPts val="2300"/>
              <a:buFont typeface="Noto Sans Symbols"/>
              <a:buChar char="▪"/>
            </a:pPr>
            <a:r>
              <a:rPr lang="en-US" sz="2300" b="1" i="0" u="none" strike="noStrike" cap="none">
                <a:solidFill>
                  <a:schemeClr val="dk1"/>
                </a:solidFill>
                <a:latin typeface="Calibri"/>
                <a:ea typeface="Calibri"/>
                <a:cs typeface="Calibri"/>
                <a:sym typeface="Calibri"/>
              </a:rPr>
              <a:t>– initial size is defined by the user, incremental size is 0.</a:t>
            </a:r>
            <a:endParaRPr/>
          </a:p>
          <a:p>
            <a:pPr marL="342900" marR="0" lvl="0" indent="-342900" algn="l" rtl="0">
              <a:spcBef>
                <a:spcPts val="0"/>
              </a:spcBef>
              <a:spcAft>
                <a:spcPts val="0"/>
              </a:spcAft>
              <a:buClr>
                <a:schemeClr val="dk1"/>
              </a:buClr>
              <a:buSzPts val="2300"/>
              <a:buFont typeface="Noto Sans Symbols"/>
              <a:buChar char="▪"/>
            </a:pPr>
            <a:r>
              <a:rPr lang="en-US" sz="2300" b="1">
                <a:solidFill>
                  <a:schemeClr val="dk1"/>
                </a:solidFill>
                <a:latin typeface="Calibri"/>
                <a:ea typeface="Calibri"/>
                <a:cs typeface="Calibri"/>
                <a:sym typeface="Calibri"/>
              </a:rPr>
              <a:t>vector(int initialCapacity, int capacityIncrement)</a:t>
            </a:r>
            <a:endParaRPr/>
          </a:p>
          <a:p>
            <a:pPr marL="2171700" marR="0" lvl="4" indent="-342900" algn="l" rtl="0">
              <a:spcBef>
                <a:spcPts val="0"/>
              </a:spcBef>
              <a:spcAft>
                <a:spcPts val="0"/>
              </a:spcAft>
              <a:buClr>
                <a:schemeClr val="dk1"/>
              </a:buClr>
              <a:buSzPts val="2300"/>
              <a:buFont typeface="Noto Sans Symbols"/>
              <a:buChar char="▪"/>
            </a:pPr>
            <a:r>
              <a:rPr lang="en-US" sz="2300" b="1" i="0" u="none" strike="noStrike" cap="none">
                <a:solidFill>
                  <a:schemeClr val="dk1"/>
                </a:solidFill>
                <a:latin typeface="Calibri"/>
                <a:ea typeface="Calibri"/>
                <a:cs typeface="Calibri"/>
                <a:sym typeface="Calibri"/>
              </a:rPr>
              <a:t>– both initial size &amp; incremental size is defined by the user.</a:t>
            </a:r>
            <a:endParaRPr/>
          </a:p>
          <a:p>
            <a:pPr marL="342900" marR="0" lvl="0" indent="-342900" algn="l" rtl="0">
              <a:spcBef>
                <a:spcPts val="0"/>
              </a:spcBef>
              <a:spcAft>
                <a:spcPts val="0"/>
              </a:spcAft>
              <a:buClr>
                <a:srgbClr val="000000"/>
              </a:buClr>
              <a:buSzPts val="2300"/>
              <a:buFont typeface="Noto Sans Symbols"/>
              <a:buChar char="▪"/>
            </a:pPr>
            <a:r>
              <a:rPr lang="en-US" sz="2300" b="1">
                <a:solidFill>
                  <a:srgbClr val="000000"/>
                </a:solidFill>
                <a:latin typeface="Calibri"/>
                <a:ea typeface="Calibri"/>
                <a:cs typeface="Calibri"/>
                <a:sym typeface="Calibri"/>
              </a:rPr>
              <a:t>Vector( Collection&lt;? extends E&gt; c)</a:t>
            </a:r>
            <a:endParaRPr/>
          </a:p>
          <a:p>
            <a:pPr marL="2171700" marR="0" lvl="4" indent="-342900" algn="l" rtl="0">
              <a:spcBef>
                <a:spcPts val="0"/>
              </a:spcBef>
              <a:spcAft>
                <a:spcPts val="0"/>
              </a:spcAft>
              <a:buClr>
                <a:srgbClr val="000000"/>
              </a:buClr>
              <a:buSzPts val="2300"/>
              <a:buFont typeface="Noto Sans Symbols"/>
              <a:buChar char="▪"/>
            </a:pPr>
            <a:r>
              <a:rPr lang="en-US" sz="2300" b="1" i="0" u="none" strike="noStrike" cap="none">
                <a:solidFill>
                  <a:srgbClr val="000000"/>
                </a:solidFill>
                <a:latin typeface="Calibri"/>
                <a:ea typeface="Calibri"/>
                <a:cs typeface="Calibri"/>
                <a:sym typeface="Calibri"/>
              </a:rPr>
              <a:t>– creates vector that contains elements of a collection.</a:t>
            </a:r>
            <a:endParaRPr/>
          </a:p>
          <a:p>
            <a:pPr marL="342900" marR="0" lvl="0" indent="-196850" algn="l" rtl="0">
              <a:spcBef>
                <a:spcPts val="0"/>
              </a:spcBef>
              <a:spcAft>
                <a:spcPts val="0"/>
              </a:spcAft>
              <a:buClr>
                <a:schemeClr val="dk1"/>
              </a:buClr>
              <a:buSzPts val="2300"/>
              <a:buFont typeface="Noto Sans Symbols"/>
              <a:buNone/>
            </a:pPr>
            <a:endParaRPr sz="2300" b="1">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pic>
        <p:nvPicPr>
          <p:cNvPr id="674" name="Google Shape;674;p37"/>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675" name="Google Shape;675;p37"/>
          <p:cNvGrpSpPr/>
          <p:nvPr/>
        </p:nvGrpSpPr>
        <p:grpSpPr>
          <a:xfrm>
            <a:off x="118191" y="106018"/>
            <a:ext cx="1498574" cy="904328"/>
            <a:chOff x="862157" y="4413681"/>
            <a:chExt cx="2570156" cy="1560001"/>
          </a:xfrm>
        </p:grpSpPr>
        <p:pic>
          <p:nvPicPr>
            <p:cNvPr id="676" name="Google Shape;676;p37"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677" name="Google Shape;677;p37"/>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678" name="Google Shape;678;p37"/>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Vector</a:t>
            </a:r>
            <a:endParaRPr/>
          </a:p>
        </p:txBody>
      </p:sp>
      <p:graphicFrame>
        <p:nvGraphicFramePr>
          <p:cNvPr id="679" name="Google Shape;679;p37"/>
          <p:cNvGraphicFramePr/>
          <p:nvPr/>
        </p:nvGraphicFramePr>
        <p:xfrm>
          <a:off x="479501" y="1275865"/>
          <a:ext cx="3000000" cy="3000000"/>
        </p:xfrm>
        <a:graphic>
          <a:graphicData uri="http://schemas.openxmlformats.org/drawingml/2006/table">
            <a:tbl>
              <a:tblPr>
                <a:noFill/>
                <a:tableStyleId>{B9160D5A-F4D8-4355-9011-09AB1966FD5C}</a:tableStyleId>
              </a:tblPr>
              <a:tblGrid>
                <a:gridCol w="2217700">
                  <a:extLst>
                    <a:ext uri="{9D8B030D-6E8A-4147-A177-3AD203B41FA5}">
                      <a16:colId xmlns:a16="http://schemas.microsoft.com/office/drawing/2014/main" val="20000"/>
                    </a:ext>
                  </a:extLst>
                </a:gridCol>
                <a:gridCol w="8938200">
                  <a:extLst>
                    <a:ext uri="{9D8B030D-6E8A-4147-A177-3AD203B41FA5}">
                      <a16:colId xmlns:a16="http://schemas.microsoft.com/office/drawing/2014/main" val="20001"/>
                    </a:ext>
                  </a:extLst>
                </a:gridCol>
              </a:tblGrid>
              <a:tr h="190500">
                <a:tc>
                  <a:txBody>
                    <a:bodyPr/>
                    <a:lstStyle/>
                    <a:p>
                      <a:pPr marL="0" marR="0" lvl="0" indent="0" algn="ctr" rtl="0">
                        <a:spcBef>
                          <a:spcPts val="0"/>
                        </a:spcBef>
                        <a:spcAft>
                          <a:spcPts val="0"/>
                        </a:spcAft>
                        <a:buNone/>
                      </a:pPr>
                      <a:r>
                        <a:rPr lang="en-US" sz="2200" b="1" u="none" strike="noStrike"/>
                        <a:t>Method</a:t>
                      </a:r>
                      <a:endParaRPr sz="2200" b="1" i="0" u="none" strike="noStrike">
                        <a:solidFill>
                          <a:srgbClr val="000000"/>
                        </a:solidFill>
                        <a:latin typeface="Calibri"/>
                        <a:ea typeface="Calibri"/>
                        <a:cs typeface="Calibri"/>
                        <a:sym typeface="Calibri"/>
                      </a:endParaRPr>
                    </a:p>
                  </a:txBody>
                  <a:tcPr marL="9525" marR="9525" marT="9525" marB="0" anchor="ctr">
                    <a:solidFill>
                      <a:srgbClr val="FFC000"/>
                    </a:solidFill>
                  </a:tcPr>
                </a:tc>
                <a:tc>
                  <a:txBody>
                    <a:bodyPr/>
                    <a:lstStyle/>
                    <a:p>
                      <a:pPr marL="0" marR="0" lvl="0" indent="0" algn="ctr" rtl="0">
                        <a:spcBef>
                          <a:spcPts val="0"/>
                        </a:spcBef>
                        <a:spcAft>
                          <a:spcPts val="0"/>
                        </a:spcAft>
                        <a:buNone/>
                      </a:pPr>
                      <a:r>
                        <a:rPr lang="en-US" sz="2200" b="1" u="none" strike="noStrike"/>
                        <a:t>Description</a:t>
                      </a:r>
                      <a:endParaRPr sz="2200" b="1" i="0" u="none" strike="noStrike">
                        <a:solidFill>
                          <a:srgbClr val="000000"/>
                        </a:solidFill>
                        <a:latin typeface="Calibri"/>
                        <a:ea typeface="Calibri"/>
                        <a:cs typeface="Calibri"/>
                        <a:sym typeface="Calibri"/>
                      </a:endParaRPr>
                    </a:p>
                  </a:txBody>
                  <a:tcPr marL="9525" marR="9525" marT="9525" marB="0" anchor="ctr">
                    <a:solidFill>
                      <a:srgbClr val="FFC000"/>
                    </a:solidFill>
                  </a:tcPr>
                </a:tc>
                <a:extLst>
                  <a:ext uri="{0D108BD9-81ED-4DB2-BD59-A6C34878D82A}">
                    <a16:rowId xmlns:a16="http://schemas.microsoft.com/office/drawing/2014/main" val="10000"/>
                  </a:ext>
                </a:extLst>
              </a:tr>
              <a:tr h="190500">
                <a:tc>
                  <a:txBody>
                    <a:bodyPr/>
                    <a:lstStyle/>
                    <a:p>
                      <a:pPr marL="0" marR="0" lvl="0" indent="0" algn="l" rtl="0">
                        <a:spcBef>
                          <a:spcPts val="0"/>
                        </a:spcBef>
                        <a:spcAft>
                          <a:spcPts val="0"/>
                        </a:spcAft>
                        <a:buNone/>
                      </a:pPr>
                      <a:r>
                        <a:rPr lang="en-US" sz="2200" b="1" u="none" strike="noStrike"/>
                        <a:t>add()</a:t>
                      </a:r>
                      <a:endParaRPr sz="2200" b="1" i="0" u="none" strike="noStrike">
                        <a:solidFill>
                          <a:srgbClr val="000000"/>
                        </a:solidFill>
                        <a:latin typeface="Calibri"/>
                        <a:ea typeface="Calibri"/>
                        <a:cs typeface="Calibri"/>
                        <a:sym typeface="Calibri"/>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u="none" strike="noStrike"/>
                        <a:t>It is used to append the specified element in the given vector.</a:t>
                      </a:r>
                      <a:endParaRPr sz="2200" b="1" i="0" u="none" strike="noStrike">
                        <a:solidFill>
                          <a:srgbClr val="000000"/>
                        </a:solidFill>
                        <a:latin typeface="Calibri"/>
                        <a:ea typeface="Calibri"/>
                        <a:cs typeface="Calibri"/>
                        <a:sym typeface="Calibri"/>
                      </a:endParaRPr>
                    </a:p>
                  </a:txBody>
                  <a:tcPr marL="9525" marR="9525" marT="9525" marB="0" anchor="ctr">
                    <a:solidFill>
                      <a:srgbClr val="FBE4D4"/>
                    </a:solidFill>
                  </a:tcPr>
                </a:tc>
                <a:extLst>
                  <a:ext uri="{0D108BD9-81ED-4DB2-BD59-A6C34878D82A}">
                    <a16:rowId xmlns:a16="http://schemas.microsoft.com/office/drawing/2014/main" val="10001"/>
                  </a:ext>
                </a:extLst>
              </a:tr>
              <a:tr h="381000">
                <a:tc>
                  <a:txBody>
                    <a:bodyPr/>
                    <a:lstStyle/>
                    <a:p>
                      <a:pPr marL="0" marR="0" lvl="0" indent="0" algn="l" rtl="0">
                        <a:spcBef>
                          <a:spcPts val="0"/>
                        </a:spcBef>
                        <a:spcAft>
                          <a:spcPts val="0"/>
                        </a:spcAft>
                        <a:buNone/>
                      </a:pPr>
                      <a:r>
                        <a:rPr lang="en-US" sz="2200" b="1" u="none" strike="noStrike"/>
                        <a:t>addAll()</a:t>
                      </a:r>
                      <a:endParaRPr sz="2200" b="1" i="0" u="none" strike="noStrike">
                        <a:solidFill>
                          <a:srgbClr val="000000"/>
                        </a:solidFill>
                        <a:latin typeface="Calibri"/>
                        <a:ea typeface="Calibri"/>
                        <a:cs typeface="Calibri"/>
                        <a:sym typeface="Calibri"/>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u="none" strike="noStrike"/>
                        <a:t>It is used to append all of the elements in the specified collection to the end of this Vector.</a:t>
                      </a:r>
                      <a:endParaRPr sz="2200" b="1" i="0" u="none" strike="noStrike">
                        <a:solidFill>
                          <a:srgbClr val="000000"/>
                        </a:solidFill>
                        <a:latin typeface="Calibri"/>
                        <a:ea typeface="Calibri"/>
                        <a:cs typeface="Calibri"/>
                        <a:sym typeface="Calibri"/>
                      </a:endParaRPr>
                    </a:p>
                  </a:txBody>
                  <a:tcPr marL="9525" marR="9525" marT="9525" marB="0" anchor="ctr">
                    <a:solidFill>
                      <a:schemeClr val="lt1"/>
                    </a:solidFill>
                  </a:tcPr>
                </a:tc>
                <a:extLst>
                  <a:ext uri="{0D108BD9-81ED-4DB2-BD59-A6C34878D82A}">
                    <a16:rowId xmlns:a16="http://schemas.microsoft.com/office/drawing/2014/main" val="10002"/>
                  </a:ext>
                </a:extLst>
              </a:tr>
              <a:tr h="381000">
                <a:tc>
                  <a:txBody>
                    <a:bodyPr/>
                    <a:lstStyle/>
                    <a:p>
                      <a:pPr marL="0" marR="0" lvl="0" indent="0" algn="l" rtl="0">
                        <a:spcBef>
                          <a:spcPts val="0"/>
                        </a:spcBef>
                        <a:spcAft>
                          <a:spcPts val="0"/>
                        </a:spcAft>
                        <a:buNone/>
                      </a:pPr>
                      <a:r>
                        <a:rPr lang="en-US" sz="2200" b="1" u="none" strike="noStrike"/>
                        <a:t>addElement()</a:t>
                      </a:r>
                      <a:endParaRPr sz="2200" b="1" i="0" u="none" strike="noStrike">
                        <a:solidFill>
                          <a:srgbClr val="000000"/>
                        </a:solidFill>
                        <a:latin typeface="Calibri"/>
                        <a:ea typeface="Calibri"/>
                        <a:cs typeface="Calibri"/>
                        <a:sym typeface="Calibri"/>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u="none" strike="noStrike"/>
                        <a:t>It is used to append the specified component to the end of this vector. It increases the vector size by one.</a:t>
                      </a:r>
                      <a:endParaRPr sz="2200" b="1" i="0" u="none" strike="noStrike">
                        <a:solidFill>
                          <a:srgbClr val="000000"/>
                        </a:solidFill>
                        <a:latin typeface="Calibri"/>
                        <a:ea typeface="Calibri"/>
                        <a:cs typeface="Calibri"/>
                        <a:sym typeface="Calibri"/>
                      </a:endParaRPr>
                    </a:p>
                  </a:txBody>
                  <a:tcPr marL="9525" marR="9525" marT="9525" marB="0" anchor="ctr">
                    <a:solidFill>
                      <a:srgbClr val="FBE4D4"/>
                    </a:solidFill>
                  </a:tcPr>
                </a:tc>
                <a:extLst>
                  <a:ext uri="{0D108BD9-81ED-4DB2-BD59-A6C34878D82A}">
                    <a16:rowId xmlns:a16="http://schemas.microsoft.com/office/drawing/2014/main" val="10003"/>
                  </a:ext>
                </a:extLst>
              </a:tr>
              <a:tr h="190500">
                <a:tc>
                  <a:txBody>
                    <a:bodyPr/>
                    <a:lstStyle/>
                    <a:p>
                      <a:pPr marL="0" marR="0" lvl="0" indent="0" algn="l" rtl="0">
                        <a:spcBef>
                          <a:spcPts val="0"/>
                        </a:spcBef>
                        <a:spcAft>
                          <a:spcPts val="0"/>
                        </a:spcAft>
                        <a:buNone/>
                      </a:pPr>
                      <a:r>
                        <a:rPr lang="en-US" sz="2200" b="1" u="none" strike="noStrike"/>
                        <a:t>capacity()</a:t>
                      </a:r>
                      <a:endParaRPr sz="2200" b="1" i="0" u="none" strike="noStrike">
                        <a:solidFill>
                          <a:srgbClr val="000000"/>
                        </a:solidFill>
                        <a:latin typeface="Calibri"/>
                        <a:ea typeface="Calibri"/>
                        <a:cs typeface="Calibri"/>
                        <a:sym typeface="Calibri"/>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u="none" strike="noStrike"/>
                        <a:t>It is used to get the current capacity of this vector.</a:t>
                      </a:r>
                      <a:endParaRPr sz="2200" b="1" i="0" u="none" strike="noStrike">
                        <a:solidFill>
                          <a:srgbClr val="000000"/>
                        </a:solidFill>
                        <a:latin typeface="Calibri"/>
                        <a:ea typeface="Calibri"/>
                        <a:cs typeface="Calibri"/>
                        <a:sym typeface="Calibri"/>
                      </a:endParaRPr>
                    </a:p>
                  </a:txBody>
                  <a:tcPr marL="9525" marR="9525" marT="9525" marB="0" anchor="ctr">
                    <a:solidFill>
                      <a:schemeClr val="lt1"/>
                    </a:solidFill>
                  </a:tcPr>
                </a:tc>
                <a:extLst>
                  <a:ext uri="{0D108BD9-81ED-4DB2-BD59-A6C34878D82A}">
                    <a16:rowId xmlns:a16="http://schemas.microsoft.com/office/drawing/2014/main" val="10004"/>
                  </a:ext>
                </a:extLst>
              </a:tr>
              <a:tr h="190500">
                <a:tc>
                  <a:txBody>
                    <a:bodyPr/>
                    <a:lstStyle/>
                    <a:p>
                      <a:pPr marL="0" marR="0" lvl="0" indent="0" algn="l" rtl="0">
                        <a:spcBef>
                          <a:spcPts val="0"/>
                        </a:spcBef>
                        <a:spcAft>
                          <a:spcPts val="0"/>
                        </a:spcAft>
                        <a:buNone/>
                      </a:pPr>
                      <a:r>
                        <a:rPr lang="en-US" sz="2200" b="1" u="none" strike="noStrike"/>
                        <a:t>clear()</a:t>
                      </a:r>
                      <a:endParaRPr sz="2200" b="1" i="0" u="none" strike="noStrike">
                        <a:solidFill>
                          <a:srgbClr val="000000"/>
                        </a:solidFill>
                        <a:latin typeface="Calibri"/>
                        <a:ea typeface="Calibri"/>
                        <a:cs typeface="Calibri"/>
                        <a:sym typeface="Calibri"/>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u="none" strike="noStrike"/>
                        <a:t>It is used to delete all of the elements from this vector.</a:t>
                      </a:r>
                      <a:endParaRPr sz="2200" b="1" i="0" u="none" strike="noStrike">
                        <a:solidFill>
                          <a:srgbClr val="000000"/>
                        </a:solidFill>
                        <a:latin typeface="Calibri"/>
                        <a:ea typeface="Calibri"/>
                        <a:cs typeface="Calibri"/>
                        <a:sym typeface="Calibri"/>
                      </a:endParaRPr>
                    </a:p>
                  </a:txBody>
                  <a:tcPr marL="9525" marR="9525" marT="9525" marB="0" anchor="ctr">
                    <a:solidFill>
                      <a:srgbClr val="FBE4D4"/>
                    </a:solidFill>
                  </a:tcPr>
                </a:tc>
                <a:extLst>
                  <a:ext uri="{0D108BD9-81ED-4DB2-BD59-A6C34878D82A}">
                    <a16:rowId xmlns:a16="http://schemas.microsoft.com/office/drawing/2014/main" val="10005"/>
                  </a:ext>
                </a:extLst>
              </a:tr>
              <a:tr h="190500">
                <a:tc>
                  <a:txBody>
                    <a:bodyPr/>
                    <a:lstStyle/>
                    <a:p>
                      <a:pPr marL="0" marR="0" lvl="0" indent="0" algn="l" rtl="0">
                        <a:spcBef>
                          <a:spcPts val="0"/>
                        </a:spcBef>
                        <a:spcAft>
                          <a:spcPts val="0"/>
                        </a:spcAft>
                        <a:buNone/>
                      </a:pPr>
                      <a:r>
                        <a:rPr lang="en-US" sz="2200" b="1" u="none" strike="noStrike"/>
                        <a:t>clone()</a:t>
                      </a:r>
                      <a:endParaRPr sz="2200" b="1" i="0" u="none" strike="noStrike">
                        <a:solidFill>
                          <a:srgbClr val="000000"/>
                        </a:solidFill>
                        <a:latin typeface="Calibri"/>
                        <a:ea typeface="Calibri"/>
                        <a:cs typeface="Calibri"/>
                        <a:sym typeface="Calibri"/>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u="none" strike="noStrike"/>
                        <a:t>It returns a clone of this vector.</a:t>
                      </a:r>
                      <a:endParaRPr sz="2200" b="1" i="0" u="none" strike="noStrike">
                        <a:solidFill>
                          <a:srgbClr val="000000"/>
                        </a:solidFill>
                        <a:latin typeface="Calibri"/>
                        <a:ea typeface="Calibri"/>
                        <a:cs typeface="Calibri"/>
                        <a:sym typeface="Calibri"/>
                      </a:endParaRPr>
                    </a:p>
                  </a:txBody>
                  <a:tcPr marL="9525" marR="9525" marT="9525" marB="0" anchor="ctr">
                    <a:solidFill>
                      <a:schemeClr val="lt1"/>
                    </a:solidFill>
                  </a:tcPr>
                </a:tc>
                <a:extLst>
                  <a:ext uri="{0D108BD9-81ED-4DB2-BD59-A6C34878D82A}">
                    <a16:rowId xmlns:a16="http://schemas.microsoft.com/office/drawing/2014/main" val="10006"/>
                  </a:ext>
                </a:extLst>
              </a:tr>
              <a:tr h="190500">
                <a:tc>
                  <a:txBody>
                    <a:bodyPr/>
                    <a:lstStyle/>
                    <a:p>
                      <a:pPr marL="0" marR="0" lvl="0" indent="0" algn="l" rtl="0">
                        <a:spcBef>
                          <a:spcPts val="0"/>
                        </a:spcBef>
                        <a:spcAft>
                          <a:spcPts val="0"/>
                        </a:spcAft>
                        <a:buNone/>
                      </a:pPr>
                      <a:r>
                        <a:rPr lang="en-US" sz="2200" b="1" u="none" strike="noStrike"/>
                        <a:t>contains()</a:t>
                      </a:r>
                      <a:endParaRPr sz="2200" b="1" i="0" u="none" strike="noStrike">
                        <a:solidFill>
                          <a:srgbClr val="000000"/>
                        </a:solidFill>
                        <a:latin typeface="Calibri"/>
                        <a:ea typeface="Calibri"/>
                        <a:cs typeface="Calibri"/>
                        <a:sym typeface="Calibri"/>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u="none" strike="noStrike"/>
                        <a:t>It returns true if the vector contains the specified element.</a:t>
                      </a:r>
                      <a:endParaRPr sz="2200" b="1" i="0" u="none" strike="noStrike">
                        <a:solidFill>
                          <a:srgbClr val="000000"/>
                        </a:solidFill>
                        <a:latin typeface="Calibri"/>
                        <a:ea typeface="Calibri"/>
                        <a:cs typeface="Calibri"/>
                        <a:sym typeface="Calibri"/>
                      </a:endParaRPr>
                    </a:p>
                  </a:txBody>
                  <a:tcPr marL="9525" marR="9525" marT="9525" marB="0" anchor="ctr">
                    <a:solidFill>
                      <a:srgbClr val="FBE4D4"/>
                    </a:solidFill>
                  </a:tcPr>
                </a:tc>
                <a:extLst>
                  <a:ext uri="{0D108BD9-81ED-4DB2-BD59-A6C34878D82A}">
                    <a16:rowId xmlns:a16="http://schemas.microsoft.com/office/drawing/2014/main" val="10007"/>
                  </a:ext>
                </a:extLst>
              </a:tr>
              <a:tr h="190500">
                <a:tc>
                  <a:txBody>
                    <a:bodyPr/>
                    <a:lstStyle/>
                    <a:p>
                      <a:pPr marL="0" marR="0" lvl="0" indent="0" algn="l" rtl="0">
                        <a:spcBef>
                          <a:spcPts val="0"/>
                        </a:spcBef>
                        <a:spcAft>
                          <a:spcPts val="0"/>
                        </a:spcAft>
                        <a:buNone/>
                      </a:pPr>
                      <a:r>
                        <a:rPr lang="en-US" sz="2200" b="1" u="none" strike="noStrike"/>
                        <a:t>containsAll()</a:t>
                      </a:r>
                      <a:endParaRPr sz="2200" b="1" i="0" u="none" strike="noStrike">
                        <a:solidFill>
                          <a:srgbClr val="000000"/>
                        </a:solidFill>
                        <a:latin typeface="Calibri"/>
                        <a:ea typeface="Calibri"/>
                        <a:cs typeface="Calibri"/>
                        <a:sym typeface="Calibri"/>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u="none" strike="noStrike"/>
                        <a:t>It returns true if the vector contains all of the elements in the specified collection.</a:t>
                      </a:r>
                      <a:endParaRPr sz="2200" b="1" i="0" u="none" strike="noStrike">
                        <a:solidFill>
                          <a:srgbClr val="000000"/>
                        </a:solidFill>
                        <a:latin typeface="Calibri"/>
                        <a:ea typeface="Calibri"/>
                        <a:cs typeface="Calibri"/>
                        <a:sym typeface="Calibri"/>
                      </a:endParaRPr>
                    </a:p>
                  </a:txBody>
                  <a:tcPr marL="9525" marR="9525" marT="9525" marB="0" anchor="ctr">
                    <a:solidFill>
                      <a:schemeClr val="lt1"/>
                    </a:solidFill>
                  </a:tcPr>
                </a:tc>
                <a:extLst>
                  <a:ext uri="{0D108BD9-81ED-4DB2-BD59-A6C34878D82A}">
                    <a16:rowId xmlns:a16="http://schemas.microsoft.com/office/drawing/2014/main" val="10008"/>
                  </a:ext>
                </a:extLst>
              </a:tr>
              <a:tr h="190500">
                <a:tc>
                  <a:txBody>
                    <a:bodyPr/>
                    <a:lstStyle/>
                    <a:p>
                      <a:pPr marL="0" marR="0" lvl="0" indent="0" algn="l" rtl="0">
                        <a:spcBef>
                          <a:spcPts val="0"/>
                        </a:spcBef>
                        <a:spcAft>
                          <a:spcPts val="0"/>
                        </a:spcAft>
                        <a:buNone/>
                      </a:pPr>
                      <a:r>
                        <a:rPr lang="en-US" sz="2200" b="1" u="none" strike="noStrike"/>
                        <a:t>copyInto()</a:t>
                      </a:r>
                      <a:endParaRPr sz="2200" b="1" i="0" u="none" strike="noStrike">
                        <a:solidFill>
                          <a:srgbClr val="000000"/>
                        </a:solidFill>
                        <a:latin typeface="Calibri"/>
                        <a:ea typeface="Calibri"/>
                        <a:cs typeface="Calibri"/>
                        <a:sym typeface="Calibri"/>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u="none" strike="noStrike"/>
                        <a:t>It is used to copy the components of the vector into the specified array.</a:t>
                      </a:r>
                      <a:endParaRPr sz="2200" b="1" i="0" u="none" strike="noStrike">
                        <a:solidFill>
                          <a:srgbClr val="000000"/>
                        </a:solidFill>
                        <a:latin typeface="Calibri"/>
                        <a:ea typeface="Calibri"/>
                        <a:cs typeface="Calibri"/>
                        <a:sym typeface="Calibri"/>
                      </a:endParaRPr>
                    </a:p>
                  </a:txBody>
                  <a:tcPr marL="9525" marR="9525" marT="9525" marB="0" anchor="ctr">
                    <a:solidFill>
                      <a:srgbClr val="FBE4D4"/>
                    </a:solidFill>
                  </a:tcPr>
                </a:tc>
                <a:extLst>
                  <a:ext uri="{0D108BD9-81ED-4DB2-BD59-A6C34878D82A}">
                    <a16:rowId xmlns:a16="http://schemas.microsoft.com/office/drawing/2014/main" val="10009"/>
                  </a:ext>
                </a:extLst>
              </a:tr>
              <a:tr h="190500">
                <a:tc>
                  <a:txBody>
                    <a:bodyPr/>
                    <a:lstStyle/>
                    <a:p>
                      <a:pPr marL="0" marR="0" lvl="0" indent="0" algn="l" rtl="0">
                        <a:spcBef>
                          <a:spcPts val="0"/>
                        </a:spcBef>
                        <a:spcAft>
                          <a:spcPts val="0"/>
                        </a:spcAft>
                        <a:buNone/>
                      </a:pPr>
                      <a:r>
                        <a:rPr lang="en-US" sz="2200" b="1" u="none" strike="noStrike"/>
                        <a:t>elementAt()</a:t>
                      </a:r>
                      <a:endParaRPr sz="2200" b="1" i="0" u="none" strike="noStrike">
                        <a:solidFill>
                          <a:srgbClr val="000000"/>
                        </a:solidFill>
                        <a:latin typeface="Calibri"/>
                        <a:ea typeface="Calibri"/>
                        <a:cs typeface="Calibri"/>
                        <a:sym typeface="Calibri"/>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u="none" strike="noStrike"/>
                        <a:t>It is used to get the component at the specified index.</a:t>
                      </a:r>
                      <a:endParaRPr sz="2200" b="1" i="0" u="none" strike="noStrike">
                        <a:solidFill>
                          <a:srgbClr val="000000"/>
                        </a:solidFill>
                        <a:latin typeface="Calibri"/>
                        <a:ea typeface="Calibri"/>
                        <a:cs typeface="Calibri"/>
                        <a:sym typeface="Calibri"/>
                      </a:endParaRPr>
                    </a:p>
                  </a:txBody>
                  <a:tcPr marL="9525" marR="9525" marT="9525" marB="0" anchor="ctr">
                    <a:solidFill>
                      <a:schemeClr val="lt1"/>
                    </a:solidFill>
                  </a:tcPr>
                </a:tc>
                <a:extLst>
                  <a:ext uri="{0D108BD9-81ED-4DB2-BD59-A6C34878D82A}">
                    <a16:rowId xmlns:a16="http://schemas.microsoft.com/office/drawing/2014/main" val="10010"/>
                  </a:ext>
                </a:extLst>
              </a:tr>
              <a:tr h="190500">
                <a:tc>
                  <a:txBody>
                    <a:bodyPr/>
                    <a:lstStyle/>
                    <a:p>
                      <a:pPr marL="0" marR="0" lvl="0" indent="0" algn="l" rtl="0">
                        <a:spcBef>
                          <a:spcPts val="0"/>
                        </a:spcBef>
                        <a:spcAft>
                          <a:spcPts val="0"/>
                        </a:spcAft>
                        <a:buNone/>
                      </a:pPr>
                      <a:r>
                        <a:rPr lang="en-US" sz="2200" b="1" u="none" strike="noStrike"/>
                        <a:t>elements()</a:t>
                      </a:r>
                      <a:endParaRPr sz="2200" b="1" i="0" u="none" strike="noStrike">
                        <a:solidFill>
                          <a:srgbClr val="000000"/>
                        </a:solidFill>
                        <a:latin typeface="Calibri"/>
                        <a:ea typeface="Calibri"/>
                        <a:cs typeface="Calibri"/>
                        <a:sym typeface="Calibri"/>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u="none" strike="noStrike"/>
                        <a:t>It returns an enumeration of the components of a vector.</a:t>
                      </a:r>
                      <a:endParaRPr sz="2200" b="1" i="0" u="none" strike="noStrike">
                        <a:solidFill>
                          <a:srgbClr val="000000"/>
                        </a:solidFill>
                        <a:latin typeface="Calibri"/>
                        <a:ea typeface="Calibri"/>
                        <a:cs typeface="Calibri"/>
                        <a:sym typeface="Calibri"/>
                      </a:endParaRPr>
                    </a:p>
                  </a:txBody>
                  <a:tcPr marL="9525" marR="9525" marT="9525" marB="0" anchor="ctr">
                    <a:solidFill>
                      <a:srgbClr val="FBE4D4"/>
                    </a:solidFill>
                  </a:tcPr>
                </a:tc>
                <a:extLst>
                  <a:ext uri="{0D108BD9-81ED-4DB2-BD59-A6C34878D82A}">
                    <a16:rowId xmlns:a16="http://schemas.microsoft.com/office/drawing/2014/main" val="1001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pic>
        <p:nvPicPr>
          <p:cNvPr id="684" name="Google Shape;684;p38"/>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685" name="Google Shape;685;p38"/>
          <p:cNvGrpSpPr/>
          <p:nvPr/>
        </p:nvGrpSpPr>
        <p:grpSpPr>
          <a:xfrm>
            <a:off x="118191" y="106018"/>
            <a:ext cx="1498574" cy="904328"/>
            <a:chOff x="862157" y="4413681"/>
            <a:chExt cx="2570156" cy="1560001"/>
          </a:xfrm>
        </p:grpSpPr>
        <p:pic>
          <p:nvPicPr>
            <p:cNvPr id="686" name="Google Shape;686;p38"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687" name="Google Shape;687;p38"/>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688" name="Google Shape;688;p38"/>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Vector</a:t>
            </a:r>
            <a:endParaRPr/>
          </a:p>
        </p:txBody>
      </p:sp>
      <p:graphicFrame>
        <p:nvGraphicFramePr>
          <p:cNvPr id="689" name="Google Shape;689;p38"/>
          <p:cNvGraphicFramePr/>
          <p:nvPr/>
        </p:nvGraphicFramePr>
        <p:xfrm>
          <a:off x="479501" y="1275865"/>
          <a:ext cx="3000000" cy="3000000"/>
        </p:xfrm>
        <a:graphic>
          <a:graphicData uri="http://schemas.openxmlformats.org/drawingml/2006/table">
            <a:tbl>
              <a:tblPr>
                <a:noFill/>
                <a:tableStyleId>{B9160D5A-F4D8-4355-9011-09AB1966FD5C}</a:tableStyleId>
              </a:tblPr>
              <a:tblGrid>
                <a:gridCol w="2217700">
                  <a:extLst>
                    <a:ext uri="{9D8B030D-6E8A-4147-A177-3AD203B41FA5}">
                      <a16:colId xmlns:a16="http://schemas.microsoft.com/office/drawing/2014/main" val="20000"/>
                    </a:ext>
                  </a:extLst>
                </a:gridCol>
                <a:gridCol w="8938200">
                  <a:extLst>
                    <a:ext uri="{9D8B030D-6E8A-4147-A177-3AD203B41FA5}">
                      <a16:colId xmlns:a16="http://schemas.microsoft.com/office/drawing/2014/main" val="20001"/>
                    </a:ext>
                  </a:extLst>
                </a:gridCol>
              </a:tblGrid>
              <a:tr h="190500">
                <a:tc>
                  <a:txBody>
                    <a:bodyPr/>
                    <a:lstStyle/>
                    <a:p>
                      <a:pPr marL="0" marR="0" lvl="0" indent="0" algn="ctr" rtl="0">
                        <a:spcBef>
                          <a:spcPts val="0"/>
                        </a:spcBef>
                        <a:spcAft>
                          <a:spcPts val="0"/>
                        </a:spcAft>
                        <a:buNone/>
                      </a:pPr>
                      <a:r>
                        <a:rPr lang="en-US" sz="2200" b="1" u="none" strike="noStrike"/>
                        <a:t>Method</a:t>
                      </a:r>
                      <a:endParaRPr sz="2200" b="1" i="0" u="none" strike="noStrike">
                        <a:solidFill>
                          <a:srgbClr val="000000"/>
                        </a:solidFill>
                        <a:latin typeface="Calibri"/>
                        <a:ea typeface="Calibri"/>
                        <a:cs typeface="Calibri"/>
                        <a:sym typeface="Calibri"/>
                      </a:endParaRPr>
                    </a:p>
                  </a:txBody>
                  <a:tcPr marL="9525" marR="9525" marT="9525" marB="0" anchor="ctr">
                    <a:solidFill>
                      <a:srgbClr val="FFC000"/>
                    </a:solidFill>
                  </a:tcPr>
                </a:tc>
                <a:tc>
                  <a:txBody>
                    <a:bodyPr/>
                    <a:lstStyle/>
                    <a:p>
                      <a:pPr marL="0" marR="0" lvl="0" indent="0" algn="ctr" rtl="0">
                        <a:spcBef>
                          <a:spcPts val="0"/>
                        </a:spcBef>
                        <a:spcAft>
                          <a:spcPts val="0"/>
                        </a:spcAft>
                        <a:buNone/>
                      </a:pPr>
                      <a:r>
                        <a:rPr lang="en-US" sz="2200" b="1" u="none" strike="noStrike"/>
                        <a:t>Description</a:t>
                      </a:r>
                      <a:endParaRPr sz="2200" b="1" i="0" u="none" strike="noStrike">
                        <a:solidFill>
                          <a:srgbClr val="000000"/>
                        </a:solidFill>
                        <a:latin typeface="Calibri"/>
                        <a:ea typeface="Calibri"/>
                        <a:cs typeface="Calibri"/>
                        <a:sym typeface="Calibri"/>
                      </a:endParaRPr>
                    </a:p>
                  </a:txBody>
                  <a:tcPr marL="9525" marR="9525" marT="9525" marB="0" anchor="ctr">
                    <a:solidFill>
                      <a:srgbClr val="FFC000"/>
                    </a:solidFill>
                  </a:tcPr>
                </a:tc>
                <a:extLst>
                  <a:ext uri="{0D108BD9-81ED-4DB2-BD59-A6C34878D82A}">
                    <a16:rowId xmlns:a16="http://schemas.microsoft.com/office/drawing/2014/main" val="10000"/>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ensureCapacity()</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increase the capacity of the vector which is in use, if necessary. It ensures that the vector can hold at least the number of components specified by the minimum capacity argument.</a:t>
                      </a:r>
                      <a:endParaRPr/>
                    </a:p>
                  </a:txBody>
                  <a:tcPr marL="9525" marR="9525" marT="9525" marB="0" anchor="ctr">
                    <a:solidFill>
                      <a:srgbClr val="FBE4D4"/>
                    </a:solidFill>
                  </a:tcPr>
                </a:tc>
                <a:extLst>
                  <a:ext uri="{0D108BD9-81ED-4DB2-BD59-A6C34878D82A}">
                    <a16:rowId xmlns:a16="http://schemas.microsoft.com/office/drawing/2014/main" val="10001"/>
                  </a:ext>
                </a:extLst>
              </a:tr>
              <a:tr h="3810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equals()</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compare the specified object with the vector for equality.</a:t>
                      </a:r>
                      <a:endParaRPr/>
                    </a:p>
                  </a:txBody>
                  <a:tcPr marL="9525" marR="9525" marT="9525" marB="0" anchor="ctr">
                    <a:solidFill>
                      <a:schemeClr val="lt1"/>
                    </a:solidFill>
                  </a:tcPr>
                </a:tc>
                <a:extLst>
                  <a:ext uri="{0D108BD9-81ED-4DB2-BD59-A6C34878D82A}">
                    <a16:rowId xmlns:a16="http://schemas.microsoft.com/office/drawing/2014/main" val="10002"/>
                  </a:ext>
                </a:extLst>
              </a:tr>
              <a:tr h="3810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firstElement()</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get the first component of the vector.</a:t>
                      </a:r>
                      <a:endParaRPr/>
                    </a:p>
                  </a:txBody>
                  <a:tcPr marL="9525" marR="9525" marT="9525" marB="0" anchor="ctr">
                    <a:solidFill>
                      <a:srgbClr val="FBE4D4"/>
                    </a:solidFill>
                  </a:tcPr>
                </a:tc>
                <a:extLst>
                  <a:ext uri="{0D108BD9-81ED-4DB2-BD59-A6C34878D82A}">
                    <a16:rowId xmlns:a16="http://schemas.microsoft.com/office/drawing/2014/main" val="10003"/>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forEach()</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perform the given action for each element of the Iterable until all elements have been processed or the action throws an exception.</a:t>
                      </a:r>
                      <a:endParaRPr/>
                    </a:p>
                  </a:txBody>
                  <a:tcPr marL="9525" marR="9525" marT="9525" marB="0" anchor="ctr">
                    <a:solidFill>
                      <a:schemeClr val="lt1"/>
                    </a:solidFill>
                  </a:tcPr>
                </a:tc>
                <a:extLst>
                  <a:ext uri="{0D108BD9-81ED-4DB2-BD59-A6C34878D82A}">
                    <a16:rowId xmlns:a16="http://schemas.microsoft.com/office/drawing/2014/main" val="10004"/>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get()</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get an element at the specified position in the vector.</a:t>
                      </a:r>
                      <a:endParaRPr/>
                    </a:p>
                  </a:txBody>
                  <a:tcPr marL="9525" marR="9525" marT="9525" marB="0" anchor="ctr">
                    <a:solidFill>
                      <a:srgbClr val="FBE4D4"/>
                    </a:solidFill>
                  </a:tcPr>
                </a:tc>
                <a:extLst>
                  <a:ext uri="{0D108BD9-81ED-4DB2-BD59-A6C34878D82A}">
                    <a16:rowId xmlns:a16="http://schemas.microsoft.com/office/drawing/2014/main" val="10005"/>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hashCode()</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get the hash code value of a vector.</a:t>
                      </a:r>
                      <a:endParaRPr/>
                    </a:p>
                  </a:txBody>
                  <a:tcPr marL="9525" marR="9525" marT="9525" marB="0" anchor="ctr">
                    <a:solidFill>
                      <a:schemeClr val="lt1"/>
                    </a:solidFill>
                  </a:tcPr>
                </a:tc>
                <a:extLst>
                  <a:ext uri="{0D108BD9-81ED-4DB2-BD59-A6C34878D82A}">
                    <a16:rowId xmlns:a16="http://schemas.microsoft.com/office/drawing/2014/main" val="10006"/>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indexOf()</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get the index of the first occurrence of the specified element in the vector. It returns -1 if the vector does not contain the element.</a:t>
                      </a:r>
                      <a:endParaRPr/>
                    </a:p>
                  </a:txBody>
                  <a:tcPr marL="9525" marR="9525" marT="9525" marB="0" anchor="ctr">
                    <a:solidFill>
                      <a:srgbClr val="FBE4D4"/>
                    </a:solidFill>
                  </a:tcPr>
                </a:tc>
                <a:extLst>
                  <a:ext uri="{0D108BD9-81ED-4DB2-BD59-A6C34878D82A}">
                    <a16:rowId xmlns:a16="http://schemas.microsoft.com/office/drawing/2014/main" val="10007"/>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insertElementAt()</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insert the specified object as a component in the given vector at the specified index.</a:t>
                      </a:r>
                      <a:endParaRPr/>
                    </a:p>
                  </a:txBody>
                  <a:tcPr marL="9525" marR="9525" marT="9525" marB="0" anchor="ctr">
                    <a:solidFill>
                      <a:schemeClr val="lt1"/>
                    </a:solidFill>
                  </a:tcPr>
                </a:tc>
                <a:extLst>
                  <a:ext uri="{0D108BD9-81ED-4DB2-BD59-A6C34878D82A}">
                    <a16:rowId xmlns:a16="http://schemas.microsoft.com/office/drawing/2014/main" val="10008"/>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isEmpty()</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check if this vector has no components.</a:t>
                      </a:r>
                      <a:endParaRPr/>
                    </a:p>
                  </a:txBody>
                  <a:tcPr marL="9525" marR="9525" marT="9525" marB="0" anchor="ctr">
                    <a:solidFill>
                      <a:srgbClr val="FBE4D4"/>
                    </a:solidFill>
                  </a:tcPr>
                </a:tc>
                <a:extLst>
                  <a:ext uri="{0D108BD9-81ED-4DB2-BD59-A6C34878D82A}">
                    <a16:rowId xmlns:a16="http://schemas.microsoft.com/office/drawing/2014/main" val="10009"/>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iterator()</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get an iterator over the elements in the list in proper sequence.</a:t>
                      </a:r>
                      <a:endParaRPr/>
                    </a:p>
                  </a:txBody>
                  <a:tcPr marL="9525" marR="9525" marT="9525" marB="0" anchor="ctr">
                    <a:solidFill>
                      <a:schemeClr val="lt1"/>
                    </a:solidFill>
                  </a:tcPr>
                </a:tc>
                <a:extLst>
                  <a:ext uri="{0D108BD9-81ED-4DB2-BD59-A6C34878D82A}">
                    <a16:rowId xmlns:a16="http://schemas.microsoft.com/office/drawing/2014/main" val="10010"/>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lastElement()</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 is used to get the last component of the vector.</a:t>
                      </a:r>
                      <a:endParaRPr/>
                    </a:p>
                  </a:txBody>
                  <a:tcPr marL="9525" marR="9525" marT="9525" marB="0" anchor="ctr">
                    <a:solidFill>
                      <a:srgbClr val="FBE4D4"/>
                    </a:solidFill>
                  </a:tcPr>
                </a:tc>
                <a:extLst>
                  <a:ext uri="{0D108BD9-81ED-4DB2-BD59-A6C34878D82A}">
                    <a16:rowId xmlns:a16="http://schemas.microsoft.com/office/drawing/2014/main" val="1001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pic>
        <p:nvPicPr>
          <p:cNvPr id="694" name="Google Shape;694;p39"/>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695" name="Google Shape;695;p39"/>
          <p:cNvGrpSpPr/>
          <p:nvPr/>
        </p:nvGrpSpPr>
        <p:grpSpPr>
          <a:xfrm>
            <a:off x="118191" y="106018"/>
            <a:ext cx="1498574" cy="904328"/>
            <a:chOff x="862157" y="4413681"/>
            <a:chExt cx="2570156" cy="1560001"/>
          </a:xfrm>
        </p:grpSpPr>
        <p:pic>
          <p:nvPicPr>
            <p:cNvPr id="696" name="Google Shape;696;p39"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697" name="Google Shape;697;p39"/>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698" name="Google Shape;698;p39"/>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Vector</a:t>
            </a:r>
            <a:endParaRPr/>
          </a:p>
        </p:txBody>
      </p:sp>
      <p:graphicFrame>
        <p:nvGraphicFramePr>
          <p:cNvPr id="699" name="Google Shape;699;p39"/>
          <p:cNvGraphicFramePr/>
          <p:nvPr/>
        </p:nvGraphicFramePr>
        <p:xfrm>
          <a:off x="357809" y="1010346"/>
          <a:ext cx="3000000" cy="3000000"/>
        </p:xfrm>
        <a:graphic>
          <a:graphicData uri="http://schemas.openxmlformats.org/drawingml/2006/table">
            <a:tbl>
              <a:tblPr>
                <a:noFill/>
                <a:tableStyleId>{B9160D5A-F4D8-4355-9011-09AB1966FD5C}</a:tableStyleId>
              </a:tblPr>
              <a:tblGrid>
                <a:gridCol w="2305125">
                  <a:extLst>
                    <a:ext uri="{9D8B030D-6E8A-4147-A177-3AD203B41FA5}">
                      <a16:colId xmlns:a16="http://schemas.microsoft.com/office/drawing/2014/main" val="20000"/>
                    </a:ext>
                  </a:extLst>
                </a:gridCol>
                <a:gridCol w="9290525">
                  <a:extLst>
                    <a:ext uri="{9D8B030D-6E8A-4147-A177-3AD203B41FA5}">
                      <a16:colId xmlns:a16="http://schemas.microsoft.com/office/drawing/2014/main" val="20001"/>
                    </a:ext>
                  </a:extLst>
                </a:gridCol>
              </a:tblGrid>
              <a:tr h="190500">
                <a:tc>
                  <a:txBody>
                    <a:bodyPr/>
                    <a:lstStyle/>
                    <a:p>
                      <a:pPr marL="0" marR="0" lvl="0" indent="0" algn="ctr" rtl="0">
                        <a:spcBef>
                          <a:spcPts val="0"/>
                        </a:spcBef>
                        <a:spcAft>
                          <a:spcPts val="0"/>
                        </a:spcAft>
                        <a:buNone/>
                      </a:pPr>
                      <a:r>
                        <a:rPr lang="en-US" sz="1829" b="1" u="none" strike="noStrike"/>
                        <a:t>Method</a:t>
                      </a:r>
                      <a:endParaRPr sz="1829" b="1" i="0" u="none" strike="noStrike">
                        <a:solidFill>
                          <a:srgbClr val="000000"/>
                        </a:solidFill>
                        <a:latin typeface="Calibri"/>
                        <a:ea typeface="Calibri"/>
                        <a:cs typeface="Calibri"/>
                        <a:sym typeface="Calibri"/>
                      </a:endParaRPr>
                    </a:p>
                  </a:txBody>
                  <a:tcPr marL="9525" marR="9525" marT="9525" marB="0" anchor="ctr">
                    <a:solidFill>
                      <a:srgbClr val="FFC000"/>
                    </a:solidFill>
                  </a:tcPr>
                </a:tc>
                <a:tc>
                  <a:txBody>
                    <a:bodyPr/>
                    <a:lstStyle/>
                    <a:p>
                      <a:pPr marL="0" marR="0" lvl="0" indent="0" algn="ctr" rtl="0">
                        <a:spcBef>
                          <a:spcPts val="0"/>
                        </a:spcBef>
                        <a:spcAft>
                          <a:spcPts val="0"/>
                        </a:spcAft>
                        <a:buNone/>
                      </a:pPr>
                      <a:r>
                        <a:rPr lang="en-US" sz="1829" b="1" u="none" strike="noStrike"/>
                        <a:t>Description</a:t>
                      </a:r>
                      <a:endParaRPr sz="1829" b="1" i="0" u="none" strike="noStrike">
                        <a:solidFill>
                          <a:srgbClr val="000000"/>
                        </a:solidFill>
                        <a:latin typeface="Calibri"/>
                        <a:ea typeface="Calibri"/>
                        <a:cs typeface="Calibri"/>
                        <a:sym typeface="Calibri"/>
                      </a:endParaRPr>
                    </a:p>
                  </a:txBody>
                  <a:tcPr marL="9525" marR="9525" marT="9525" marB="0" anchor="ctr">
                    <a:solidFill>
                      <a:srgbClr val="FFC000"/>
                    </a:solidFill>
                  </a:tcPr>
                </a:tc>
                <a:extLst>
                  <a:ext uri="{0D108BD9-81ED-4DB2-BD59-A6C34878D82A}">
                    <a16:rowId xmlns:a16="http://schemas.microsoft.com/office/drawing/2014/main" val="10000"/>
                  </a:ext>
                </a:extLst>
              </a:tr>
              <a:tr h="190500">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lastIndexOf()</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It is used to get the index of the last occurrence of the specified element in the vector. It returns -1 if the vector does not contain the element.</a:t>
                      </a:r>
                      <a:endParaRPr/>
                    </a:p>
                  </a:txBody>
                  <a:tcPr marL="9525" marR="9525" marT="9525" marB="0" anchor="ctr">
                    <a:solidFill>
                      <a:srgbClr val="FBE4D4"/>
                    </a:solidFill>
                  </a:tcPr>
                </a:tc>
                <a:extLst>
                  <a:ext uri="{0D108BD9-81ED-4DB2-BD59-A6C34878D82A}">
                    <a16:rowId xmlns:a16="http://schemas.microsoft.com/office/drawing/2014/main" val="10001"/>
                  </a:ext>
                </a:extLst>
              </a:tr>
              <a:tr h="190500">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listIterator()</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It is used to get a list iterator over the elements in the list in proper sequence.</a:t>
                      </a:r>
                      <a:endParaRPr/>
                    </a:p>
                  </a:txBody>
                  <a:tcPr marL="9525" marR="9525" marT="9525" marB="0" anchor="ctr">
                    <a:solidFill>
                      <a:srgbClr val="FBE4D4"/>
                    </a:solidFill>
                  </a:tcPr>
                </a:tc>
                <a:extLst>
                  <a:ext uri="{0D108BD9-81ED-4DB2-BD59-A6C34878D82A}">
                    <a16:rowId xmlns:a16="http://schemas.microsoft.com/office/drawing/2014/main" val="10002"/>
                  </a:ext>
                </a:extLst>
              </a:tr>
              <a:tr h="190500">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remove()</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It is used to remove the specified element from the vector. If the vector does not contain the element, it is unchanged.</a:t>
                      </a:r>
                      <a:endParaRPr/>
                    </a:p>
                  </a:txBody>
                  <a:tcPr marL="9525" marR="9525" marT="9525" marB="0" anchor="ctr">
                    <a:solidFill>
                      <a:srgbClr val="FBE4D4"/>
                    </a:solidFill>
                  </a:tcPr>
                </a:tc>
                <a:extLst>
                  <a:ext uri="{0D108BD9-81ED-4DB2-BD59-A6C34878D82A}">
                    <a16:rowId xmlns:a16="http://schemas.microsoft.com/office/drawing/2014/main" val="10003"/>
                  </a:ext>
                </a:extLst>
              </a:tr>
              <a:tr h="381000">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removeAll()</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It is used to delete all the elements from the vector that are present in the specified collection.</a:t>
                      </a:r>
                      <a:endParaRPr/>
                    </a:p>
                  </a:txBody>
                  <a:tcPr marL="9525" marR="9525" marT="9525" marB="0" anchor="ctr">
                    <a:solidFill>
                      <a:schemeClr val="lt1"/>
                    </a:solidFill>
                  </a:tcPr>
                </a:tc>
                <a:extLst>
                  <a:ext uri="{0D108BD9-81ED-4DB2-BD59-A6C34878D82A}">
                    <a16:rowId xmlns:a16="http://schemas.microsoft.com/office/drawing/2014/main" val="10004"/>
                  </a:ext>
                </a:extLst>
              </a:tr>
              <a:tr h="381000">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removeAllElements()</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It is used to remove all elements from the vector and set the size of the vector to zero.</a:t>
                      </a:r>
                      <a:endParaRPr/>
                    </a:p>
                  </a:txBody>
                  <a:tcPr marL="9525" marR="9525" marT="9525" marB="0" anchor="ctr">
                    <a:solidFill>
                      <a:srgbClr val="FBE4D4"/>
                    </a:solidFill>
                  </a:tcPr>
                </a:tc>
                <a:extLst>
                  <a:ext uri="{0D108BD9-81ED-4DB2-BD59-A6C34878D82A}">
                    <a16:rowId xmlns:a16="http://schemas.microsoft.com/office/drawing/2014/main" val="10005"/>
                  </a:ext>
                </a:extLst>
              </a:tr>
              <a:tr h="190500">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removeElement()</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It is used to remove the first (lowest-indexed) occurrence of the argument from the vector.</a:t>
                      </a:r>
                      <a:endParaRPr/>
                    </a:p>
                  </a:txBody>
                  <a:tcPr marL="9525" marR="9525" marT="9525" marB="0" anchor="ctr">
                    <a:solidFill>
                      <a:schemeClr val="lt1"/>
                    </a:solidFill>
                  </a:tcPr>
                </a:tc>
                <a:extLst>
                  <a:ext uri="{0D108BD9-81ED-4DB2-BD59-A6C34878D82A}">
                    <a16:rowId xmlns:a16="http://schemas.microsoft.com/office/drawing/2014/main" val="10006"/>
                  </a:ext>
                </a:extLst>
              </a:tr>
              <a:tr h="190500">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removeElementAt()</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It is used to delete the component at the specified index.</a:t>
                      </a:r>
                      <a:endParaRPr/>
                    </a:p>
                  </a:txBody>
                  <a:tcPr marL="9525" marR="9525" marT="9525" marB="0" anchor="ctr">
                    <a:solidFill>
                      <a:srgbClr val="FBE4D4"/>
                    </a:solidFill>
                  </a:tcPr>
                </a:tc>
                <a:extLst>
                  <a:ext uri="{0D108BD9-81ED-4DB2-BD59-A6C34878D82A}">
                    <a16:rowId xmlns:a16="http://schemas.microsoft.com/office/drawing/2014/main" val="10007"/>
                  </a:ext>
                </a:extLst>
              </a:tr>
              <a:tr h="190500">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removeIf()</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It is used to remove all of the elements of the collection that satisfy the given predicate.</a:t>
                      </a:r>
                      <a:endParaRPr/>
                    </a:p>
                  </a:txBody>
                  <a:tcPr marL="9525" marR="9525" marT="9525" marB="0" anchor="ctr">
                    <a:solidFill>
                      <a:schemeClr val="lt1"/>
                    </a:solidFill>
                  </a:tcPr>
                </a:tc>
                <a:extLst>
                  <a:ext uri="{0D108BD9-81ED-4DB2-BD59-A6C34878D82A}">
                    <a16:rowId xmlns:a16="http://schemas.microsoft.com/office/drawing/2014/main" val="10008"/>
                  </a:ext>
                </a:extLst>
              </a:tr>
              <a:tr h="190500">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removeRange()</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It is used to delete all of the elements from the vector whose index is between fromIndex, inclusive and toIndex, exclusive.</a:t>
                      </a:r>
                      <a:endParaRPr/>
                    </a:p>
                  </a:txBody>
                  <a:tcPr marL="9525" marR="9525" marT="9525" marB="0" anchor="ctr">
                    <a:solidFill>
                      <a:srgbClr val="FBE4D4"/>
                    </a:solidFill>
                  </a:tcPr>
                </a:tc>
                <a:extLst>
                  <a:ext uri="{0D108BD9-81ED-4DB2-BD59-A6C34878D82A}">
                    <a16:rowId xmlns:a16="http://schemas.microsoft.com/office/drawing/2014/main" val="10009"/>
                  </a:ext>
                </a:extLst>
              </a:tr>
              <a:tr h="190500">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replaceAll()</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It is used to replace each element of the list with the result of applying the operator to that element.</a:t>
                      </a:r>
                      <a:endParaRPr/>
                    </a:p>
                  </a:txBody>
                  <a:tcPr marL="9525" marR="9525" marT="9525" marB="0" anchor="ctr">
                    <a:solidFill>
                      <a:schemeClr val="lt1"/>
                    </a:solidFill>
                  </a:tcPr>
                </a:tc>
                <a:extLst>
                  <a:ext uri="{0D108BD9-81ED-4DB2-BD59-A6C34878D82A}">
                    <a16:rowId xmlns:a16="http://schemas.microsoft.com/office/drawing/2014/main" val="10010"/>
                  </a:ext>
                </a:extLst>
              </a:tr>
              <a:tr h="190500">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retainAll()</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It is used to retain only that element in the vector which is contained in the specified collection.</a:t>
                      </a:r>
                      <a:endParaRPr/>
                    </a:p>
                  </a:txBody>
                  <a:tcPr marL="9525" marR="9525" marT="9525" marB="0" anchor="ctr">
                    <a:solidFill>
                      <a:srgbClr val="FBE4D4"/>
                    </a:solidFill>
                  </a:tcPr>
                </a:tc>
                <a:extLst>
                  <a:ext uri="{0D108BD9-81ED-4DB2-BD59-A6C34878D82A}">
                    <a16:rowId xmlns:a16="http://schemas.microsoft.com/office/drawing/2014/main" val="10011"/>
                  </a:ext>
                </a:extLst>
              </a:tr>
              <a:tr h="190500">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set()</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It is used to replace the element at the specified position in the vector with the specified element.</a:t>
                      </a:r>
                      <a:endParaRPr/>
                    </a:p>
                  </a:txBody>
                  <a:tcPr marL="9525" marR="9525" marT="9525" marB="0" anchor="ctr">
                    <a:solidFill>
                      <a:schemeClr val="lt1"/>
                    </a:solidFill>
                  </a:tcPr>
                </a:tc>
                <a:extLst>
                  <a:ext uri="{0D108BD9-81ED-4DB2-BD59-A6C34878D82A}">
                    <a16:rowId xmlns:a16="http://schemas.microsoft.com/office/drawing/2014/main" val="10012"/>
                  </a:ext>
                </a:extLst>
              </a:tr>
              <a:tr h="190500">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setElementAt()</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1829" b="1" i="0" u="none" strike="noStrike">
                          <a:solidFill>
                            <a:srgbClr val="000000"/>
                          </a:solidFill>
                          <a:latin typeface="Calibri"/>
                          <a:ea typeface="Calibri"/>
                          <a:cs typeface="Calibri"/>
                          <a:sym typeface="Calibri"/>
                        </a:rPr>
                        <a:t>It is used to set the component at the specified index of the vector to the specified object.</a:t>
                      </a:r>
                      <a:endParaRPr/>
                    </a:p>
                  </a:txBody>
                  <a:tcPr marL="9525" marR="9525" marT="9525" marB="0" anchor="ctr">
                    <a:solidFill>
                      <a:srgbClr val="FBE4D4"/>
                    </a:solidFill>
                  </a:tcPr>
                </a:tc>
                <a:extLst>
                  <a:ext uri="{0D108BD9-81ED-4DB2-BD59-A6C34878D82A}">
                    <a16:rowId xmlns:a16="http://schemas.microsoft.com/office/drawing/2014/main" val="1001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pic>
        <p:nvPicPr>
          <p:cNvPr id="704" name="Google Shape;704;p40"/>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705" name="Google Shape;705;p40"/>
          <p:cNvGrpSpPr/>
          <p:nvPr/>
        </p:nvGrpSpPr>
        <p:grpSpPr>
          <a:xfrm>
            <a:off x="118191" y="106018"/>
            <a:ext cx="1498574" cy="904328"/>
            <a:chOff x="862157" y="4413681"/>
            <a:chExt cx="2570156" cy="1560001"/>
          </a:xfrm>
        </p:grpSpPr>
        <p:pic>
          <p:nvPicPr>
            <p:cNvPr id="706" name="Google Shape;706;p40"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707" name="Google Shape;707;p40"/>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708" name="Google Shape;708;p40"/>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Vector</a:t>
            </a:r>
            <a:endParaRPr/>
          </a:p>
        </p:txBody>
      </p:sp>
      <p:graphicFrame>
        <p:nvGraphicFramePr>
          <p:cNvPr id="709" name="Google Shape;709;p40"/>
          <p:cNvGraphicFramePr/>
          <p:nvPr/>
        </p:nvGraphicFramePr>
        <p:xfrm>
          <a:off x="357809" y="1010346"/>
          <a:ext cx="3000000" cy="3000000"/>
        </p:xfrm>
        <a:graphic>
          <a:graphicData uri="http://schemas.openxmlformats.org/drawingml/2006/table">
            <a:tbl>
              <a:tblPr>
                <a:noFill/>
                <a:tableStyleId>{B9160D5A-F4D8-4355-9011-09AB1966FD5C}</a:tableStyleId>
              </a:tblPr>
              <a:tblGrid>
                <a:gridCol w="2305125">
                  <a:extLst>
                    <a:ext uri="{9D8B030D-6E8A-4147-A177-3AD203B41FA5}">
                      <a16:colId xmlns:a16="http://schemas.microsoft.com/office/drawing/2014/main" val="20000"/>
                    </a:ext>
                  </a:extLst>
                </a:gridCol>
                <a:gridCol w="9290525">
                  <a:extLst>
                    <a:ext uri="{9D8B030D-6E8A-4147-A177-3AD203B41FA5}">
                      <a16:colId xmlns:a16="http://schemas.microsoft.com/office/drawing/2014/main" val="20001"/>
                    </a:ext>
                  </a:extLst>
                </a:gridCol>
              </a:tblGrid>
              <a:tr h="190500">
                <a:tc>
                  <a:txBody>
                    <a:bodyPr/>
                    <a:lstStyle/>
                    <a:p>
                      <a:pPr marL="0" marR="0" lvl="0" indent="0" algn="ctr" rtl="0">
                        <a:spcBef>
                          <a:spcPts val="0"/>
                        </a:spcBef>
                        <a:spcAft>
                          <a:spcPts val="0"/>
                        </a:spcAft>
                        <a:buNone/>
                      </a:pPr>
                      <a:r>
                        <a:rPr lang="en-US" sz="2200" b="1" u="none" strike="noStrike"/>
                        <a:t>Method</a:t>
                      </a:r>
                      <a:endParaRPr sz="2200" b="1" i="0" u="none" strike="noStrike">
                        <a:solidFill>
                          <a:srgbClr val="000000"/>
                        </a:solidFill>
                        <a:latin typeface="Calibri"/>
                        <a:ea typeface="Calibri"/>
                        <a:cs typeface="Calibri"/>
                        <a:sym typeface="Calibri"/>
                      </a:endParaRPr>
                    </a:p>
                  </a:txBody>
                  <a:tcPr marL="9525" marR="9525" marT="9525" marB="0" anchor="ctr">
                    <a:solidFill>
                      <a:srgbClr val="FFC000"/>
                    </a:solidFill>
                  </a:tcPr>
                </a:tc>
                <a:tc>
                  <a:txBody>
                    <a:bodyPr/>
                    <a:lstStyle/>
                    <a:p>
                      <a:pPr marL="0" marR="0" lvl="0" indent="0" algn="ctr" rtl="0">
                        <a:spcBef>
                          <a:spcPts val="0"/>
                        </a:spcBef>
                        <a:spcAft>
                          <a:spcPts val="0"/>
                        </a:spcAft>
                        <a:buNone/>
                      </a:pPr>
                      <a:r>
                        <a:rPr lang="en-US" sz="2200" b="1" u="none" strike="noStrike"/>
                        <a:t>Description</a:t>
                      </a:r>
                      <a:endParaRPr sz="2200" b="1" i="0" u="none" strike="noStrike">
                        <a:solidFill>
                          <a:srgbClr val="000000"/>
                        </a:solidFill>
                        <a:latin typeface="Calibri"/>
                        <a:ea typeface="Calibri"/>
                        <a:cs typeface="Calibri"/>
                        <a:sym typeface="Calibri"/>
                      </a:endParaRPr>
                    </a:p>
                  </a:txBody>
                  <a:tcPr marL="9525" marR="9525" marT="9525" marB="0" anchor="ctr">
                    <a:solidFill>
                      <a:srgbClr val="FFC000"/>
                    </a:solidFill>
                  </a:tcPr>
                </a:tc>
                <a:extLst>
                  <a:ext uri="{0D108BD9-81ED-4DB2-BD59-A6C34878D82A}">
                    <a16:rowId xmlns:a16="http://schemas.microsoft.com/office/drawing/2014/main" val="10000"/>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setSize()</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set the size of the given vector.</a:t>
                      </a:r>
                      <a:endParaRPr/>
                    </a:p>
                  </a:txBody>
                  <a:tcPr marL="9525" marR="9525" marT="9525" marB="0" anchor="ctr">
                    <a:solidFill>
                      <a:srgbClr val="FBE4D4"/>
                    </a:solidFill>
                  </a:tcPr>
                </a:tc>
                <a:extLst>
                  <a:ext uri="{0D108BD9-81ED-4DB2-BD59-A6C34878D82A}">
                    <a16:rowId xmlns:a16="http://schemas.microsoft.com/office/drawing/2014/main" val="10001"/>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size()</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get the number of components in the given vector.</a:t>
                      </a:r>
                      <a:endParaRPr/>
                    </a:p>
                  </a:txBody>
                  <a:tcPr marL="9525" marR="9525" marT="9525" marB="0" anchor="ctr">
                    <a:solidFill>
                      <a:srgbClr val="FBE4D4"/>
                    </a:solidFill>
                  </a:tcPr>
                </a:tc>
                <a:extLst>
                  <a:ext uri="{0D108BD9-81ED-4DB2-BD59-A6C34878D82A}">
                    <a16:rowId xmlns:a16="http://schemas.microsoft.com/office/drawing/2014/main" val="10002"/>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sort()</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sort the list according to the order induced by the specified Comparator.</a:t>
                      </a:r>
                      <a:endParaRPr/>
                    </a:p>
                  </a:txBody>
                  <a:tcPr marL="9525" marR="9525" marT="9525" marB="0" anchor="ctr">
                    <a:solidFill>
                      <a:srgbClr val="FBE4D4"/>
                    </a:solidFill>
                  </a:tcPr>
                </a:tc>
                <a:extLst>
                  <a:ext uri="{0D108BD9-81ED-4DB2-BD59-A6C34878D82A}">
                    <a16:rowId xmlns:a16="http://schemas.microsoft.com/office/drawing/2014/main" val="10003"/>
                  </a:ext>
                </a:extLst>
              </a:tr>
              <a:tr h="3810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spliterator()</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create a late-binding and fail-fast Spliterator over the elements in the list.</a:t>
                      </a:r>
                      <a:endParaRPr/>
                    </a:p>
                  </a:txBody>
                  <a:tcPr marL="9525" marR="9525" marT="9525" marB="0" anchor="ctr">
                    <a:solidFill>
                      <a:schemeClr val="lt1"/>
                    </a:solidFill>
                  </a:tcPr>
                </a:tc>
                <a:extLst>
                  <a:ext uri="{0D108BD9-81ED-4DB2-BD59-A6C34878D82A}">
                    <a16:rowId xmlns:a16="http://schemas.microsoft.com/office/drawing/2014/main" val="10004"/>
                  </a:ext>
                </a:extLst>
              </a:tr>
              <a:tr h="3810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subList()</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get a view of the portion of the list between fromIndex, inclusive, and toIndex, exclusive.</a:t>
                      </a:r>
                      <a:endParaRPr/>
                    </a:p>
                  </a:txBody>
                  <a:tcPr marL="9525" marR="9525" marT="9525" marB="0" anchor="ctr">
                    <a:solidFill>
                      <a:srgbClr val="FBE4D4"/>
                    </a:solidFill>
                  </a:tcPr>
                </a:tc>
                <a:extLst>
                  <a:ext uri="{0D108BD9-81ED-4DB2-BD59-A6C34878D82A}">
                    <a16:rowId xmlns:a16="http://schemas.microsoft.com/office/drawing/2014/main" val="10005"/>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toArray()</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get an array containing all of the elements in this vector in correct order.</a:t>
                      </a:r>
                      <a:endParaRPr/>
                    </a:p>
                  </a:txBody>
                  <a:tcPr marL="9525" marR="9525" marT="9525" marB="0" anchor="ctr">
                    <a:solidFill>
                      <a:schemeClr val="lt1"/>
                    </a:solidFill>
                  </a:tcPr>
                </a:tc>
                <a:extLst>
                  <a:ext uri="{0D108BD9-81ED-4DB2-BD59-A6C34878D82A}">
                    <a16:rowId xmlns:a16="http://schemas.microsoft.com/office/drawing/2014/main" val="10006"/>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toString()</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get a string representation of the vector.</a:t>
                      </a:r>
                      <a:endParaRPr/>
                    </a:p>
                  </a:txBody>
                  <a:tcPr marL="9525" marR="9525" marT="9525" marB="0" anchor="ctr">
                    <a:solidFill>
                      <a:srgbClr val="FBE4D4"/>
                    </a:solidFill>
                  </a:tcPr>
                </a:tc>
                <a:extLst>
                  <a:ext uri="{0D108BD9-81ED-4DB2-BD59-A6C34878D82A}">
                    <a16:rowId xmlns:a16="http://schemas.microsoft.com/office/drawing/2014/main" val="10007"/>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trimToSize()</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trim the capacity of the vector to the vector's current size.</a:t>
                      </a:r>
                      <a:endParaRPr/>
                    </a:p>
                  </a:txBody>
                  <a:tcPr marL="9525" marR="9525" marT="9525" marB="0" anchor="ctr">
                    <a:solidFill>
                      <a:schemeClr val="lt1"/>
                    </a:solid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pic>
        <p:nvPicPr>
          <p:cNvPr id="714" name="Google Shape;714;p41"/>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715" name="Google Shape;715;p41"/>
          <p:cNvGrpSpPr/>
          <p:nvPr/>
        </p:nvGrpSpPr>
        <p:grpSpPr>
          <a:xfrm>
            <a:off x="118191" y="106018"/>
            <a:ext cx="1498574" cy="904328"/>
            <a:chOff x="862157" y="4413681"/>
            <a:chExt cx="2570156" cy="1560001"/>
          </a:xfrm>
        </p:grpSpPr>
        <p:pic>
          <p:nvPicPr>
            <p:cNvPr id="716" name="Google Shape;716;p41"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717" name="Google Shape;717;p41"/>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718" name="Google Shape;718;p41"/>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ArrayList vs Vector</a:t>
            </a:r>
            <a:endParaRPr/>
          </a:p>
        </p:txBody>
      </p:sp>
      <p:graphicFrame>
        <p:nvGraphicFramePr>
          <p:cNvPr id="719" name="Google Shape;719;p41"/>
          <p:cNvGraphicFramePr/>
          <p:nvPr/>
        </p:nvGraphicFramePr>
        <p:xfrm>
          <a:off x="867478" y="1126437"/>
          <a:ext cx="3000000" cy="3000000"/>
        </p:xfrm>
        <a:graphic>
          <a:graphicData uri="http://schemas.openxmlformats.org/drawingml/2006/table">
            <a:tbl>
              <a:tblPr firstRow="1" firstCol="1" bandRow="1">
                <a:noFill/>
                <a:tableStyleId>{B9160D5A-F4D8-4355-9011-09AB1966FD5C}</a:tableStyleId>
              </a:tblPr>
              <a:tblGrid>
                <a:gridCol w="5406000">
                  <a:extLst>
                    <a:ext uri="{9D8B030D-6E8A-4147-A177-3AD203B41FA5}">
                      <a16:colId xmlns:a16="http://schemas.microsoft.com/office/drawing/2014/main" val="20000"/>
                    </a:ext>
                  </a:extLst>
                </a:gridCol>
                <a:gridCol w="5513775">
                  <a:extLst>
                    <a:ext uri="{9D8B030D-6E8A-4147-A177-3AD203B41FA5}">
                      <a16:colId xmlns:a16="http://schemas.microsoft.com/office/drawing/2014/main" val="20001"/>
                    </a:ext>
                  </a:extLst>
                </a:gridCol>
              </a:tblGrid>
              <a:tr h="318400">
                <a:tc>
                  <a:txBody>
                    <a:bodyPr/>
                    <a:lstStyle/>
                    <a:p>
                      <a:pPr marL="0" marR="0" lvl="0" indent="0" algn="ctr" rtl="0">
                        <a:spcBef>
                          <a:spcPts val="0"/>
                        </a:spcBef>
                        <a:spcAft>
                          <a:spcPts val="0"/>
                        </a:spcAft>
                        <a:buNone/>
                      </a:pPr>
                      <a:r>
                        <a:rPr lang="en-US" sz="1600" b="1">
                          <a:solidFill>
                            <a:srgbClr val="000000"/>
                          </a:solidFill>
                          <a:latin typeface="Calibri"/>
                          <a:ea typeface="Calibri"/>
                          <a:cs typeface="Calibri"/>
                          <a:sym typeface="Calibri"/>
                        </a:rPr>
                        <a:t>ArrayList</a:t>
                      </a:r>
                      <a:endParaRPr sz="1600">
                        <a:latin typeface="Calibri"/>
                        <a:ea typeface="Calibri"/>
                        <a:cs typeface="Calibri"/>
                        <a:sym typeface="Calibri"/>
                      </a:endParaRPr>
                    </a:p>
                  </a:txBody>
                  <a:tcPr marL="68575" marR="68575" marT="0" marB="0">
                    <a:solidFill>
                      <a:schemeClr val="accent6"/>
                    </a:solidFill>
                  </a:tcPr>
                </a:tc>
                <a:tc>
                  <a:txBody>
                    <a:bodyPr/>
                    <a:lstStyle/>
                    <a:p>
                      <a:pPr marL="0" marR="0" lvl="0" indent="0" algn="ctr" rtl="0">
                        <a:spcBef>
                          <a:spcPts val="0"/>
                        </a:spcBef>
                        <a:spcAft>
                          <a:spcPts val="0"/>
                        </a:spcAft>
                        <a:buNone/>
                      </a:pPr>
                      <a:r>
                        <a:rPr lang="en-US" sz="1600" b="1">
                          <a:solidFill>
                            <a:srgbClr val="000000"/>
                          </a:solidFill>
                          <a:latin typeface="Calibri"/>
                          <a:ea typeface="Calibri"/>
                          <a:cs typeface="Calibri"/>
                          <a:sym typeface="Calibri"/>
                        </a:rPr>
                        <a:t>Vector</a:t>
                      </a:r>
                      <a:endParaRPr sz="1600">
                        <a:latin typeface="Calibri"/>
                        <a:ea typeface="Calibri"/>
                        <a:cs typeface="Calibri"/>
                        <a:sym typeface="Calibri"/>
                      </a:endParaRPr>
                    </a:p>
                  </a:txBody>
                  <a:tcPr marL="68575" marR="68575" marT="0" marB="0">
                    <a:solidFill>
                      <a:schemeClr val="accent6"/>
                    </a:solidFill>
                  </a:tcPr>
                </a:tc>
                <a:extLst>
                  <a:ext uri="{0D108BD9-81ED-4DB2-BD59-A6C34878D82A}">
                    <a16:rowId xmlns:a16="http://schemas.microsoft.com/office/drawing/2014/main" val="10000"/>
                  </a:ext>
                </a:extLst>
              </a:tr>
              <a:tr h="636775">
                <a:tc>
                  <a:txBody>
                    <a:bodyPr/>
                    <a:lstStyle/>
                    <a:p>
                      <a:pPr marL="0" marR="0" lvl="0" indent="0" algn="l" rtl="0">
                        <a:spcBef>
                          <a:spcPts val="0"/>
                        </a:spcBef>
                        <a:spcAft>
                          <a:spcPts val="0"/>
                        </a:spcAft>
                        <a:buNone/>
                      </a:pPr>
                      <a:r>
                        <a:rPr lang="en-US" sz="1600">
                          <a:solidFill>
                            <a:srgbClr val="000000"/>
                          </a:solidFill>
                          <a:latin typeface="Calibri"/>
                          <a:ea typeface="Calibri"/>
                          <a:cs typeface="Calibri"/>
                          <a:sym typeface="Calibri"/>
                        </a:rPr>
                        <a:t>ArrayList is not synchronized. That is ArrayList is multi-threaded.</a:t>
                      </a:r>
                      <a:endParaRPr sz="1600">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600">
                          <a:solidFill>
                            <a:srgbClr val="000000"/>
                          </a:solidFill>
                          <a:latin typeface="Calibri"/>
                          <a:ea typeface="Calibri"/>
                          <a:cs typeface="Calibri"/>
                          <a:sym typeface="Calibri"/>
                        </a:rPr>
                        <a:t>Vector is synchronized. That is Vector is single threaded.</a:t>
                      </a:r>
                      <a:endParaRPr sz="1600">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1"/>
                  </a:ext>
                </a:extLst>
              </a:tr>
              <a:tr h="318400">
                <a:tc>
                  <a:txBody>
                    <a:bodyPr/>
                    <a:lstStyle/>
                    <a:p>
                      <a:pPr marL="0" marR="0" lvl="0" indent="0" algn="l" rtl="0">
                        <a:spcBef>
                          <a:spcPts val="0"/>
                        </a:spcBef>
                        <a:spcAft>
                          <a:spcPts val="0"/>
                        </a:spcAft>
                        <a:buNone/>
                      </a:pPr>
                      <a:r>
                        <a:rPr lang="en-US" sz="1600">
                          <a:solidFill>
                            <a:srgbClr val="000000"/>
                          </a:solidFill>
                          <a:latin typeface="Calibri"/>
                          <a:ea typeface="Calibri"/>
                          <a:cs typeface="Calibri"/>
                          <a:sym typeface="Calibri"/>
                        </a:rPr>
                        <a:t>If the total number of elements exceeds than its capacity, the incremental capacity of the ArrayList is</a:t>
                      </a:r>
                      <a:endParaRPr sz="1600">
                        <a:latin typeface="Calibri"/>
                        <a:ea typeface="Calibri"/>
                        <a:cs typeface="Calibri"/>
                        <a:sym typeface="Calibri"/>
                      </a:endParaRPr>
                    </a:p>
                    <a:p>
                      <a:pPr marL="0" marR="0" lvl="0" indent="0" algn="l" rtl="0">
                        <a:spcBef>
                          <a:spcPts val="0"/>
                        </a:spcBef>
                        <a:spcAft>
                          <a:spcPts val="0"/>
                        </a:spcAft>
                        <a:buNone/>
                      </a:pPr>
                      <a:r>
                        <a:rPr lang="en-US" sz="1600" b="1">
                          <a:solidFill>
                            <a:srgbClr val="000000"/>
                          </a:solidFill>
                          <a:latin typeface="Calibri"/>
                          <a:ea typeface="Calibri"/>
                          <a:cs typeface="Calibri"/>
                          <a:sym typeface="Calibri"/>
                        </a:rPr>
                        <a:t>((Current Capacity * 3)/2) + 1</a:t>
                      </a:r>
                      <a:endParaRPr sz="1600">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600">
                          <a:solidFill>
                            <a:srgbClr val="000000"/>
                          </a:solidFill>
                          <a:latin typeface="Calibri"/>
                          <a:ea typeface="Calibri"/>
                          <a:cs typeface="Calibri"/>
                          <a:sym typeface="Calibri"/>
                        </a:rPr>
                        <a:t>Vector increments 100% which means it doubles the array size if the total number of elements exceeds than its capacity. That is </a:t>
                      </a:r>
                      <a:r>
                        <a:rPr lang="en-US" sz="1600" b="1">
                          <a:solidFill>
                            <a:srgbClr val="000000"/>
                          </a:solidFill>
                          <a:latin typeface="Calibri"/>
                          <a:ea typeface="Calibri"/>
                          <a:cs typeface="Calibri"/>
                          <a:sym typeface="Calibri"/>
                        </a:rPr>
                        <a:t>Current Capacity * 2</a:t>
                      </a:r>
                      <a:endParaRPr sz="1600">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2"/>
                  </a:ext>
                </a:extLst>
              </a:tr>
              <a:tr h="636775">
                <a:tc>
                  <a:txBody>
                    <a:bodyPr/>
                    <a:lstStyle/>
                    <a:p>
                      <a:pPr marL="0" marR="0" lvl="0" indent="0" algn="l" rtl="0">
                        <a:spcBef>
                          <a:spcPts val="0"/>
                        </a:spcBef>
                        <a:spcAft>
                          <a:spcPts val="0"/>
                        </a:spcAft>
                        <a:buNone/>
                      </a:pPr>
                      <a:r>
                        <a:rPr lang="en-US" sz="1600">
                          <a:solidFill>
                            <a:srgbClr val="000000"/>
                          </a:solidFill>
                          <a:latin typeface="Calibri"/>
                          <a:ea typeface="Calibri"/>
                          <a:cs typeface="Calibri"/>
                          <a:sym typeface="Calibri"/>
                        </a:rPr>
                        <a:t>ArrayList is not a legacy class. It is introduced in JDK 1.2.</a:t>
                      </a:r>
                      <a:endParaRPr sz="1600">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600">
                          <a:solidFill>
                            <a:srgbClr val="000000"/>
                          </a:solidFill>
                          <a:latin typeface="Calibri"/>
                          <a:ea typeface="Calibri"/>
                          <a:cs typeface="Calibri"/>
                          <a:sym typeface="Calibri"/>
                        </a:rPr>
                        <a:t>Vector is a legacy class. It is present since JDK 1.0.</a:t>
                      </a:r>
                      <a:endParaRPr sz="1600">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3"/>
                  </a:ext>
                </a:extLst>
              </a:tr>
              <a:tr h="1273550">
                <a:tc>
                  <a:txBody>
                    <a:bodyPr/>
                    <a:lstStyle/>
                    <a:p>
                      <a:pPr marL="0" marR="0" lvl="0" indent="0" algn="l" rtl="0">
                        <a:spcBef>
                          <a:spcPts val="0"/>
                        </a:spcBef>
                        <a:spcAft>
                          <a:spcPts val="0"/>
                        </a:spcAft>
                        <a:buNone/>
                      </a:pPr>
                      <a:r>
                        <a:rPr lang="en-US" sz="1600">
                          <a:solidFill>
                            <a:srgbClr val="000000"/>
                          </a:solidFill>
                          <a:latin typeface="Calibri"/>
                          <a:ea typeface="Calibri"/>
                          <a:cs typeface="Calibri"/>
                          <a:sym typeface="Calibri"/>
                        </a:rPr>
                        <a:t>ArrayList is fast because it is non-synchronized.</a:t>
                      </a:r>
                      <a:endParaRPr sz="1600">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600">
                          <a:solidFill>
                            <a:srgbClr val="000000"/>
                          </a:solidFill>
                          <a:latin typeface="Calibri"/>
                          <a:ea typeface="Calibri"/>
                          <a:cs typeface="Calibri"/>
                          <a:sym typeface="Calibri"/>
                        </a:rPr>
                        <a:t>Vector is slow because it is synchronized, i.e., in a multithreading environment, it holds the other threads in runnable or non-runnable state until current thread releases the lock of the object.</a:t>
                      </a:r>
                      <a:endParaRPr sz="1600">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4"/>
                  </a:ext>
                </a:extLst>
              </a:tr>
              <a:tr h="318400">
                <a:tc>
                  <a:txBody>
                    <a:bodyPr/>
                    <a:lstStyle/>
                    <a:p>
                      <a:pPr marL="0" marR="0" lvl="0" indent="0" algn="l" rtl="0">
                        <a:spcBef>
                          <a:spcPts val="0"/>
                        </a:spcBef>
                        <a:spcAft>
                          <a:spcPts val="0"/>
                        </a:spcAft>
                        <a:buNone/>
                      </a:pPr>
                      <a:r>
                        <a:rPr lang="en-US" sz="1600">
                          <a:solidFill>
                            <a:srgbClr val="000000"/>
                          </a:solidFill>
                          <a:latin typeface="Calibri"/>
                          <a:ea typeface="Calibri"/>
                          <a:cs typeface="Calibri"/>
                          <a:sym typeface="Calibri"/>
                        </a:rPr>
                        <a:t>ArrayList uses the Iterator interface to traverse the elements.</a:t>
                      </a:r>
                      <a:endParaRPr sz="1600">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600">
                          <a:solidFill>
                            <a:srgbClr val="000000"/>
                          </a:solidFill>
                          <a:latin typeface="Calibri"/>
                          <a:ea typeface="Calibri"/>
                          <a:cs typeface="Calibri"/>
                          <a:sym typeface="Calibri"/>
                        </a:rPr>
                        <a:t>A Vector can use the Iterator interface or Enumeration interface to traverse the elements.</a:t>
                      </a:r>
                      <a:endParaRPr sz="1600">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5"/>
                  </a:ext>
                </a:extLst>
              </a:tr>
              <a:tr h="318400">
                <a:tc>
                  <a:txBody>
                    <a:bodyPr/>
                    <a:lstStyle/>
                    <a:p>
                      <a:pPr marL="0" marR="0" lvl="0" indent="0" algn="l" rtl="0">
                        <a:spcBef>
                          <a:spcPts val="0"/>
                        </a:spcBef>
                        <a:spcAft>
                          <a:spcPts val="0"/>
                        </a:spcAft>
                        <a:buNone/>
                      </a:pPr>
                      <a:r>
                        <a:rPr lang="en-US" sz="1600">
                          <a:solidFill>
                            <a:srgbClr val="000000"/>
                          </a:solidFill>
                          <a:latin typeface="Calibri"/>
                          <a:ea typeface="Calibri"/>
                          <a:cs typeface="Calibri"/>
                          <a:sym typeface="Calibri"/>
                        </a:rPr>
                        <a:t>Has three overloaded constructors.</a:t>
                      </a:r>
                      <a:endParaRPr sz="1600">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600">
                          <a:solidFill>
                            <a:srgbClr val="000000"/>
                          </a:solidFill>
                          <a:latin typeface="Calibri"/>
                          <a:ea typeface="Calibri"/>
                          <a:cs typeface="Calibri"/>
                          <a:sym typeface="Calibri"/>
                        </a:rPr>
                        <a:t>Has four overloaded constructors.</a:t>
                      </a:r>
                      <a:endParaRPr sz="1600">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6"/>
                  </a:ext>
                </a:extLst>
              </a:tr>
              <a:tr h="636775">
                <a:tc>
                  <a:txBody>
                    <a:bodyPr/>
                    <a:lstStyle/>
                    <a:p>
                      <a:pPr marL="0" marR="0" lvl="0" indent="0" algn="l" rtl="0">
                        <a:spcBef>
                          <a:spcPts val="0"/>
                        </a:spcBef>
                        <a:spcAft>
                          <a:spcPts val="0"/>
                        </a:spcAft>
                        <a:buNone/>
                      </a:pPr>
                      <a:r>
                        <a:rPr lang="en-US" sz="1600">
                          <a:solidFill>
                            <a:srgbClr val="000000"/>
                          </a:solidFill>
                          <a:latin typeface="Calibri"/>
                          <a:ea typeface="Calibri"/>
                          <a:cs typeface="Calibri"/>
                          <a:sym typeface="Calibri"/>
                        </a:rPr>
                        <a:t>Cannot control the growth. That is the incremental capacity is fixed.</a:t>
                      </a:r>
                      <a:endParaRPr sz="1600">
                        <a:latin typeface="Calibri"/>
                        <a:ea typeface="Calibri"/>
                        <a:cs typeface="Calibri"/>
                        <a:sym typeface="Calibri"/>
                      </a:endParaRPr>
                    </a:p>
                  </a:txBody>
                  <a:tcPr marL="68575" marR="68575" marT="0" marB="0">
                    <a:solidFill>
                      <a:srgbClr val="8DA9DB"/>
                    </a:solidFill>
                  </a:tcPr>
                </a:tc>
                <a:tc>
                  <a:txBody>
                    <a:bodyPr/>
                    <a:lstStyle/>
                    <a:p>
                      <a:pPr marL="0" marR="0" lvl="0" indent="0" algn="l" rtl="0">
                        <a:spcBef>
                          <a:spcPts val="0"/>
                        </a:spcBef>
                        <a:spcAft>
                          <a:spcPts val="0"/>
                        </a:spcAft>
                        <a:buNone/>
                      </a:pPr>
                      <a:r>
                        <a:rPr lang="en-US" sz="1600">
                          <a:solidFill>
                            <a:srgbClr val="000000"/>
                          </a:solidFill>
                          <a:latin typeface="Calibri"/>
                          <a:ea typeface="Calibri"/>
                          <a:cs typeface="Calibri"/>
                          <a:sym typeface="Calibri"/>
                        </a:rPr>
                        <a:t>Can control the growth. That is the incremental capacity can be explicitly mentioned by the programmer. It is done using one of the overloaded constructors.</a:t>
                      </a:r>
                      <a:endParaRPr sz="1600">
                        <a:latin typeface="Calibri"/>
                        <a:ea typeface="Calibri"/>
                        <a:cs typeface="Calibri"/>
                        <a:sym typeface="Calibri"/>
                      </a:endParaRPr>
                    </a:p>
                    <a:p>
                      <a:pPr marL="0" marR="0" lvl="0" indent="0" algn="l" rtl="0">
                        <a:spcBef>
                          <a:spcPts val="0"/>
                        </a:spcBef>
                        <a:spcAft>
                          <a:spcPts val="0"/>
                        </a:spcAft>
                        <a:buNone/>
                      </a:pPr>
                      <a:r>
                        <a:rPr lang="en-US" sz="1600" b="1">
                          <a:solidFill>
                            <a:srgbClr val="000000"/>
                          </a:solidFill>
                          <a:latin typeface="Calibri"/>
                          <a:ea typeface="Calibri"/>
                          <a:cs typeface="Calibri"/>
                          <a:sym typeface="Calibri"/>
                        </a:rPr>
                        <a:t>public vector (int initialCapacity, int incrementalCapacity)</a:t>
                      </a:r>
                      <a:endParaRPr sz="1600">
                        <a:latin typeface="Calibri"/>
                        <a:ea typeface="Calibri"/>
                        <a:cs typeface="Calibri"/>
                        <a:sym typeface="Calibri"/>
                      </a:endParaRPr>
                    </a:p>
                  </a:txBody>
                  <a:tcPr marL="68575" marR="68575" marT="0" marB="0">
                    <a:solidFill>
                      <a:srgbClr val="F7CAAC"/>
                    </a:solid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42"/>
          <p:cNvSpPr/>
          <p:nvPr/>
        </p:nvSpPr>
        <p:spPr>
          <a:xfrm>
            <a:off x="1" y="0"/>
            <a:ext cx="3897442" cy="6858000"/>
          </a:xfrm>
          <a:prstGeom prst="rect">
            <a:avLst/>
          </a:pr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5" name="Google Shape;725;p42"/>
          <p:cNvSpPr txBox="1"/>
          <p:nvPr/>
        </p:nvSpPr>
        <p:spPr>
          <a:xfrm>
            <a:off x="1151292" y="237372"/>
            <a:ext cx="15948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Topics</a:t>
            </a:r>
            <a:endParaRPr/>
          </a:p>
        </p:txBody>
      </p:sp>
      <p:sp>
        <p:nvSpPr>
          <p:cNvPr id="726" name="Google Shape;726;p42"/>
          <p:cNvSpPr txBox="1"/>
          <p:nvPr/>
        </p:nvSpPr>
        <p:spPr>
          <a:xfrm>
            <a:off x="5989419" y="2721114"/>
            <a:ext cx="223792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61628"/>
                </a:solidFill>
                <a:latin typeface="Calibri"/>
                <a:ea typeface="Calibri"/>
                <a:cs typeface="Calibri"/>
                <a:sym typeface="Calibri"/>
              </a:rPr>
              <a:t>05	Stack</a:t>
            </a:r>
            <a:endParaRPr/>
          </a:p>
        </p:txBody>
      </p:sp>
      <p:pic>
        <p:nvPicPr>
          <p:cNvPr id="727" name="Google Shape;727;p42"/>
          <p:cNvPicPr preferRelativeResize="0"/>
          <p:nvPr/>
        </p:nvPicPr>
        <p:blipFill rotWithShape="1">
          <a:blip r:embed="rId3">
            <a:alphaModFix/>
          </a:blip>
          <a:srcRect l="25290" t="6287" r="23678" b="6958"/>
          <a:stretch/>
        </p:blipFill>
        <p:spPr>
          <a:xfrm>
            <a:off x="957407" y="1890227"/>
            <a:ext cx="1637034" cy="2782957"/>
          </a:xfrm>
          <a:prstGeom prst="rect">
            <a:avLst/>
          </a:prstGeom>
          <a:noFill/>
          <a:ln>
            <a:noFill/>
          </a:ln>
        </p:spPr>
      </p:pic>
      <p:sp>
        <p:nvSpPr>
          <p:cNvPr id="728" name="Google Shape;728;p42"/>
          <p:cNvSpPr txBox="1"/>
          <p:nvPr/>
        </p:nvSpPr>
        <p:spPr>
          <a:xfrm>
            <a:off x="4784035" y="0"/>
            <a:ext cx="564755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rgbClr val="261628"/>
                </a:solidFill>
                <a:latin typeface="Calibri"/>
                <a:ea typeface="Calibri"/>
                <a:cs typeface="Calibri"/>
                <a:sym typeface="Calibri"/>
              </a:rPr>
              <a:t>Collection Framework</a:t>
            </a:r>
            <a:endParaRPr/>
          </a:p>
        </p:txBody>
      </p:sp>
      <p:grpSp>
        <p:nvGrpSpPr>
          <p:cNvPr id="729" name="Google Shape;729;p42"/>
          <p:cNvGrpSpPr/>
          <p:nvPr/>
        </p:nvGrpSpPr>
        <p:grpSpPr>
          <a:xfrm>
            <a:off x="485505" y="4776597"/>
            <a:ext cx="2570156" cy="1560001"/>
            <a:chOff x="862157" y="4413681"/>
            <a:chExt cx="2570156" cy="1560001"/>
          </a:xfrm>
        </p:grpSpPr>
        <p:pic>
          <p:nvPicPr>
            <p:cNvPr id="730" name="Google Shape;730;p42"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731" name="Google Shape;731;p42"/>
            <p:cNvSpPr/>
            <p:nvPr/>
          </p:nvSpPr>
          <p:spPr>
            <a:xfrm>
              <a:off x="862157" y="4413681"/>
              <a:ext cx="2570156" cy="372346"/>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1">
                  <a:solidFill>
                    <a:schemeClr val="lt1"/>
                  </a:solidFill>
                  <a:latin typeface="Roboto"/>
                  <a:ea typeface="Roboto"/>
                  <a:cs typeface="Roboto"/>
                  <a:sym typeface="Roboto"/>
                </a:rPr>
                <a:t>Collection Framework</a:t>
              </a:r>
              <a:endParaRPr/>
            </a:p>
          </p:txBody>
        </p:sp>
      </p:gr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pic>
        <p:nvPicPr>
          <p:cNvPr id="736" name="Google Shape;736;p43"/>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737" name="Google Shape;737;p43"/>
          <p:cNvGrpSpPr/>
          <p:nvPr/>
        </p:nvGrpSpPr>
        <p:grpSpPr>
          <a:xfrm>
            <a:off x="118191" y="106018"/>
            <a:ext cx="1498574" cy="904328"/>
            <a:chOff x="862157" y="4413681"/>
            <a:chExt cx="2570156" cy="1560001"/>
          </a:xfrm>
        </p:grpSpPr>
        <p:pic>
          <p:nvPicPr>
            <p:cNvPr id="738" name="Google Shape;738;p43"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739" name="Google Shape;739;p43"/>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740" name="Google Shape;740;p43"/>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Stack</a:t>
            </a:r>
            <a:endParaRPr/>
          </a:p>
        </p:txBody>
      </p:sp>
      <p:sp>
        <p:nvSpPr>
          <p:cNvPr id="741" name="Google Shape;741;p43"/>
          <p:cNvSpPr txBox="1"/>
          <p:nvPr/>
        </p:nvSpPr>
        <p:spPr>
          <a:xfrm>
            <a:off x="867478" y="2090172"/>
            <a:ext cx="10960734" cy="2677656"/>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Java Collection framework provides a Stack class which models and implements Stack data structure. </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The class is based on the basic principle of last-in-first-out. </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In addition to the basic push and pop operations, the class provides three more functions of empty, search and peek.</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pic>
        <p:nvPicPr>
          <p:cNvPr id="746" name="Google Shape;746;p44"/>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747" name="Google Shape;747;p44"/>
          <p:cNvGrpSpPr/>
          <p:nvPr/>
        </p:nvGrpSpPr>
        <p:grpSpPr>
          <a:xfrm>
            <a:off x="118191" y="106018"/>
            <a:ext cx="1498574" cy="904328"/>
            <a:chOff x="862157" y="4413681"/>
            <a:chExt cx="2570156" cy="1560001"/>
          </a:xfrm>
        </p:grpSpPr>
        <p:pic>
          <p:nvPicPr>
            <p:cNvPr id="748" name="Google Shape;748;p44"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749" name="Google Shape;749;p44"/>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750" name="Google Shape;750;p44"/>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Stack</a:t>
            </a:r>
            <a:endParaRPr/>
          </a:p>
        </p:txBody>
      </p:sp>
      <p:graphicFrame>
        <p:nvGraphicFramePr>
          <p:cNvPr id="751" name="Google Shape;751;p44"/>
          <p:cNvGraphicFramePr/>
          <p:nvPr/>
        </p:nvGraphicFramePr>
        <p:xfrm>
          <a:off x="318052" y="1558331"/>
          <a:ext cx="3000000" cy="3000000"/>
        </p:xfrm>
        <a:graphic>
          <a:graphicData uri="http://schemas.openxmlformats.org/drawingml/2006/table">
            <a:tbl>
              <a:tblPr>
                <a:noFill/>
                <a:tableStyleId>{B9160D5A-F4D8-4355-9011-09AB1966FD5C}</a:tableStyleId>
              </a:tblPr>
              <a:tblGrid>
                <a:gridCol w="3710600">
                  <a:extLst>
                    <a:ext uri="{9D8B030D-6E8A-4147-A177-3AD203B41FA5}">
                      <a16:colId xmlns:a16="http://schemas.microsoft.com/office/drawing/2014/main" val="20000"/>
                    </a:ext>
                  </a:extLst>
                </a:gridCol>
                <a:gridCol w="7845275">
                  <a:extLst>
                    <a:ext uri="{9D8B030D-6E8A-4147-A177-3AD203B41FA5}">
                      <a16:colId xmlns:a16="http://schemas.microsoft.com/office/drawing/2014/main" val="20001"/>
                    </a:ext>
                  </a:extLst>
                </a:gridCol>
              </a:tblGrid>
              <a:tr h="190500">
                <a:tc>
                  <a:txBody>
                    <a:bodyPr/>
                    <a:lstStyle/>
                    <a:p>
                      <a:pPr marL="0" marR="0" lvl="0" indent="0" algn="ctr" rtl="0">
                        <a:spcBef>
                          <a:spcPts val="0"/>
                        </a:spcBef>
                        <a:spcAft>
                          <a:spcPts val="0"/>
                        </a:spcAft>
                        <a:buNone/>
                      </a:pPr>
                      <a:r>
                        <a:rPr lang="en-US" sz="2200" b="1" u="none" strike="noStrike"/>
                        <a:t>Method</a:t>
                      </a:r>
                      <a:endParaRPr sz="2200" b="1" i="0" u="none" strike="noStrike">
                        <a:solidFill>
                          <a:srgbClr val="000000"/>
                        </a:solidFill>
                        <a:latin typeface="Calibri"/>
                        <a:ea typeface="Calibri"/>
                        <a:cs typeface="Calibri"/>
                        <a:sym typeface="Calibri"/>
                      </a:endParaRPr>
                    </a:p>
                  </a:txBody>
                  <a:tcPr marL="9525" marR="9525" marT="9525" marB="0" anchor="ctr">
                    <a:solidFill>
                      <a:srgbClr val="FFC000"/>
                    </a:solidFill>
                  </a:tcPr>
                </a:tc>
                <a:tc>
                  <a:txBody>
                    <a:bodyPr/>
                    <a:lstStyle/>
                    <a:p>
                      <a:pPr marL="0" marR="0" lvl="0" indent="0" algn="ctr" rtl="0">
                        <a:spcBef>
                          <a:spcPts val="0"/>
                        </a:spcBef>
                        <a:spcAft>
                          <a:spcPts val="0"/>
                        </a:spcAft>
                        <a:buNone/>
                      </a:pPr>
                      <a:r>
                        <a:rPr lang="en-US" sz="2200" b="1" u="none" strike="noStrike"/>
                        <a:t>Description</a:t>
                      </a:r>
                      <a:endParaRPr sz="2200" b="1" i="0" u="none" strike="noStrike">
                        <a:solidFill>
                          <a:srgbClr val="000000"/>
                        </a:solidFill>
                        <a:latin typeface="Calibri"/>
                        <a:ea typeface="Calibri"/>
                        <a:cs typeface="Calibri"/>
                        <a:sym typeface="Calibri"/>
                      </a:endParaRPr>
                    </a:p>
                  </a:txBody>
                  <a:tcPr marL="9525" marR="9525" marT="9525" marB="0" anchor="ctr">
                    <a:solidFill>
                      <a:srgbClr val="FFC000"/>
                    </a:solidFill>
                  </a:tcPr>
                </a:tc>
                <a:extLst>
                  <a:ext uri="{0D108BD9-81ED-4DB2-BD59-A6C34878D82A}">
                    <a16:rowId xmlns:a16="http://schemas.microsoft.com/office/drawing/2014/main" val="10000"/>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Object push(Object element) </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Pushes an element on the top of the stack.</a:t>
                      </a:r>
                      <a:endParaRPr/>
                    </a:p>
                  </a:txBody>
                  <a:tcPr marL="9525" marR="9525" marT="9525" marB="0" anchor="ctr">
                    <a:solidFill>
                      <a:srgbClr val="FBE4D4"/>
                    </a:solidFill>
                  </a:tcPr>
                </a:tc>
                <a:extLst>
                  <a:ext uri="{0D108BD9-81ED-4DB2-BD59-A6C34878D82A}">
                    <a16:rowId xmlns:a16="http://schemas.microsoft.com/office/drawing/2014/main" val="10001"/>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Object pop()</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Removes and returns the top element of the stack. An ‘EmptyStackException’ exception is thrown if we call pop() when the invoking stack is empty.</a:t>
                      </a:r>
                      <a:endParaRPr/>
                    </a:p>
                  </a:txBody>
                  <a:tcPr marL="9525" marR="9525" marT="9525" marB="0" anchor="ctr">
                    <a:solidFill>
                      <a:srgbClr val="FBE4D4"/>
                    </a:solidFill>
                  </a:tcPr>
                </a:tc>
                <a:extLst>
                  <a:ext uri="{0D108BD9-81ED-4DB2-BD59-A6C34878D82A}">
                    <a16:rowId xmlns:a16="http://schemas.microsoft.com/office/drawing/2014/main" val="10002"/>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Object peek()</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Returns the element on the top of the stack, but does not remove it.</a:t>
                      </a:r>
                      <a:endParaRPr/>
                    </a:p>
                  </a:txBody>
                  <a:tcPr marL="9525" marR="9525" marT="9525" marB="0" anchor="ctr">
                    <a:solidFill>
                      <a:srgbClr val="FBE4D4"/>
                    </a:solidFill>
                  </a:tcPr>
                </a:tc>
                <a:extLst>
                  <a:ext uri="{0D108BD9-81ED-4DB2-BD59-A6C34878D82A}">
                    <a16:rowId xmlns:a16="http://schemas.microsoft.com/office/drawing/2014/main" val="10003"/>
                  </a:ext>
                </a:extLst>
              </a:tr>
              <a:tr h="3810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boolean empty() </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returns true if nothing is on the top of the stack. Else, returns false.</a:t>
                      </a:r>
                      <a:endParaRPr/>
                    </a:p>
                  </a:txBody>
                  <a:tcPr marL="9525" marR="9525" marT="9525" marB="0" anchor="ctr">
                    <a:solidFill>
                      <a:schemeClr val="lt1"/>
                    </a:solidFill>
                  </a:tcPr>
                </a:tc>
                <a:extLst>
                  <a:ext uri="{0D108BD9-81ED-4DB2-BD59-A6C34878D82A}">
                    <a16:rowId xmlns:a16="http://schemas.microsoft.com/office/drawing/2014/main" val="10004"/>
                  </a:ext>
                </a:extLst>
              </a:tr>
              <a:tr h="3810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int search(Object element) </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determines whether an object exists in the stack. If the element is found, it returns the position of the element from the top of the stack. Else, it returns -1.</a:t>
                      </a:r>
                      <a:endParaRPr/>
                    </a:p>
                  </a:txBody>
                  <a:tcPr marL="9525" marR="9525" marT="9525" marB="0" anchor="ctr">
                    <a:solidFill>
                      <a:srgbClr val="FBE4D4"/>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45"/>
          <p:cNvSpPr/>
          <p:nvPr/>
        </p:nvSpPr>
        <p:spPr>
          <a:xfrm>
            <a:off x="1" y="0"/>
            <a:ext cx="3897442" cy="6858000"/>
          </a:xfrm>
          <a:prstGeom prst="rect">
            <a:avLst/>
          </a:pr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7" name="Google Shape;757;p45"/>
          <p:cNvSpPr txBox="1"/>
          <p:nvPr/>
        </p:nvSpPr>
        <p:spPr>
          <a:xfrm>
            <a:off x="1151292" y="237372"/>
            <a:ext cx="15948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Topics</a:t>
            </a:r>
            <a:endParaRPr/>
          </a:p>
        </p:txBody>
      </p:sp>
      <p:sp>
        <p:nvSpPr>
          <p:cNvPr id="758" name="Google Shape;758;p45"/>
          <p:cNvSpPr txBox="1"/>
          <p:nvPr/>
        </p:nvSpPr>
        <p:spPr>
          <a:xfrm>
            <a:off x="5989419" y="2721114"/>
            <a:ext cx="1782539"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61628"/>
                </a:solidFill>
                <a:latin typeface="Calibri"/>
                <a:ea typeface="Calibri"/>
                <a:cs typeface="Calibri"/>
                <a:sym typeface="Calibri"/>
              </a:rPr>
              <a:t>06	Set</a:t>
            </a:r>
            <a:endParaRPr/>
          </a:p>
        </p:txBody>
      </p:sp>
      <p:pic>
        <p:nvPicPr>
          <p:cNvPr id="759" name="Google Shape;759;p45"/>
          <p:cNvPicPr preferRelativeResize="0"/>
          <p:nvPr/>
        </p:nvPicPr>
        <p:blipFill rotWithShape="1">
          <a:blip r:embed="rId3">
            <a:alphaModFix/>
          </a:blip>
          <a:srcRect l="25290" t="6287" r="23678" b="6958"/>
          <a:stretch/>
        </p:blipFill>
        <p:spPr>
          <a:xfrm>
            <a:off x="957407" y="1890227"/>
            <a:ext cx="1637034" cy="2782957"/>
          </a:xfrm>
          <a:prstGeom prst="rect">
            <a:avLst/>
          </a:prstGeom>
          <a:noFill/>
          <a:ln>
            <a:noFill/>
          </a:ln>
        </p:spPr>
      </p:pic>
      <p:sp>
        <p:nvSpPr>
          <p:cNvPr id="760" name="Google Shape;760;p45"/>
          <p:cNvSpPr txBox="1"/>
          <p:nvPr/>
        </p:nvSpPr>
        <p:spPr>
          <a:xfrm>
            <a:off x="4784035" y="0"/>
            <a:ext cx="564755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rgbClr val="261628"/>
                </a:solidFill>
                <a:latin typeface="Calibri"/>
                <a:ea typeface="Calibri"/>
                <a:cs typeface="Calibri"/>
                <a:sym typeface="Calibri"/>
              </a:rPr>
              <a:t>Collection Framework</a:t>
            </a:r>
            <a:endParaRPr/>
          </a:p>
        </p:txBody>
      </p:sp>
      <p:grpSp>
        <p:nvGrpSpPr>
          <p:cNvPr id="761" name="Google Shape;761;p45"/>
          <p:cNvGrpSpPr/>
          <p:nvPr/>
        </p:nvGrpSpPr>
        <p:grpSpPr>
          <a:xfrm>
            <a:off x="485505" y="4776597"/>
            <a:ext cx="2570156" cy="1560001"/>
            <a:chOff x="862157" y="4413681"/>
            <a:chExt cx="2570156" cy="1560001"/>
          </a:xfrm>
        </p:grpSpPr>
        <p:pic>
          <p:nvPicPr>
            <p:cNvPr id="762" name="Google Shape;762;p45"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763" name="Google Shape;763;p45"/>
            <p:cNvSpPr/>
            <p:nvPr/>
          </p:nvSpPr>
          <p:spPr>
            <a:xfrm>
              <a:off x="862157" y="4413681"/>
              <a:ext cx="2570156" cy="372346"/>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1">
                  <a:solidFill>
                    <a:schemeClr val="lt1"/>
                  </a:solidFill>
                  <a:latin typeface="Roboto"/>
                  <a:ea typeface="Roboto"/>
                  <a:cs typeface="Roboto"/>
                  <a:sym typeface="Roboto"/>
                </a:rPr>
                <a:t>Collection Framework</a:t>
              </a:r>
              <a:endParaRPr/>
            </a:p>
          </p:txBody>
        </p:sp>
      </p:gr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pic>
        <p:nvPicPr>
          <p:cNvPr id="768" name="Google Shape;768;p46"/>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769" name="Google Shape;769;p46"/>
          <p:cNvGrpSpPr/>
          <p:nvPr/>
        </p:nvGrpSpPr>
        <p:grpSpPr>
          <a:xfrm>
            <a:off x="118191" y="106018"/>
            <a:ext cx="1498574" cy="904328"/>
            <a:chOff x="862157" y="4413681"/>
            <a:chExt cx="2570156" cy="1560001"/>
          </a:xfrm>
        </p:grpSpPr>
        <p:pic>
          <p:nvPicPr>
            <p:cNvPr id="770" name="Google Shape;770;p46"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771" name="Google Shape;771;p46"/>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772" name="Google Shape;772;p46"/>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Set</a:t>
            </a:r>
            <a:endParaRPr/>
          </a:p>
        </p:txBody>
      </p:sp>
      <p:sp>
        <p:nvSpPr>
          <p:cNvPr id="773" name="Google Shape;773;p46"/>
          <p:cNvSpPr txBox="1"/>
          <p:nvPr/>
        </p:nvSpPr>
        <p:spPr>
          <a:xfrm>
            <a:off x="867478" y="1720840"/>
            <a:ext cx="10960734" cy="3416320"/>
          </a:xfrm>
          <a:prstGeom prst="rect">
            <a:avLst/>
          </a:prstGeom>
          <a:noFill/>
          <a:ln>
            <a:noFill/>
          </a:ln>
        </p:spPr>
        <p:txBody>
          <a:bodyPr spcFirstLastPara="1" wrap="square" lIns="91425" tIns="45700" rIns="91425" bIns="45700" anchor="t" anchorCtr="0">
            <a:spAutoFit/>
          </a:bodyPr>
          <a:lstStyle/>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Set is an interface which extends Collection. It is an unordered collection of objects in which duplicate values cannot be stored.</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Basically, Set is implemented by HashSet, LinkedHashSet or TreeSet (sorted representation).</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Set has various methods to add, remove clear, size, etc to enhance the usage of this interface</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pic>
        <p:nvPicPr>
          <p:cNvPr id="778" name="Google Shape;778;p47"/>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779" name="Google Shape;779;p47"/>
          <p:cNvGrpSpPr/>
          <p:nvPr/>
        </p:nvGrpSpPr>
        <p:grpSpPr>
          <a:xfrm>
            <a:off x="118191" y="106018"/>
            <a:ext cx="1498574" cy="904328"/>
            <a:chOff x="862157" y="4413681"/>
            <a:chExt cx="2570156" cy="1560001"/>
          </a:xfrm>
        </p:grpSpPr>
        <p:pic>
          <p:nvPicPr>
            <p:cNvPr id="780" name="Google Shape;780;p47"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781" name="Google Shape;781;p47"/>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782" name="Google Shape;782;p47"/>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Set</a:t>
            </a:r>
            <a:endParaRPr/>
          </a:p>
        </p:txBody>
      </p:sp>
      <p:sp>
        <p:nvSpPr>
          <p:cNvPr id="783" name="Google Shape;783;p47"/>
          <p:cNvSpPr txBox="1"/>
          <p:nvPr/>
        </p:nvSpPr>
        <p:spPr>
          <a:xfrm>
            <a:off x="867478" y="1720840"/>
            <a:ext cx="10960734" cy="2308324"/>
          </a:xfrm>
          <a:prstGeom prst="rect">
            <a:avLst/>
          </a:prstGeom>
          <a:noFill/>
          <a:ln>
            <a:noFill/>
          </a:ln>
        </p:spPr>
        <p:txBody>
          <a:bodyPr spcFirstLastPara="1" wrap="square" lIns="91425" tIns="45700" rIns="91425" bIns="45700" anchor="t" anchorCtr="0">
            <a:spAutoFit/>
          </a:bodyPr>
          <a:lstStyle/>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Union		-	addAll</a:t>
            </a:r>
            <a:endParaRPr sz="2400" b="1">
              <a:solidFill>
                <a:schemeClr val="dk1"/>
              </a:solidFill>
              <a:latin typeface="Calibri"/>
              <a:ea typeface="Calibri"/>
              <a:cs typeface="Calibri"/>
              <a:sym typeface="Calibri"/>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Intersection	-	retainAll</a:t>
            </a:r>
            <a:endParaRPr sz="2400" b="1">
              <a:solidFill>
                <a:schemeClr val="dk1"/>
              </a:solidFill>
              <a:latin typeface="Calibri"/>
              <a:ea typeface="Calibri"/>
              <a:cs typeface="Calibri"/>
              <a:sym typeface="Calibri"/>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Difference		-	removeAll</a:t>
            </a:r>
            <a:endParaRPr sz="2400" b="1">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48"/>
          <p:cNvSpPr/>
          <p:nvPr/>
        </p:nvSpPr>
        <p:spPr>
          <a:xfrm>
            <a:off x="1" y="0"/>
            <a:ext cx="3897442" cy="6858000"/>
          </a:xfrm>
          <a:prstGeom prst="rect">
            <a:avLst/>
          </a:pr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9" name="Google Shape;789;p48"/>
          <p:cNvSpPr txBox="1"/>
          <p:nvPr/>
        </p:nvSpPr>
        <p:spPr>
          <a:xfrm>
            <a:off x="1151292" y="237372"/>
            <a:ext cx="15948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Topics</a:t>
            </a:r>
            <a:endParaRPr/>
          </a:p>
        </p:txBody>
      </p:sp>
      <p:sp>
        <p:nvSpPr>
          <p:cNvPr id="790" name="Google Shape;790;p48"/>
          <p:cNvSpPr txBox="1"/>
          <p:nvPr/>
        </p:nvSpPr>
        <p:spPr>
          <a:xfrm>
            <a:off x="5989419" y="2721114"/>
            <a:ext cx="284052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61628"/>
                </a:solidFill>
                <a:latin typeface="Calibri"/>
                <a:ea typeface="Calibri"/>
                <a:cs typeface="Calibri"/>
                <a:sym typeface="Calibri"/>
              </a:rPr>
              <a:t>07	HashSet</a:t>
            </a:r>
            <a:endParaRPr/>
          </a:p>
        </p:txBody>
      </p:sp>
      <p:pic>
        <p:nvPicPr>
          <p:cNvPr id="791" name="Google Shape;791;p48"/>
          <p:cNvPicPr preferRelativeResize="0"/>
          <p:nvPr/>
        </p:nvPicPr>
        <p:blipFill rotWithShape="1">
          <a:blip r:embed="rId3">
            <a:alphaModFix/>
          </a:blip>
          <a:srcRect l="25290" t="6287" r="23678" b="6958"/>
          <a:stretch/>
        </p:blipFill>
        <p:spPr>
          <a:xfrm>
            <a:off x="957407" y="1890227"/>
            <a:ext cx="1637034" cy="2782957"/>
          </a:xfrm>
          <a:prstGeom prst="rect">
            <a:avLst/>
          </a:prstGeom>
          <a:noFill/>
          <a:ln>
            <a:noFill/>
          </a:ln>
        </p:spPr>
      </p:pic>
      <p:sp>
        <p:nvSpPr>
          <p:cNvPr id="792" name="Google Shape;792;p48"/>
          <p:cNvSpPr txBox="1"/>
          <p:nvPr/>
        </p:nvSpPr>
        <p:spPr>
          <a:xfrm>
            <a:off x="4784035" y="0"/>
            <a:ext cx="564755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rgbClr val="261628"/>
                </a:solidFill>
                <a:latin typeface="Calibri"/>
                <a:ea typeface="Calibri"/>
                <a:cs typeface="Calibri"/>
                <a:sym typeface="Calibri"/>
              </a:rPr>
              <a:t>Collection Framework</a:t>
            </a:r>
            <a:endParaRPr/>
          </a:p>
        </p:txBody>
      </p:sp>
      <p:grpSp>
        <p:nvGrpSpPr>
          <p:cNvPr id="793" name="Google Shape;793;p48"/>
          <p:cNvGrpSpPr/>
          <p:nvPr/>
        </p:nvGrpSpPr>
        <p:grpSpPr>
          <a:xfrm>
            <a:off x="485505" y="4776597"/>
            <a:ext cx="2570156" cy="1560001"/>
            <a:chOff x="862157" y="4413681"/>
            <a:chExt cx="2570156" cy="1560001"/>
          </a:xfrm>
        </p:grpSpPr>
        <p:pic>
          <p:nvPicPr>
            <p:cNvPr id="794" name="Google Shape;794;p48"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795" name="Google Shape;795;p48"/>
            <p:cNvSpPr/>
            <p:nvPr/>
          </p:nvSpPr>
          <p:spPr>
            <a:xfrm>
              <a:off x="862157" y="4413681"/>
              <a:ext cx="2570156" cy="372346"/>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1">
                  <a:solidFill>
                    <a:schemeClr val="lt1"/>
                  </a:solidFill>
                  <a:latin typeface="Roboto"/>
                  <a:ea typeface="Roboto"/>
                  <a:cs typeface="Roboto"/>
                  <a:sym typeface="Roboto"/>
                </a:rPr>
                <a:t>Collection Framework</a:t>
              </a:r>
              <a:endParaRPr/>
            </a:p>
          </p:txBody>
        </p:sp>
      </p:gr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pic>
        <p:nvPicPr>
          <p:cNvPr id="800" name="Google Shape;800;p49"/>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801" name="Google Shape;801;p49"/>
          <p:cNvGrpSpPr/>
          <p:nvPr/>
        </p:nvGrpSpPr>
        <p:grpSpPr>
          <a:xfrm>
            <a:off x="118191" y="106018"/>
            <a:ext cx="1498574" cy="904328"/>
            <a:chOff x="862157" y="4413681"/>
            <a:chExt cx="2570156" cy="1560001"/>
          </a:xfrm>
        </p:grpSpPr>
        <p:pic>
          <p:nvPicPr>
            <p:cNvPr id="802" name="Google Shape;802;p49"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803" name="Google Shape;803;p49"/>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804" name="Google Shape;804;p49"/>
          <p:cNvSpPr/>
          <p:nvPr/>
        </p:nvSpPr>
        <p:spPr>
          <a:xfrm>
            <a:off x="5161721" y="1639711"/>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Collection</a:t>
            </a:r>
            <a:endParaRPr/>
          </a:p>
        </p:txBody>
      </p:sp>
      <p:sp>
        <p:nvSpPr>
          <p:cNvPr id="805" name="Google Shape;805;p49"/>
          <p:cNvSpPr/>
          <p:nvPr/>
        </p:nvSpPr>
        <p:spPr>
          <a:xfrm>
            <a:off x="5161721" y="2698459"/>
            <a:ext cx="1868557" cy="614578"/>
          </a:xfrm>
          <a:prstGeom prst="rect">
            <a:avLst/>
          </a:prstGeom>
          <a:solidFill>
            <a:schemeClr val="accent4">
              <a:alpha val="49803"/>
            </a:schemeClr>
          </a:solid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Set (1.2)</a:t>
            </a:r>
            <a:endParaRPr/>
          </a:p>
        </p:txBody>
      </p:sp>
      <p:sp>
        <p:nvSpPr>
          <p:cNvPr id="806" name="Google Shape;806;p49"/>
          <p:cNvSpPr/>
          <p:nvPr/>
        </p:nvSpPr>
        <p:spPr>
          <a:xfrm>
            <a:off x="4599654" y="3803138"/>
            <a:ext cx="1124134" cy="490330"/>
          </a:xfrm>
          <a:prstGeom prst="rect">
            <a:avLst/>
          </a:prstGeom>
          <a:solidFill>
            <a:schemeClr val="accent4">
              <a:alpha val="49803"/>
            </a:schemeClr>
          </a:solid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HashSet (1.2)</a:t>
            </a:r>
            <a:endParaRPr/>
          </a:p>
        </p:txBody>
      </p:sp>
      <p:sp>
        <p:nvSpPr>
          <p:cNvPr id="807" name="Google Shape;807;p49"/>
          <p:cNvSpPr/>
          <p:nvPr/>
        </p:nvSpPr>
        <p:spPr>
          <a:xfrm>
            <a:off x="6285964" y="3778696"/>
            <a:ext cx="1864591" cy="614577"/>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SortedSet (1.2)</a:t>
            </a:r>
            <a:endParaRPr/>
          </a:p>
        </p:txBody>
      </p:sp>
      <p:sp>
        <p:nvSpPr>
          <p:cNvPr id="808" name="Google Shape;808;p49"/>
          <p:cNvSpPr/>
          <p:nvPr/>
        </p:nvSpPr>
        <p:spPr>
          <a:xfrm>
            <a:off x="4362218" y="5151307"/>
            <a:ext cx="1615539" cy="490330"/>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LinkedHashSet (1.4)</a:t>
            </a:r>
            <a:endParaRPr/>
          </a:p>
        </p:txBody>
      </p:sp>
      <p:sp>
        <p:nvSpPr>
          <p:cNvPr id="809" name="Google Shape;809;p49"/>
          <p:cNvSpPr/>
          <p:nvPr/>
        </p:nvSpPr>
        <p:spPr>
          <a:xfrm>
            <a:off x="6204472" y="5027990"/>
            <a:ext cx="2056815" cy="614577"/>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NavigableSet (1.6)</a:t>
            </a:r>
            <a:endParaRPr/>
          </a:p>
        </p:txBody>
      </p:sp>
      <p:sp>
        <p:nvSpPr>
          <p:cNvPr id="810" name="Google Shape;810;p49"/>
          <p:cNvSpPr/>
          <p:nvPr/>
        </p:nvSpPr>
        <p:spPr>
          <a:xfrm>
            <a:off x="6425110" y="6218621"/>
            <a:ext cx="1615539" cy="490330"/>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TreeSet (1.2)</a:t>
            </a:r>
            <a:endParaRPr/>
          </a:p>
        </p:txBody>
      </p:sp>
      <p:cxnSp>
        <p:nvCxnSpPr>
          <p:cNvPr id="811" name="Google Shape;811;p49"/>
          <p:cNvCxnSpPr>
            <a:stCxn id="806" idx="0"/>
            <a:endCxn id="805" idx="2"/>
          </p:cNvCxnSpPr>
          <p:nvPr/>
        </p:nvCxnSpPr>
        <p:spPr>
          <a:xfrm rot="10800000" flipH="1">
            <a:off x="5161721" y="3312938"/>
            <a:ext cx="934200" cy="490200"/>
          </a:xfrm>
          <a:prstGeom prst="straightConnector1">
            <a:avLst/>
          </a:prstGeom>
          <a:noFill/>
          <a:ln w="28575" cap="flat" cmpd="sng">
            <a:solidFill>
              <a:schemeClr val="dk1"/>
            </a:solidFill>
            <a:prstDash val="dash"/>
            <a:miter lim="800000"/>
            <a:headEnd type="none" w="sm" len="sm"/>
            <a:tailEnd type="triangle" w="med" len="med"/>
          </a:ln>
        </p:spPr>
      </p:cxnSp>
      <p:cxnSp>
        <p:nvCxnSpPr>
          <p:cNvPr id="812" name="Google Shape;812;p49"/>
          <p:cNvCxnSpPr>
            <a:stCxn id="807" idx="0"/>
            <a:endCxn id="805" idx="2"/>
          </p:cNvCxnSpPr>
          <p:nvPr/>
        </p:nvCxnSpPr>
        <p:spPr>
          <a:xfrm rot="10800000">
            <a:off x="6095960" y="3313096"/>
            <a:ext cx="1122300" cy="465600"/>
          </a:xfrm>
          <a:prstGeom prst="straightConnector1">
            <a:avLst/>
          </a:prstGeom>
          <a:noFill/>
          <a:ln w="28575" cap="flat" cmpd="sng">
            <a:solidFill>
              <a:schemeClr val="dk1"/>
            </a:solidFill>
            <a:prstDash val="solid"/>
            <a:miter lim="800000"/>
            <a:headEnd type="none" w="sm" len="sm"/>
            <a:tailEnd type="triangle" w="med" len="med"/>
          </a:ln>
        </p:spPr>
      </p:cxnSp>
      <p:cxnSp>
        <p:nvCxnSpPr>
          <p:cNvPr id="813" name="Google Shape;813;p49"/>
          <p:cNvCxnSpPr>
            <a:stCxn id="808" idx="0"/>
            <a:endCxn id="806" idx="2"/>
          </p:cNvCxnSpPr>
          <p:nvPr/>
        </p:nvCxnSpPr>
        <p:spPr>
          <a:xfrm rot="10800000">
            <a:off x="5161587" y="4293607"/>
            <a:ext cx="8400" cy="857700"/>
          </a:xfrm>
          <a:prstGeom prst="straightConnector1">
            <a:avLst/>
          </a:prstGeom>
          <a:noFill/>
          <a:ln w="28575" cap="flat" cmpd="sng">
            <a:solidFill>
              <a:schemeClr val="dk1"/>
            </a:solidFill>
            <a:prstDash val="solid"/>
            <a:miter lim="800000"/>
            <a:headEnd type="none" w="sm" len="sm"/>
            <a:tailEnd type="triangle" w="med" len="med"/>
          </a:ln>
        </p:spPr>
      </p:cxnSp>
      <p:cxnSp>
        <p:nvCxnSpPr>
          <p:cNvPr id="814" name="Google Shape;814;p49"/>
          <p:cNvCxnSpPr>
            <a:stCxn id="809" idx="0"/>
            <a:endCxn id="807" idx="2"/>
          </p:cNvCxnSpPr>
          <p:nvPr/>
        </p:nvCxnSpPr>
        <p:spPr>
          <a:xfrm rot="10800000">
            <a:off x="7218179" y="4393190"/>
            <a:ext cx="14700" cy="634800"/>
          </a:xfrm>
          <a:prstGeom prst="straightConnector1">
            <a:avLst/>
          </a:prstGeom>
          <a:noFill/>
          <a:ln w="28575" cap="flat" cmpd="sng">
            <a:solidFill>
              <a:schemeClr val="dk1"/>
            </a:solidFill>
            <a:prstDash val="solid"/>
            <a:miter lim="800000"/>
            <a:headEnd type="none" w="sm" len="sm"/>
            <a:tailEnd type="triangle" w="med" len="med"/>
          </a:ln>
        </p:spPr>
      </p:cxnSp>
      <p:cxnSp>
        <p:nvCxnSpPr>
          <p:cNvPr id="815" name="Google Shape;815;p49"/>
          <p:cNvCxnSpPr>
            <a:stCxn id="810" idx="0"/>
            <a:endCxn id="809" idx="2"/>
          </p:cNvCxnSpPr>
          <p:nvPr/>
        </p:nvCxnSpPr>
        <p:spPr>
          <a:xfrm rot="10800000">
            <a:off x="7232880" y="5642621"/>
            <a:ext cx="0" cy="576000"/>
          </a:xfrm>
          <a:prstGeom prst="straightConnector1">
            <a:avLst/>
          </a:prstGeom>
          <a:noFill/>
          <a:ln w="28575" cap="flat" cmpd="sng">
            <a:solidFill>
              <a:schemeClr val="dk1"/>
            </a:solidFill>
            <a:prstDash val="dash"/>
            <a:miter lim="800000"/>
            <a:headEnd type="none" w="sm" len="sm"/>
            <a:tailEnd type="triangle" w="med" len="med"/>
          </a:ln>
        </p:spPr>
      </p:cxnSp>
      <p:cxnSp>
        <p:nvCxnSpPr>
          <p:cNvPr id="816" name="Google Shape;816;p49"/>
          <p:cNvCxnSpPr>
            <a:endCxn id="804" idx="2"/>
          </p:cNvCxnSpPr>
          <p:nvPr/>
        </p:nvCxnSpPr>
        <p:spPr>
          <a:xfrm rot="10800000" flipH="1">
            <a:off x="6091500" y="2183157"/>
            <a:ext cx="4500" cy="493500"/>
          </a:xfrm>
          <a:prstGeom prst="straightConnector1">
            <a:avLst/>
          </a:prstGeom>
          <a:noFill/>
          <a:ln w="28575" cap="flat" cmpd="sng">
            <a:solidFill>
              <a:schemeClr val="dk1"/>
            </a:solidFill>
            <a:prstDash val="solid"/>
            <a:miter lim="800000"/>
            <a:headEnd type="none" w="sm" len="sm"/>
            <a:tailEnd type="triangle" w="med" len="med"/>
          </a:ln>
        </p:spPr>
      </p:cxnSp>
      <p:sp>
        <p:nvSpPr>
          <p:cNvPr id="817" name="Google Shape;817;p49"/>
          <p:cNvSpPr/>
          <p:nvPr/>
        </p:nvSpPr>
        <p:spPr>
          <a:xfrm>
            <a:off x="5157200" y="612481"/>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Iterable</a:t>
            </a:r>
            <a:endParaRPr/>
          </a:p>
        </p:txBody>
      </p:sp>
      <p:cxnSp>
        <p:nvCxnSpPr>
          <p:cNvPr id="818" name="Google Shape;818;p49"/>
          <p:cNvCxnSpPr/>
          <p:nvPr/>
        </p:nvCxnSpPr>
        <p:spPr>
          <a:xfrm rot="10800000" flipH="1">
            <a:off x="6086957" y="1156060"/>
            <a:ext cx="4521" cy="493626"/>
          </a:xfrm>
          <a:prstGeom prst="straightConnector1">
            <a:avLst/>
          </a:prstGeom>
          <a:noFill/>
          <a:ln w="28575" cap="flat" cmpd="sng">
            <a:solidFill>
              <a:schemeClr val="dk1"/>
            </a:solidFill>
            <a:prstDash val="solid"/>
            <a:miter lim="800000"/>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pic>
        <p:nvPicPr>
          <p:cNvPr id="823" name="Google Shape;823;p50"/>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824" name="Google Shape;824;p50"/>
          <p:cNvGrpSpPr/>
          <p:nvPr/>
        </p:nvGrpSpPr>
        <p:grpSpPr>
          <a:xfrm>
            <a:off x="118191" y="106018"/>
            <a:ext cx="1498574" cy="904328"/>
            <a:chOff x="862157" y="4413681"/>
            <a:chExt cx="2570156" cy="1560001"/>
          </a:xfrm>
        </p:grpSpPr>
        <p:pic>
          <p:nvPicPr>
            <p:cNvPr id="825" name="Google Shape;825;p50"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826" name="Google Shape;826;p50"/>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827" name="Google Shape;827;p50"/>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Hash Set</a:t>
            </a:r>
            <a:endParaRPr/>
          </a:p>
        </p:txBody>
      </p:sp>
      <p:sp>
        <p:nvSpPr>
          <p:cNvPr id="828" name="Google Shape;828;p50"/>
          <p:cNvSpPr txBox="1"/>
          <p:nvPr/>
        </p:nvSpPr>
        <p:spPr>
          <a:xfrm>
            <a:off x="867478" y="811365"/>
            <a:ext cx="10960734" cy="5632311"/>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Java HashSet class is used to create a collection that uses a hash table for storage. It inherits the AbstractSet class and implements Set interface.</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HashSet stores the elements by using a mechanism called hashing.</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HashSet contains unique elements only.</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HashSet allows one null value.</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HashSet class is non synchronized.</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HashSet doesn't maintain the insertion order. Here, elements are inserted on the basis of their hashcode.</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HashSet is the best approach for search operations.</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pic>
        <p:nvPicPr>
          <p:cNvPr id="833" name="Google Shape;833;p51"/>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834" name="Google Shape;834;p51"/>
          <p:cNvGrpSpPr/>
          <p:nvPr/>
        </p:nvGrpSpPr>
        <p:grpSpPr>
          <a:xfrm>
            <a:off x="118191" y="106018"/>
            <a:ext cx="1498574" cy="904328"/>
            <a:chOff x="862157" y="4413681"/>
            <a:chExt cx="2570156" cy="1560001"/>
          </a:xfrm>
        </p:grpSpPr>
        <p:pic>
          <p:nvPicPr>
            <p:cNvPr id="835" name="Google Shape;835;p51"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836" name="Google Shape;836;p51"/>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837" name="Google Shape;837;p51"/>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Hash Set</a:t>
            </a:r>
            <a:endParaRPr/>
          </a:p>
        </p:txBody>
      </p:sp>
      <p:sp>
        <p:nvSpPr>
          <p:cNvPr id="838" name="Google Shape;838;p51"/>
          <p:cNvSpPr txBox="1"/>
          <p:nvPr/>
        </p:nvSpPr>
        <p:spPr>
          <a:xfrm>
            <a:off x="867478" y="811365"/>
            <a:ext cx="10960734" cy="600164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The initial default capacity of HashSet is 16, and the load factor is 0.75.</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It has 4 constructors</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1257300" marR="0" lvl="2"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HashSet() 	– It is used to construct a default HashSet. </a:t>
            </a:r>
            <a:endParaRPr/>
          </a:p>
          <a:p>
            <a:pPr marL="1257300" marR="0" lvl="2" indent="-190500" algn="l" rtl="0">
              <a:spcBef>
                <a:spcPts val="0"/>
              </a:spcBef>
              <a:spcAft>
                <a:spcPts val="0"/>
              </a:spcAft>
              <a:buClr>
                <a:schemeClr val="dk1"/>
              </a:buClr>
              <a:buSzPts val="2400"/>
              <a:buFont typeface="Noto Sans Symbols"/>
              <a:buNone/>
            </a:pPr>
            <a:endParaRPr sz="2400" b="1" i="0" u="none" strike="noStrike" cap="none">
              <a:solidFill>
                <a:schemeClr val="dk1"/>
              </a:solidFill>
              <a:latin typeface="Calibri"/>
              <a:ea typeface="Calibri"/>
              <a:cs typeface="Calibri"/>
              <a:sym typeface="Calibri"/>
            </a:endParaRPr>
          </a:p>
          <a:p>
            <a:pPr marL="1257300" marR="0" lvl="2"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HashSet(int capacity) – It is used to initialize the capacity of the hash set to the given integer value capacity. The capacity grows automatically as elements are added to the HashSet.</a:t>
            </a:r>
            <a:endParaRPr/>
          </a:p>
          <a:p>
            <a:pPr marL="1257300" marR="0" lvl="2" indent="-190500" algn="l" rtl="0">
              <a:spcBef>
                <a:spcPts val="0"/>
              </a:spcBef>
              <a:spcAft>
                <a:spcPts val="0"/>
              </a:spcAft>
              <a:buClr>
                <a:schemeClr val="dk1"/>
              </a:buClr>
              <a:buSzPts val="2400"/>
              <a:buFont typeface="Noto Sans Symbols"/>
              <a:buNone/>
            </a:pPr>
            <a:endParaRPr sz="2400" b="1" i="0" u="none" strike="noStrike" cap="none">
              <a:solidFill>
                <a:schemeClr val="dk1"/>
              </a:solidFill>
              <a:latin typeface="Calibri"/>
              <a:ea typeface="Calibri"/>
              <a:cs typeface="Calibri"/>
              <a:sym typeface="Calibri"/>
            </a:endParaRPr>
          </a:p>
          <a:p>
            <a:pPr marL="1257300" marR="0" lvl="2"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HashSet(int capacity, float loadFactor) – It is used to initialize the capacity of the hash set to the given integer value capacity and the specified load factor.</a:t>
            </a:r>
            <a:endParaRPr/>
          </a:p>
          <a:p>
            <a:pPr marL="1257300" marR="0" lvl="2" indent="-190500" algn="l" rtl="0">
              <a:spcBef>
                <a:spcPts val="0"/>
              </a:spcBef>
              <a:spcAft>
                <a:spcPts val="0"/>
              </a:spcAft>
              <a:buClr>
                <a:schemeClr val="dk1"/>
              </a:buClr>
              <a:buSzPts val="2400"/>
              <a:buFont typeface="Noto Sans Symbols"/>
              <a:buNone/>
            </a:pPr>
            <a:endParaRPr sz="2400" b="1" i="0" u="none" strike="noStrike" cap="none">
              <a:solidFill>
                <a:schemeClr val="dk1"/>
              </a:solidFill>
              <a:latin typeface="Calibri"/>
              <a:ea typeface="Calibri"/>
              <a:cs typeface="Calibri"/>
              <a:sym typeface="Calibri"/>
            </a:endParaRPr>
          </a:p>
          <a:p>
            <a:pPr marL="1257300" marR="0" lvl="2"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HashSet(Collection&lt;? extends E&gt; c) – It is used to initialize the hash set by using the elements of the collection c.</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pic>
        <p:nvPicPr>
          <p:cNvPr id="843" name="Google Shape;843;p52"/>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844" name="Google Shape;844;p52"/>
          <p:cNvGrpSpPr/>
          <p:nvPr/>
        </p:nvGrpSpPr>
        <p:grpSpPr>
          <a:xfrm>
            <a:off x="118191" y="106018"/>
            <a:ext cx="1498574" cy="904328"/>
            <a:chOff x="862157" y="4413681"/>
            <a:chExt cx="2570156" cy="1560001"/>
          </a:xfrm>
        </p:grpSpPr>
        <p:pic>
          <p:nvPicPr>
            <p:cNvPr id="845" name="Google Shape;845;p52"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846" name="Google Shape;846;p52"/>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847" name="Google Shape;847;p52"/>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Hash Set</a:t>
            </a:r>
            <a:endParaRPr/>
          </a:p>
        </p:txBody>
      </p:sp>
      <p:graphicFrame>
        <p:nvGraphicFramePr>
          <p:cNvPr id="848" name="Google Shape;848;p52"/>
          <p:cNvGraphicFramePr/>
          <p:nvPr/>
        </p:nvGraphicFramePr>
        <p:xfrm>
          <a:off x="318052" y="1558331"/>
          <a:ext cx="3000000" cy="3000000"/>
        </p:xfrm>
        <a:graphic>
          <a:graphicData uri="http://schemas.openxmlformats.org/drawingml/2006/table">
            <a:tbl>
              <a:tblPr>
                <a:noFill/>
                <a:tableStyleId>{B9160D5A-F4D8-4355-9011-09AB1966FD5C}</a:tableStyleId>
              </a:tblPr>
              <a:tblGrid>
                <a:gridCol w="3710600">
                  <a:extLst>
                    <a:ext uri="{9D8B030D-6E8A-4147-A177-3AD203B41FA5}">
                      <a16:colId xmlns:a16="http://schemas.microsoft.com/office/drawing/2014/main" val="20000"/>
                    </a:ext>
                  </a:extLst>
                </a:gridCol>
                <a:gridCol w="7845275">
                  <a:extLst>
                    <a:ext uri="{9D8B030D-6E8A-4147-A177-3AD203B41FA5}">
                      <a16:colId xmlns:a16="http://schemas.microsoft.com/office/drawing/2014/main" val="20001"/>
                    </a:ext>
                  </a:extLst>
                </a:gridCol>
              </a:tblGrid>
              <a:tr h="190500">
                <a:tc>
                  <a:txBody>
                    <a:bodyPr/>
                    <a:lstStyle/>
                    <a:p>
                      <a:pPr marL="0" marR="0" lvl="0" indent="0" algn="ctr" rtl="0">
                        <a:spcBef>
                          <a:spcPts val="0"/>
                        </a:spcBef>
                        <a:spcAft>
                          <a:spcPts val="0"/>
                        </a:spcAft>
                        <a:buNone/>
                      </a:pPr>
                      <a:r>
                        <a:rPr lang="en-US" sz="2200" b="1" u="none" strike="noStrike"/>
                        <a:t>Method</a:t>
                      </a:r>
                      <a:endParaRPr sz="2200" b="1" i="0" u="none" strike="noStrike">
                        <a:solidFill>
                          <a:srgbClr val="000000"/>
                        </a:solidFill>
                        <a:latin typeface="Calibri"/>
                        <a:ea typeface="Calibri"/>
                        <a:cs typeface="Calibri"/>
                        <a:sym typeface="Calibri"/>
                      </a:endParaRPr>
                    </a:p>
                  </a:txBody>
                  <a:tcPr marL="9525" marR="9525" marT="9525" marB="0" anchor="ctr">
                    <a:solidFill>
                      <a:srgbClr val="FFC000"/>
                    </a:solidFill>
                  </a:tcPr>
                </a:tc>
                <a:tc>
                  <a:txBody>
                    <a:bodyPr/>
                    <a:lstStyle/>
                    <a:p>
                      <a:pPr marL="0" marR="0" lvl="0" indent="0" algn="ctr" rtl="0">
                        <a:spcBef>
                          <a:spcPts val="0"/>
                        </a:spcBef>
                        <a:spcAft>
                          <a:spcPts val="0"/>
                        </a:spcAft>
                        <a:buNone/>
                      </a:pPr>
                      <a:r>
                        <a:rPr lang="en-US" sz="2200" b="1" u="none" strike="noStrike"/>
                        <a:t>Description</a:t>
                      </a:r>
                      <a:endParaRPr sz="2200" b="1" i="0" u="none" strike="noStrike">
                        <a:solidFill>
                          <a:srgbClr val="000000"/>
                        </a:solidFill>
                        <a:latin typeface="Calibri"/>
                        <a:ea typeface="Calibri"/>
                        <a:cs typeface="Calibri"/>
                        <a:sym typeface="Calibri"/>
                      </a:endParaRPr>
                    </a:p>
                  </a:txBody>
                  <a:tcPr marL="9525" marR="9525" marT="9525" marB="0" anchor="ctr">
                    <a:solidFill>
                      <a:srgbClr val="FFC000"/>
                    </a:solidFill>
                  </a:tcPr>
                </a:tc>
                <a:extLst>
                  <a:ext uri="{0D108BD9-81ED-4DB2-BD59-A6C34878D82A}">
                    <a16:rowId xmlns:a16="http://schemas.microsoft.com/office/drawing/2014/main" val="10000"/>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Boolean add(E e)</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add the specified element to this set if it is not already present.</a:t>
                      </a:r>
                      <a:endParaRPr/>
                    </a:p>
                  </a:txBody>
                  <a:tcPr marL="9525" marR="9525" marT="9525" marB="0" anchor="ctr">
                    <a:solidFill>
                      <a:srgbClr val="FBE4D4"/>
                    </a:solidFill>
                  </a:tcPr>
                </a:tc>
                <a:extLst>
                  <a:ext uri="{0D108BD9-81ED-4DB2-BD59-A6C34878D82A}">
                    <a16:rowId xmlns:a16="http://schemas.microsoft.com/office/drawing/2014/main" val="10001"/>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void clear()</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remove all of the elements from the set.</a:t>
                      </a:r>
                      <a:endParaRPr/>
                    </a:p>
                  </a:txBody>
                  <a:tcPr marL="9525" marR="9525" marT="9525" marB="0" anchor="ctr">
                    <a:solidFill>
                      <a:schemeClr val="lt1"/>
                    </a:solidFill>
                  </a:tcPr>
                </a:tc>
                <a:extLst>
                  <a:ext uri="{0D108BD9-81ED-4DB2-BD59-A6C34878D82A}">
                    <a16:rowId xmlns:a16="http://schemas.microsoft.com/office/drawing/2014/main" val="10002"/>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object clone()</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return a shallow copy of this HashSet instance: the elements themselves are not cloned.</a:t>
                      </a:r>
                      <a:endParaRPr/>
                    </a:p>
                  </a:txBody>
                  <a:tcPr marL="9525" marR="9525" marT="9525" marB="0" anchor="ctr">
                    <a:solidFill>
                      <a:srgbClr val="FBE4D4"/>
                    </a:solidFill>
                  </a:tcPr>
                </a:tc>
                <a:extLst>
                  <a:ext uri="{0D108BD9-81ED-4DB2-BD59-A6C34878D82A}">
                    <a16:rowId xmlns:a16="http://schemas.microsoft.com/office/drawing/2014/main" val="10003"/>
                  </a:ext>
                </a:extLst>
              </a:tr>
              <a:tr h="3810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boolean contains(Object o)</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return true if this set contains the specified element.</a:t>
                      </a:r>
                      <a:endParaRPr/>
                    </a:p>
                  </a:txBody>
                  <a:tcPr marL="9525" marR="9525" marT="9525" marB="0" anchor="ctr">
                    <a:solidFill>
                      <a:schemeClr val="lt1"/>
                    </a:solidFill>
                  </a:tcPr>
                </a:tc>
                <a:extLst>
                  <a:ext uri="{0D108BD9-81ED-4DB2-BD59-A6C34878D82A}">
                    <a16:rowId xmlns:a16="http://schemas.microsoft.com/office/drawing/2014/main" val="10004"/>
                  </a:ext>
                </a:extLst>
              </a:tr>
              <a:tr h="3810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boolean isEmpty()</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return true if this set contains no elements.</a:t>
                      </a:r>
                      <a:endParaRPr/>
                    </a:p>
                  </a:txBody>
                  <a:tcPr marL="9525" marR="9525" marT="9525" marB="0" anchor="ctr">
                    <a:solidFill>
                      <a:srgbClr val="FBE4D4"/>
                    </a:solidFill>
                  </a:tcPr>
                </a:tc>
                <a:extLst>
                  <a:ext uri="{0D108BD9-81ED-4DB2-BD59-A6C34878D82A}">
                    <a16:rowId xmlns:a16="http://schemas.microsoft.com/office/drawing/2014/main" val="10005"/>
                  </a:ext>
                </a:extLst>
              </a:tr>
              <a:tr h="3810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Iterator&lt;E&gt; iterator()</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return an iterator over the elements in this set.</a:t>
                      </a:r>
                      <a:endParaRPr/>
                    </a:p>
                  </a:txBody>
                  <a:tcPr marL="9525" marR="9525" marT="9525" marB="0" anchor="ctr">
                    <a:solidFill>
                      <a:schemeClr val="lt1"/>
                    </a:solidFill>
                  </a:tcPr>
                </a:tc>
                <a:extLst>
                  <a:ext uri="{0D108BD9-81ED-4DB2-BD59-A6C34878D82A}">
                    <a16:rowId xmlns:a16="http://schemas.microsoft.com/office/drawing/2014/main" val="10006"/>
                  </a:ext>
                </a:extLst>
              </a:tr>
              <a:tr h="3810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boolean remove(Object o)</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remove the specified element from this set if it is present</a:t>
                      </a:r>
                      <a:endParaRPr/>
                    </a:p>
                  </a:txBody>
                  <a:tcPr marL="9525" marR="9525" marT="9525" marB="0" anchor="ctr">
                    <a:solidFill>
                      <a:srgbClr val="FBE4D4"/>
                    </a:solidFill>
                  </a:tcPr>
                </a:tc>
                <a:extLst>
                  <a:ext uri="{0D108BD9-81ED-4DB2-BD59-A6C34878D82A}">
                    <a16:rowId xmlns:a16="http://schemas.microsoft.com/office/drawing/2014/main" val="10007"/>
                  </a:ext>
                </a:extLst>
              </a:tr>
              <a:tr h="3810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Int size()</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return the number of elements in the set.</a:t>
                      </a:r>
                      <a:endParaRPr/>
                    </a:p>
                  </a:txBody>
                  <a:tcPr marL="9525" marR="9525" marT="9525" marB="0" anchor="ctr">
                    <a:solidFill>
                      <a:schemeClr val="lt1"/>
                    </a:solid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53"/>
          <p:cNvSpPr/>
          <p:nvPr/>
        </p:nvSpPr>
        <p:spPr>
          <a:xfrm>
            <a:off x="1" y="0"/>
            <a:ext cx="3897442" cy="6858000"/>
          </a:xfrm>
          <a:prstGeom prst="rect">
            <a:avLst/>
          </a:pr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4" name="Google Shape;854;p53"/>
          <p:cNvSpPr txBox="1"/>
          <p:nvPr/>
        </p:nvSpPr>
        <p:spPr>
          <a:xfrm>
            <a:off x="1151292" y="237372"/>
            <a:ext cx="15948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Topics</a:t>
            </a:r>
            <a:endParaRPr/>
          </a:p>
        </p:txBody>
      </p:sp>
      <p:sp>
        <p:nvSpPr>
          <p:cNvPr id="855" name="Google Shape;855;p53"/>
          <p:cNvSpPr txBox="1"/>
          <p:nvPr/>
        </p:nvSpPr>
        <p:spPr>
          <a:xfrm>
            <a:off x="5989419" y="2721114"/>
            <a:ext cx="42259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61628"/>
                </a:solidFill>
                <a:latin typeface="Calibri"/>
                <a:ea typeface="Calibri"/>
                <a:cs typeface="Calibri"/>
                <a:sym typeface="Calibri"/>
              </a:rPr>
              <a:t>08	LinkedHashSet</a:t>
            </a:r>
            <a:endParaRPr/>
          </a:p>
        </p:txBody>
      </p:sp>
      <p:pic>
        <p:nvPicPr>
          <p:cNvPr id="856" name="Google Shape;856;p53"/>
          <p:cNvPicPr preferRelativeResize="0"/>
          <p:nvPr/>
        </p:nvPicPr>
        <p:blipFill rotWithShape="1">
          <a:blip r:embed="rId3">
            <a:alphaModFix/>
          </a:blip>
          <a:srcRect l="25290" t="6287" r="23678" b="6958"/>
          <a:stretch/>
        </p:blipFill>
        <p:spPr>
          <a:xfrm>
            <a:off x="957407" y="1890227"/>
            <a:ext cx="1637034" cy="2782957"/>
          </a:xfrm>
          <a:prstGeom prst="rect">
            <a:avLst/>
          </a:prstGeom>
          <a:noFill/>
          <a:ln>
            <a:noFill/>
          </a:ln>
        </p:spPr>
      </p:pic>
      <p:sp>
        <p:nvSpPr>
          <p:cNvPr id="857" name="Google Shape;857;p53"/>
          <p:cNvSpPr txBox="1"/>
          <p:nvPr/>
        </p:nvSpPr>
        <p:spPr>
          <a:xfrm>
            <a:off x="4784035" y="0"/>
            <a:ext cx="564755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rgbClr val="261628"/>
                </a:solidFill>
                <a:latin typeface="Calibri"/>
                <a:ea typeface="Calibri"/>
                <a:cs typeface="Calibri"/>
                <a:sym typeface="Calibri"/>
              </a:rPr>
              <a:t>Collection Framework</a:t>
            </a:r>
            <a:endParaRPr/>
          </a:p>
        </p:txBody>
      </p:sp>
      <p:grpSp>
        <p:nvGrpSpPr>
          <p:cNvPr id="858" name="Google Shape;858;p53"/>
          <p:cNvGrpSpPr/>
          <p:nvPr/>
        </p:nvGrpSpPr>
        <p:grpSpPr>
          <a:xfrm>
            <a:off x="485505" y="4776597"/>
            <a:ext cx="2570156" cy="1560001"/>
            <a:chOff x="862157" y="4413681"/>
            <a:chExt cx="2570156" cy="1560001"/>
          </a:xfrm>
        </p:grpSpPr>
        <p:pic>
          <p:nvPicPr>
            <p:cNvPr id="859" name="Google Shape;859;p53"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860" name="Google Shape;860;p53"/>
            <p:cNvSpPr/>
            <p:nvPr/>
          </p:nvSpPr>
          <p:spPr>
            <a:xfrm>
              <a:off x="862157" y="4413681"/>
              <a:ext cx="2570156" cy="372346"/>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1">
                  <a:solidFill>
                    <a:schemeClr val="lt1"/>
                  </a:solidFill>
                  <a:latin typeface="Roboto"/>
                  <a:ea typeface="Roboto"/>
                  <a:cs typeface="Roboto"/>
                  <a:sym typeface="Roboto"/>
                </a:rPr>
                <a:t>Collection Framework</a:t>
              </a:r>
              <a:endParaRPr/>
            </a:p>
          </p:txBody>
        </p:sp>
      </p:gr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pic>
        <p:nvPicPr>
          <p:cNvPr id="865" name="Google Shape;865;p54"/>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866" name="Google Shape;866;p54"/>
          <p:cNvGrpSpPr/>
          <p:nvPr/>
        </p:nvGrpSpPr>
        <p:grpSpPr>
          <a:xfrm>
            <a:off x="118191" y="106018"/>
            <a:ext cx="1498574" cy="904328"/>
            <a:chOff x="862157" y="4413681"/>
            <a:chExt cx="2570156" cy="1560001"/>
          </a:xfrm>
        </p:grpSpPr>
        <p:pic>
          <p:nvPicPr>
            <p:cNvPr id="867" name="Google Shape;867;p54"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868" name="Google Shape;868;p54"/>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869" name="Google Shape;869;p54"/>
          <p:cNvSpPr/>
          <p:nvPr/>
        </p:nvSpPr>
        <p:spPr>
          <a:xfrm>
            <a:off x="5161721" y="1639711"/>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Collection</a:t>
            </a:r>
            <a:endParaRPr/>
          </a:p>
        </p:txBody>
      </p:sp>
      <p:sp>
        <p:nvSpPr>
          <p:cNvPr id="870" name="Google Shape;870;p54"/>
          <p:cNvSpPr/>
          <p:nvPr/>
        </p:nvSpPr>
        <p:spPr>
          <a:xfrm>
            <a:off x="5161721" y="2698459"/>
            <a:ext cx="1868557" cy="614578"/>
          </a:xfrm>
          <a:prstGeom prst="rect">
            <a:avLst/>
          </a:prstGeom>
          <a:solidFill>
            <a:schemeClr val="accent4">
              <a:alpha val="49803"/>
            </a:schemeClr>
          </a:solid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Set (1.2)</a:t>
            </a:r>
            <a:endParaRPr/>
          </a:p>
        </p:txBody>
      </p:sp>
      <p:sp>
        <p:nvSpPr>
          <p:cNvPr id="871" name="Google Shape;871;p54"/>
          <p:cNvSpPr/>
          <p:nvPr/>
        </p:nvSpPr>
        <p:spPr>
          <a:xfrm>
            <a:off x="4599654" y="3803138"/>
            <a:ext cx="1124134" cy="490330"/>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HashSet (1.2)</a:t>
            </a:r>
            <a:endParaRPr/>
          </a:p>
        </p:txBody>
      </p:sp>
      <p:sp>
        <p:nvSpPr>
          <p:cNvPr id="872" name="Google Shape;872;p54"/>
          <p:cNvSpPr/>
          <p:nvPr/>
        </p:nvSpPr>
        <p:spPr>
          <a:xfrm>
            <a:off x="6285964" y="3778696"/>
            <a:ext cx="1864591" cy="614577"/>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SortedSet (1.2)</a:t>
            </a:r>
            <a:endParaRPr/>
          </a:p>
        </p:txBody>
      </p:sp>
      <p:sp>
        <p:nvSpPr>
          <p:cNvPr id="873" name="Google Shape;873;p54"/>
          <p:cNvSpPr/>
          <p:nvPr/>
        </p:nvSpPr>
        <p:spPr>
          <a:xfrm>
            <a:off x="4362218" y="5151307"/>
            <a:ext cx="1615539" cy="490330"/>
          </a:xfrm>
          <a:prstGeom prst="rect">
            <a:avLst/>
          </a:prstGeom>
          <a:solidFill>
            <a:schemeClr val="accent4">
              <a:alpha val="49803"/>
            </a:schemeClr>
          </a:solid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LinkedHashSet (1.4)</a:t>
            </a:r>
            <a:endParaRPr/>
          </a:p>
        </p:txBody>
      </p:sp>
      <p:sp>
        <p:nvSpPr>
          <p:cNvPr id="874" name="Google Shape;874;p54"/>
          <p:cNvSpPr/>
          <p:nvPr/>
        </p:nvSpPr>
        <p:spPr>
          <a:xfrm>
            <a:off x="6204472" y="5027990"/>
            <a:ext cx="2056815" cy="614577"/>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NavigableSet (1.6)</a:t>
            </a:r>
            <a:endParaRPr/>
          </a:p>
        </p:txBody>
      </p:sp>
      <p:sp>
        <p:nvSpPr>
          <p:cNvPr id="875" name="Google Shape;875;p54"/>
          <p:cNvSpPr/>
          <p:nvPr/>
        </p:nvSpPr>
        <p:spPr>
          <a:xfrm>
            <a:off x="6425110" y="6218621"/>
            <a:ext cx="1615539" cy="490330"/>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TreeSet (1.2)</a:t>
            </a:r>
            <a:endParaRPr/>
          </a:p>
        </p:txBody>
      </p:sp>
      <p:cxnSp>
        <p:nvCxnSpPr>
          <p:cNvPr id="876" name="Google Shape;876;p54"/>
          <p:cNvCxnSpPr>
            <a:stCxn id="871" idx="0"/>
            <a:endCxn id="870" idx="2"/>
          </p:cNvCxnSpPr>
          <p:nvPr/>
        </p:nvCxnSpPr>
        <p:spPr>
          <a:xfrm rot="10800000" flipH="1">
            <a:off x="5161721" y="3312938"/>
            <a:ext cx="934200" cy="490200"/>
          </a:xfrm>
          <a:prstGeom prst="straightConnector1">
            <a:avLst/>
          </a:prstGeom>
          <a:noFill/>
          <a:ln w="28575" cap="flat" cmpd="sng">
            <a:solidFill>
              <a:schemeClr val="dk1"/>
            </a:solidFill>
            <a:prstDash val="dash"/>
            <a:miter lim="800000"/>
            <a:headEnd type="none" w="sm" len="sm"/>
            <a:tailEnd type="triangle" w="med" len="med"/>
          </a:ln>
        </p:spPr>
      </p:cxnSp>
      <p:cxnSp>
        <p:nvCxnSpPr>
          <p:cNvPr id="877" name="Google Shape;877;p54"/>
          <p:cNvCxnSpPr>
            <a:stCxn id="872" idx="0"/>
            <a:endCxn id="870" idx="2"/>
          </p:cNvCxnSpPr>
          <p:nvPr/>
        </p:nvCxnSpPr>
        <p:spPr>
          <a:xfrm rot="10800000">
            <a:off x="6095960" y="3313096"/>
            <a:ext cx="1122300" cy="465600"/>
          </a:xfrm>
          <a:prstGeom prst="straightConnector1">
            <a:avLst/>
          </a:prstGeom>
          <a:noFill/>
          <a:ln w="28575" cap="flat" cmpd="sng">
            <a:solidFill>
              <a:schemeClr val="dk1"/>
            </a:solidFill>
            <a:prstDash val="solid"/>
            <a:miter lim="800000"/>
            <a:headEnd type="none" w="sm" len="sm"/>
            <a:tailEnd type="triangle" w="med" len="med"/>
          </a:ln>
        </p:spPr>
      </p:cxnSp>
      <p:cxnSp>
        <p:nvCxnSpPr>
          <p:cNvPr id="878" name="Google Shape;878;p54"/>
          <p:cNvCxnSpPr>
            <a:stCxn id="873" idx="0"/>
            <a:endCxn id="871" idx="2"/>
          </p:cNvCxnSpPr>
          <p:nvPr/>
        </p:nvCxnSpPr>
        <p:spPr>
          <a:xfrm rot="10800000">
            <a:off x="5161587" y="4293607"/>
            <a:ext cx="8400" cy="857700"/>
          </a:xfrm>
          <a:prstGeom prst="straightConnector1">
            <a:avLst/>
          </a:prstGeom>
          <a:noFill/>
          <a:ln w="28575" cap="flat" cmpd="sng">
            <a:solidFill>
              <a:schemeClr val="dk1"/>
            </a:solidFill>
            <a:prstDash val="solid"/>
            <a:miter lim="800000"/>
            <a:headEnd type="none" w="sm" len="sm"/>
            <a:tailEnd type="triangle" w="med" len="med"/>
          </a:ln>
        </p:spPr>
      </p:cxnSp>
      <p:cxnSp>
        <p:nvCxnSpPr>
          <p:cNvPr id="879" name="Google Shape;879;p54"/>
          <p:cNvCxnSpPr>
            <a:stCxn id="874" idx="0"/>
            <a:endCxn id="872" idx="2"/>
          </p:cNvCxnSpPr>
          <p:nvPr/>
        </p:nvCxnSpPr>
        <p:spPr>
          <a:xfrm rot="10800000">
            <a:off x="7218179" y="4393190"/>
            <a:ext cx="14700" cy="634800"/>
          </a:xfrm>
          <a:prstGeom prst="straightConnector1">
            <a:avLst/>
          </a:prstGeom>
          <a:noFill/>
          <a:ln w="28575" cap="flat" cmpd="sng">
            <a:solidFill>
              <a:schemeClr val="dk1"/>
            </a:solidFill>
            <a:prstDash val="solid"/>
            <a:miter lim="800000"/>
            <a:headEnd type="none" w="sm" len="sm"/>
            <a:tailEnd type="triangle" w="med" len="med"/>
          </a:ln>
        </p:spPr>
      </p:cxnSp>
      <p:cxnSp>
        <p:nvCxnSpPr>
          <p:cNvPr id="880" name="Google Shape;880;p54"/>
          <p:cNvCxnSpPr>
            <a:stCxn id="875" idx="0"/>
            <a:endCxn id="874" idx="2"/>
          </p:cNvCxnSpPr>
          <p:nvPr/>
        </p:nvCxnSpPr>
        <p:spPr>
          <a:xfrm rot="10800000">
            <a:off x="7232880" y="5642621"/>
            <a:ext cx="0" cy="576000"/>
          </a:xfrm>
          <a:prstGeom prst="straightConnector1">
            <a:avLst/>
          </a:prstGeom>
          <a:noFill/>
          <a:ln w="28575" cap="flat" cmpd="sng">
            <a:solidFill>
              <a:schemeClr val="dk1"/>
            </a:solidFill>
            <a:prstDash val="dash"/>
            <a:miter lim="800000"/>
            <a:headEnd type="none" w="sm" len="sm"/>
            <a:tailEnd type="triangle" w="med" len="med"/>
          </a:ln>
        </p:spPr>
      </p:cxnSp>
      <p:cxnSp>
        <p:nvCxnSpPr>
          <p:cNvPr id="881" name="Google Shape;881;p54"/>
          <p:cNvCxnSpPr>
            <a:endCxn id="869" idx="2"/>
          </p:cNvCxnSpPr>
          <p:nvPr/>
        </p:nvCxnSpPr>
        <p:spPr>
          <a:xfrm rot="10800000" flipH="1">
            <a:off x="6091500" y="2183157"/>
            <a:ext cx="4500" cy="493500"/>
          </a:xfrm>
          <a:prstGeom prst="straightConnector1">
            <a:avLst/>
          </a:prstGeom>
          <a:noFill/>
          <a:ln w="28575" cap="flat" cmpd="sng">
            <a:solidFill>
              <a:schemeClr val="dk1"/>
            </a:solidFill>
            <a:prstDash val="solid"/>
            <a:miter lim="800000"/>
            <a:headEnd type="none" w="sm" len="sm"/>
            <a:tailEnd type="triangle" w="med" len="med"/>
          </a:ln>
        </p:spPr>
      </p:cxnSp>
      <p:sp>
        <p:nvSpPr>
          <p:cNvPr id="882" name="Google Shape;882;p54"/>
          <p:cNvSpPr/>
          <p:nvPr/>
        </p:nvSpPr>
        <p:spPr>
          <a:xfrm>
            <a:off x="5157200" y="612481"/>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Iterable</a:t>
            </a:r>
            <a:endParaRPr/>
          </a:p>
        </p:txBody>
      </p:sp>
      <p:cxnSp>
        <p:nvCxnSpPr>
          <p:cNvPr id="883" name="Google Shape;883;p54"/>
          <p:cNvCxnSpPr/>
          <p:nvPr/>
        </p:nvCxnSpPr>
        <p:spPr>
          <a:xfrm rot="10800000" flipH="1">
            <a:off x="6086957" y="1156060"/>
            <a:ext cx="4521" cy="493626"/>
          </a:xfrm>
          <a:prstGeom prst="straightConnector1">
            <a:avLst/>
          </a:prstGeom>
          <a:noFill/>
          <a:ln w="28575" cap="flat" cmpd="sng">
            <a:solidFill>
              <a:schemeClr val="dk1"/>
            </a:solidFill>
            <a:prstDash val="solid"/>
            <a:miter lim="800000"/>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pic>
        <p:nvPicPr>
          <p:cNvPr id="888" name="Google Shape;888;p55"/>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889" name="Google Shape;889;p55"/>
          <p:cNvGrpSpPr/>
          <p:nvPr/>
        </p:nvGrpSpPr>
        <p:grpSpPr>
          <a:xfrm>
            <a:off x="118191" y="106018"/>
            <a:ext cx="1498574" cy="904328"/>
            <a:chOff x="862157" y="4413681"/>
            <a:chExt cx="2570156" cy="1560001"/>
          </a:xfrm>
        </p:grpSpPr>
        <p:pic>
          <p:nvPicPr>
            <p:cNvPr id="890" name="Google Shape;890;p55"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891" name="Google Shape;891;p55"/>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892" name="Google Shape;892;p55"/>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LinkedHash Set</a:t>
            </a:r>
            <a:endParaRPr/>
          </a:p>
        </p:txBody>
      </p:sp>
      <p:sp>
        <p:nvSpPr>
          <p:cNvPr id="893" name="Google Shape;893;p55"/>
          <p:cNvSpPr txBox="1"/>
          <p:nvPr/>
        </p:nvSpPr>
        <p:spPr>
          <a:xfrm>
            <a:off x="867478" y="811365"/>
            <a:ext cx="10960734" cy="526297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Java LinkedHashSet class is used to create a collection that uses a hash table for storage. It extends HashSet and implements Set interface.</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LinkedHashSet stores the elements by using a mechanism called hashing.</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LinkedHashSet contains unique elements only.</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LinkedHashSet allows null value.</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HashSet class is non synchronized.</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LinkedHashSet maintain the insertion order. </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HashSet is the best approach for insertion and removal operations.</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pic>
        <p:nvPicPr>
          <p:cNvPr id="898" name="Google Shape;898;p56"/>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899" name="Google Shape;899;p56"/>
          <p:cNvGrpSpPr/>
          <p:nvPr/>
        </p:nvGrpSpPr>
        <p:grpSpPr>
          <a:xfrm>
            <a:off x="118191" y="106018"/>
            <a:ext cx="1498574" cy="904328"/>
            <a:chOff x="862157" y="4413681"/>
            <a:chExt cx="2570156" cy="1560001"/>
          </a:xfrm>
        </p:grpSpPr>
        <p:pic>
          <p:nvPicPr>
            <p:cNvPr id="900" name="Google Shape;900;p56"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901" name="Google Shape;901;p56"/>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902" name="Google Shape;902;p56"/>
          <p:cNvSpPr txBox="1"/>
          <p:nvPr/>
        </p:nvSpPr>
        <p:spPr>
          <a:xfrm>
            <a:off x="867478" y="811365"/>
            <a:ext cx="10960734" cy="600164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The initial default capacity of HashSet is 16, and the load factor is 0.75.</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It has 4 constructors</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1257300" marR="0" lvl="2"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LinkedHashSet() 	– It is used to construct a default HashSet. </a:t>
            </a:r>
            <a:endParaRPr/>
          </a:p>
          <a:p>
            <a:pPr marL="1257300" marR="0" lvl="2" indent="-190500" algn="l" rtl="0">
              <a:spcBef>
                <a:spcPts val="0"/>
              </a:spcBef>
              <a:spcAft>
                <a:spcPts val="0"/>
              </a:spcAft>
              <a:buClr>
                <a:schemeClr val="dk1"/>
              </a:buClr>
              <a:buSzPts val="2400"/>
              <a:buFont typeface="Noto Sans Symbols"/>
              <a:buNone/>
            </a:pPr>
            <a:endParaRPr sz="2400" b="1" i="0" u="none" strike="noStrike" cap="none">
              <a:solidFill>
                <a:schemeClr val="dk1"/>
              </a:solidFill>
              <a:latin typeface="Calibri"/>
              <a:ea typeface="Calibri"/>
              <a:cs typeface="Calibri"/>
              <a:sym typeface="Calibri"/>
            </a:endParaRPr>
          </a:p>
          <a:p>
            <a:pPr marL="1257300" marR="0" lvl="2"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LinkedHashSet(int capacity) – It is used to initialize the capacity of the hash set to the given integer value capacity. The capacity grows automatically as elements are added to the HashSet.</a:t>
            </a:r>
            <a:endParaRPr/>
          </a:p>
          <a:p>
            <a:pPr marL="1257300" marR="0" lvl="2" indent="-190500" algn="l" rtl="0">
              <a:spcBef>
                <a:spcPts val="0"/>
              </a:spcBef>
              <a:spcAft>
                <a:spcPts val="0"/>
              </a:spcAft>
              <a:buClr>
                <a:schemeClr val="dk1"/>
              </a:buClr>
              <a:buSzPts val="2400"/>
              <a:buFont typeface="Noto Sans Symbols"/>
              <a:buNone/>
            </a:pPr>
            <a:endParaRPr sz="2400" b="1" i="0" u="none" strike="noStrike" cap="none">
              <a:solidFill>
                <a:schemeClr val="dk1"/>
              </a:solidFill>
              <a:latin typeface="Calibri"/>
              <a:ea typeface="Calibri"/>
              <a:cs typeface="Calibri"/>
              <a:sym typeface="Calibri"/>
            </a:endParaRPr>
          </a:p>
          <a:p>
            <a:pPr marL="1257300" marR="0" lvl="2"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LinkedHashSet(int capacity, float loadFactor) – It is used to initialize the capacity of the hash set to the given integer value capacity and the specified load factor.</a:t>
            </a:r>
            <a:endParaRPr/>
          </a:p>
          <a:p>
            <a:pPr marL="1257300" marR="0" lvl="2" indent="-190500" algn="l" rtl="0">
              <a:spcBef>
                <a:spcPts val="0"/>
              </a:spcBef>
              <a:spcAft>
                <a:spcPts val="0"/>
              </a:spcAft>
              <a:buClr>
                <a:schemeClr val="dk1"/>
              </a:buClr>
              <a:buSzPts val="2400"/>
              <a:buFont typeface="Noto Sans Symbols"/>
              <a:buNone/>
            </a:pPr>
            <a:endParaRPr sz="2400" b="1" i="0" u="none" strike="noStrike" cap="none">
              <a:solidFill>
                <a:schemeClr val="dk1"/>
              </a:solidFill>
              <a:latin typeface="Calibri"/>
              <a:ea typeface="Calibri"/>
              <a:cs typeface="Calibri"/>
              <a:sym typeface="Calibri"/>
            </a:endParaRPr>
          </a:p>
          <a:p>
            <a:pPr marL="1257300" marR="0" lvl="2"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HashSet(Collection&lt;? extends E&gt; c) – It is used to initialize the hash set by using the elements of the collection c.</a:t>
            </a:r>
            <a:endParaRPr/>
          </a:p>
        </p:txBody>
      </p:sp>
      <p:sp>
        <p:nvSpPr>
          <p:cNvPr id="903" name="Google Shape;903;p56"/>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LinkedHash Set</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pic>
        <p:nvPicPr>
          <p:cNvPr id="908" name="Google Shape;908;p57"/>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909" name="Google Shape;909;p57"/>
          <p:cNvGrpSpPr/>
          <p:nvPr/>
        </p:nvGrpSpPr>
        <p:grpSpPr>
          <a:xfrm>
            <a:off x="118191" y="106018"/>
            <a:ext cx="1498574" cy="904328"/>
            <a:chOff x="862157" y="4413681"/>
            <a:chExt cx="2570156" cy="1560001"/>
          </a:xfrm>
        </p:grpSpPr>
        <p:pic>
          <p:nvPicPr>
            <p:cNvPr id="910" name="Google Shape;910;p57"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911" name="Google Shape;911;p57"/>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graphicFrame>
        <p:nvGraphicFramePr>
          <p:cNvPr id="912" name="Google Shape;912;p57"/>
          <p:cNvGraphicFramePr/>
          <p:nvPr/>
        </p:nvGraphicFramePr>
        <p:xfrm>
          <a:off x="318052" y="1558331"/>
          <a:ext cx="3000000" cy="3000000"/>
        </p:xfrm>
        <a:graphic>
          <a:graphicData uri="http://schemas.openxmlformats.org/drawingml/2006/table">
            <a:tbl>
              <a:tblPr>
                <a:noFill/>
                <a:tableStyleId>{B9160D5A-F4D8-4355-9011-09AB1966FD5C}</a:tableStyleId>
              </a:tblPr>
              <a:tblGrid>
                <a:gridCol w="3710600">
                  <a:extLst>
                    <a:ext uri="{9D8B030D-6E8A-4147-A177-3AD203B41FA5}">
                      <a16:colId xmlns:a16="http://schemas.microsoft.com/office/drawing/2014/main" val="20000"/>
                    </a:ext>
                  </a:extLst>
                </a:gridCol>
                <a:gridCol w="7845275">
                  <a:extLst>
                    <a:ext uri="{9D8B030D-6E8A-4147-A177-3AD203B41FA5}">
                      <a16:colId xmlns:a16="http://schemas.microsoft.com/office/drawing/2014/main" val="20001"/>
                    </a:ext>
                  </a:extLst>
                </a:gridCol>
              </a:tblGrid>
              <a:tr h="190500">
                <a:tc>
                  <a:txBody>
                    <a:bodyPr/>
                    <a:lstStyle/>
                    <a:p>
                      <a:pPr marL="0" marR="0" lvl="0" indent="0" algn="ctr" rtl="0">
                        <a:spcBef>
                          <a:spcPts val="0"/>
                        </a:spcBef>
                        <a:spcAft>
                          <a:spcPts val="0"/>
                        </a:spcAft>
                        <a:buNone/>
                      </a:pPr>
                      <a:r>
                        <a:rPr lang="en-US" sz="2200" b="1" u="none" strike="noStrike"/>
                        <a:t>Method</a:t>
                      </a:r>
                      <a:endParaRPr sz="2200" b="1" i="0" u="none" strike="noStrike">
                        <a:solidFill>
                          <a:srgbClr val="000000"/>
                        </a:solidFill>
                        <a:latin typeface="Calibri"/>
                        <a:ea typeface="Calibri"/>
                        <a:cs typeface="Calibri"/>
                        <a:sym typeface="Calibri"/>
                      </a:endParaRPr>
                    </a:p>
                  </a:txBody>
                  <a:tcPr marL="9525" marR="9525" marT="9525" marB="0" anchor="ctr">
                    <a:solidFill>
                      <a:srgbClr val="FFC000"/>
                    </a:solidFill>
                  </a:tcPr>
                </a:tc>
                <a:tc>
                  <a:txBody>
                    <a:bodyPr/>
                    <a:lstStyle/>
                    <a:p>
                      <a:pPr marL="0" marR="0" lvl="0" indent="0" algn="ctr" rtl="0">
                        <a:spcBef>
                          <a:spcPts val="0"/>
                        </a:spcBef>
                        <a:spcAft>
                          <a:spcPts val="0"/>
                        </a:spcAft>
                        <a:buNone/>
                      </a:pPr>
                      <a:r>
                        <a:rPr lang="en-US" sz="2200" b="1" u="none" strike="noStrike"/>
                        <a:t>Description</a:t>
                      </a:r>
                      <a:endParaRPr sz="2200" b="1" i="0" u="none" strike="noStrike">
                        <a:solidFill>
                          <a:srgbClr val="000000"/>
                        </a:solidFill>
                        <a:latin typeface="Calibri"/>
                        <a:ea typeface="Calibri"/>
                        <a:cs typeface="Calibri"/>
                        <a:sym typeface="Calibri"/>
                      </a:endParaRPr>
                    </a:p>
                  </a:txBody>
                  <a:tcPr marL="9525" marR="9525" marT="9525" marB="0" anchor="ctr">
                    <a:solidFill>
                      <a:srgbClr val="FFC000"/>
                    </a:solidFill>
                  </a:tcPr>
                </a:tc>
                <a:extLst>
                  <a:ext uri="{0D108BD9-81ED-4DB2-BD59-A6C34878D82A}">
                    <a16:rowId xmlns:a16="http://schemas.microsoft.com/office/drawing/2014/main" val="10000"/>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Boolean add(E e)</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add the specified element to this set if it is not already present.</a:t>
                      </a:r>
                      <a:endParaRPr/>
                    </a:p>
                  </a:txBody>
                  <a:tcPr marL="9525" marR="9525" marT="9525" marB="0" anchor="ctr">
                    <a:solidFill>
                      <a:srgbClr val="FBE4D4"/>
                    </a:solidFill>
                  </a:tcPr>
                </a:tc>
                <a:extLst>
                  <a:ext uri="{0D108BD9-81ED-4DB2-BD59-A6C34878D82A}">
                    <a16:rowId xmlns:a16="http://schemas.microsoft.com/office/drawing/2014/main" val="10001"/>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void clear()</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remove all of the elements from the set.</a:t>
                      </a:r>
                      <a:endParaRPr/>
                    </a:p>
                  </a:txBody>
                  <a:tcPr marL="9525" marR="9525" marT="9525" marB="0" anchor="ctr">
                    <a:solidFill>
                      <a:schemeClr val="lt1"/>
                    </a:solidFill>
                  </a:tcPr>
                </a:tc>
                <a:extLst>
                  <a:ext uri="{0D108BD9-81ED-4DB2-BD59-A6C34878D82A}">
                    <a16:rowId xmlns:a16="http://schemas.microsoft.com/office/drawing/2014/main" val="10002"/>
                  </a:ext>
                </a:extLst>
              </a:tr>
              <a:tr h="1905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object clone()</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return a shallow copy of this HashSet instance: the elements themselves are not cloned.</a:t>
                      </a:r>
                      <a:endParaRPr/>
                    </a:p>
                  </a:txBody>
                  <a:tcPr marL="9525" marR="9525" marT="9525" marB="0" anchor="ctr">
                    <a:solidFill>
                      <a:srgbClr val="FBE4D4"/>
                    </a:solidFill>
                  </a:tcPr>
                </a:tc>
                <a:extLst>
                  <a:ext uri="{0D108BD9-81ED-4DB2-BD59-A6C34878D82A}">
                    <a16:rowId xmlns:a16="http://schemas.microsoft.com/office/drawing/2014/main" val="10003"/>
                  </a:ext>
                </a:extLst>
              </a:tr>
              <a:tr h="3810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boolean contains(Object o)</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return true if this set contains the specified element.</a:t>
                      </a:r>
                      <a:endParaRPr/>
                    </a:p>
                  </a:txBody>
                  <a:tcPr marL="9525" marR="9525" marT="9525" marB="0" anchor="ctr">
                    <a:solidFill>
                      <a:schemeClr val="lt1"/>
                    </a:solidFill>
                  </a:tcPr>
                </a:tc>
                <a:extLst>
                  <a:ext uri="{0D108BD9-81ED-4DB2-BD59-A6C34878D82A}">
                    <a16:rowId xmlns:a16="http://schemas.microsoft.com/office/drawing/2014/main" val="10004"/>
                  </a:ext>
                </a:extLst>
              </a:tr>
              <a:tr h="3810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boolean isEmpty()</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return true if this set contains no elements.</a:t>
                      </a:r>
                      <a:endParaRPr/>
                    </a:p>
                  </a:txBody>
                  <a:tcPr marL="9525" marR="9525" marT="9525" marB="0" anchor="ctr">
                    <a:solidFill>
                      <a:srgbClr val="FBE4D4"/>
                    </a:solidFill>
                  </a:tcPr>
                </a:tc>
                <a:extLst>
                  <a:ext uri="{0D108BD9-81ED-4DB2-BD59-A6C34878D82A}">
                    <a16:rowId xmlns:a16="http://schemas.microsoft.com/office/drawing/2014/main" val="10005"/>
                  </a:ext>
                </a:extLst>
              </a:tr>
              <a:tr h="3810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Iterator&lt;E&gt; iterator()</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return an iterator over the elements in this set.</a:t>
                      </a:r>
                      <a:endParaRPr/>
                    </a:p>
                  </a:txBody>
                  <a:tcPr marL="9525" marR="9525" marT="9525" marB="0" anchor="ctr">
                    <a:solidFill>
                      <a:schemeClr val="lt1"/>
                    </a:solidFill>
                  </a:tcPr>
                </a:tc>
                <a:extLst>
                  <a:ext uri="{0D108BD9-81ED-4DB2-BD59-A6C34878D82A}">
                    <a16:rowId xmlns:a16="http://schemas.microsoft.com/office/drawing/2014/main" val="10006"/>
                  </a:ext>
                </a:extLst>
              </a:tr>
              <a:tr h="3810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boolean remove(Object o)</a:t>
                      </a:r>
                      <a:endParaRPr/>
                    </a:p>
                  </a:txBody>
                  <a:tcPr marL="9525" marR="9525" marT="9525" marB="0" anchor="ctr">
                    <a:solidFill>
                      <a:srgbClr val="FBE4D4"/>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remove the specified element from this set if it is present</a:t>
                      </a:r>
                      <a:endParaRPr/>
                    </a:p>
                  </a:txBody>
                  <a:tcPr marL="9525" marR="9525" marT="9525" marB="0" anchor="ctr">
                    <a:solidFill>
                      <a:srgbClr val="FBE4D4"/>
                    </a:solidFill>
                  </a:tcPr>
                </a:tc>
                <a:extLst>
                  <a:ext uri="{0D108BD9-81ED-4DB2-BD59-A6C34878D82A}">
                    <a16:rowId xmlns:a16="http://schemas.microsoft.com/office/drawing/2014/main" val="10007"/>
                  </a:ext>
                </a:extLst>
              </a:tr>
              <a:tr h="381000">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Int size()</a:t>
                      </a:r>
                      <a:endParaRPr/>
                    </a:p>
                  </a:txBody>
                  <a:tcPr marL="9525" marR="9525" marT="9525" marB="0" anchor="ctr">
                    <a:solidFill>
                      <a:schemeClr val="lt1"/>
                    </a:solidFill>
                  </a:tcPr>
                </a:tc>
                <a:tc>
                  <a:txBody>
                    <a:bodyPr/>
                    <a:lstStyle/>
                    <a:p>
                      <a:pPr marL="0" marR="0" lvl="0" indent="0" algn="l" rtl="0">
                        <a:spcBef>
                          <a:spcPts val="0"/>
                        </a:spcBef>
                        <a:spcAft>
                          <a:spcPts val="0"/>
                        </a:spcAft>
                        <a:buNone/>
                      </a:pPr>
                      <a:r>
                        <a:rPr lang="en-US" sz="2200" b="1" i="0" u="none" strike="noStrike">
                          <a:solidFill>
                            <a:srgbClr val="000000"/>
                          </a:solidFill>
                          <a:latin typeface="Calibri"/>
                          <a:ea typeface="Calibri"/>
                          <a:cs typeface="Calibri"/>
                          <a:sym typeface="Calibri"/>
                        </a:rPr>
                        <a:t>It is used to return the number of elements in the set.</a:t>
                      </a:r>
                      <a:endParaRPr/>
                    </a:p>
                  </a:txBody>
                  <a:tcPr marL="9525" marR="9525" marT="9525" marB="0" anchor="ctr">
                    <a:solidFill>
                      <a:schemeClr val="lt1"/>
                    </a:solidFill>
                  </a:tcPr>
                </a:tc>
                <a:extLst>
                  <a:ext uri="{0D108BD9-81ED-4DB2-BD59-A6C34878D82A}">
                    <a16:rowId xmlns:a16="http://schemas.microsoft.com/office/drawing/2014/main" val="10008"/>
                  </a:ext>
                </a:extLst>
              </a:tr>
            </a:tbl>
          </a:graphicData>
        </a:graphic>
      </p:graphicFrame>
      <p:sp>
        <p:nvSpPr>
          <p:cNvPr id="913" name="Google Shape;913;p57"/>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LinkedHash Set</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58"/>
          <p:cNvSpPr/>
          <p:nvPr/>
        </p:nvSpPr>
        <p:spPr>
          <a:xfrm>
            <a:off x="1" y="0"/>
            <a:ext cx="3897442" cy="6858000"/>
          </a:xfrm>
          <a:prstGeom prst="rect">
            <a:avLst/>
          </a:pr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9" name="Google Shape;919;p58"/>
          <p:cNvSpPr txBox="1"/>
          <p:nvPr/>
        </p:nvSpPr>
        <p:spPr>
          <a:xfrm>
            <a:off x="1151292" y="237372"/>
            <a:ext cx="15948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Topics</a:t>
            </a:r>
            <a:endParaRPr/>
          </a:p>
        </p:txBody>
      </p:sp>
      <p:sp>
        <p:nvSpPr>
          <p:cNvPr id="920" name="Google Shape;920;p58"/>
          <p:cNvSpPr txBox="1"/>
          <p:nvPr/>
        </p:nvSpPr>
        <p:spPr>
          <a:xfrm>
            <a:off x="5989419" y="2721114"/>
            <a:ext cx="2702663"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61628"/>
                </a:solidFill>
                <a:latin typeface="Calibri"/>
                <a:ea typeface="Calibri"/>
                <a:cs typeface="Calibri"/>
                <a:sym typeface="Calibri"/>
              </a:rPr>
              <a:t>09	TreeSet</a:t>
            </a:r>
            <a:endParaRPr sz="4000" b="1">
              <a:solidFill>
                <a:srgbClr val="261628"/>
              </a:solidFill>
              <a:latin typeface="Calibri"/>
              <a:ea typeface="Calibri"/>
              <a:cs typeface="Calibri"/>
              <a:sym typeface="Calibri"/>
            </a:endParaRPr>
          </a:p>
        </p:txBody>
      </p:sp>
      <p:pic>
        <p:nvPicPr>
          <p:cNvPr id="921" name="Google Shape;921;p58"/>
          <p:cNvPicPr preferRelativeResize="0"/>
          <p:nvPr/>
        </p:nvPicPr>
        <p:blipFill rotWithShape="1">
          <a:blip r:embed="rId3">
            <a:alphaModFix/>
          </a:blip>
          <a:srcRect l="25290" t="6287" r="23678" b="6958"/>
          <a:stretch/>
        </p:blipFill>
        <p:spPr>
          <a:xfrm>
            <a:off x="957407" y="1890227"/>
            <a:ext cx="1637034" cy="2782957"/>
          </a:xfrm>
          <a:prstGeom prst="rect">
            <a:avLst/>
          </a:prstGeom>
          <a:noFill/>
          <a:ln>
            <a:noFill/>
          </a:ln>
        </p:spPr>
      </p:pic>
      <p:sp>
        <p:nvSpPr>
          <p:cNvPr id="922" name="Google Shape;922;p58"/>
          <p:cNvSpPr txBox="1"/>
          <p:nvPr/>
        </p:nvSpPr>
        <p:spPr>
          <a:xfrm>
            <a:off x="4784035" y="0"/>
            <a:ext cx="564755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rgbClr val="261628"/>
                </a:solidFill>
                <a:latin typeface="Calibri"/>
                <a:ea typeface="Calibri"/>
                <a:cs typeface="Calibri"/>
                <a:sym typeface="Calibri"/>
              </a:rPr>
              <a:t>Collection Framework</a:t>
            </a:r>
            <a:endParaRPr/>
          </a:p>
        </p:txBody>
      </p:sp>
      <p:grpSp>
        <p:nvGrpSpPr>
          <p:cNvPr id="923" name="Google Shape;923;p58"/>
          <p:cNvGrpSpPr/>
          <p:nvPr/>
        </p:nvGrpSpPr>
        <p:grpSpPr>
          <a:xfrm>
            <a:off x="485505" y="4776597"/>
            <a:ext cx="2570156" cy="1560001"/>
            <a:chOff x="862157" y="4413681"/>
            <a:chExt cx="2570156" cy="1560001"/>
          </a:xfrm>
        </p:grpSpPr>
        <p:pic>
          <p:nvPicPr>
            <p:cNvPr id="924" name="Google Shape;924;p58"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925" name="Google Shape;925;p58"/>
            <p:cNvSpPr/>
            <p:nvPr/>
          </p:nvSpPr>
          <p:spPr>
            <a:xfrm>
              <a:off x="862157" y="4413681"/>
              <a:ext cx="2570156" cy="372346"/>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1">
                  <a:solidFill>
                    <a:schemeClr val="lt1"/>
                  </a:solidFill>
                  <a:latin typeface="Roboto"/>
                  <a:ea typeface="Roboto"/>
                  <a:cs typeface="Roboto"/>
                  <a:sym typeface="Roboto"/>
                </a:rPr>
                <a:t>Collection Framework</a:t>
              </a:r>
              <a:endParaRPr/>
            </a:p>
          </p:txBody>
        </p:sp>
      </p:gr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pic>
        <p:nvPicPr>
          <p:cNvPr id="930" name="Google Shape;930;p59"/>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931" name="Google Shape;931;p59"/>
          <p:cNvGrpSpPr/>
          <p:nvPr/>
        </p:nvGrpSpPr>
        <p:grpSpPr>
          <a:xfrm>
            <a:off x="118191" y="106018"/>
            <a:ext cx="1498574" cy="904328"/>
            <a:chOff x="862157" y="4413681"/>
            <a:chExt cx="2570156" cy="1560001"/>
          </a:xfrm>
        </p:grpSpPr>
        <p:pic>
          <p:nvPicPr>
            <p:cNvPr id="932" name="Google Shape;932;p59"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933" name="Google Shape;933;p59"/>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934" name="Google Shape;934;p59"/>
          <p:cNvSpPr/>
          <p:nvPr/>
        </p:nvSpPr>
        <p:spPr>
          <a:xfrm>
            <a:off x="5161721" y="1639711"/>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Collection</a:t>
            </a:r>
            <a:endParaRPr/>
          </a:p>
        </p:txBody>
      </p:sp>
      <p:sp>
        <p:nvSpPr>
          <p:cNvPr id="935" name="Google Shape;935;p59"/>
          <p:cNvSpPr/>
          <p:nvPr/>
        </p:nvSpPr>
        <p:spPr>
          <a:xfrm>
            <a:off x="5161721" y="2698459"/>
            <a:ext cx="1868557" cy="614578"/>
          </a:xfrm>
          <a:prstGeom prst="rect">
            <a:avLst/>
          </a:prstGeom>
          <a:solidFill>
            <a:schemeClr val="accent4">
              <a:alpha val="49803"/>
            </a:schemeClr>
          </a:solid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Set (1.2)</a:t>
            </a:r>
            <a:endParaRPr/>
          </a:p>
        </p:txBody>
      </p:sp>
      <p:sp>
        <p:nvSpPr>
          <p:cNvPr id="936" name="Google Shape;936;p59"/>
          <p:cNvSpPr/>
          <p:nvPr/>
        </p:nvSpPr>
        <p:spPr>
          <a:xfrm>
            <a:off x="4599654" y="3803138"/>
            <a:ext cx="1124134" cy="490330"/>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HashSet (1.2)</a:t>
            </a:r>
            <a:endParaRPr/>
          </a:p>
        </p:txBody>
      </p:sp>
      <p:sp>
        <p:nvSpPr>
          <p:cNvPr id="937" name="Google Shape;937;p59"/>
          <p:cNvSpPr/>
          <p:nvPr/>
        </p:nvSpPr>
        <p:spPr>
          <a:xfrm>
            <a:off x="6285964" y="3778696"/>
            <a:ext cx="1864591" cy="614577"/>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SortedSet (1.2)</a:t>
            </a:r>
            <a:endParaRPr/>
          </a:p>
        </p:txBody>
      </p:sp>
      <p:sp>
        <p:nvSpPr>
          <p:cNvPr id="938" name="Google Shape;938;p59"/>
          <p:cNvSpPr/>
          <p:nvPr/>
        </p:nvSpPr>
        <p:spPr>
          <a:xfrm>
            <a:off x="4362218" y="5151307"/>
            <a:ext cx="1615539" cy="490330"/>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LinkedHashSet (1.4)</a:t>
            </a:r>
            <a:endParaRPr/>
          </a:p>
        </p:txBody>
      </p:sp>
      <p:sp>
        <p:nvSpPr>
          <p:cNvPr id="939" name="Google Shape;939;p59"/>
          <p:cNvSpPr/>
          <p:nvPr/>
        </p:nvSpPr>
        <p:spPr>
          <a:xfrm>
            <a:off x="6204472" y="5027990"/>
            <a:ext cx="2056815" cy="614577"/>
          </a:xfrm>
          <a:prstGeom prst="rect">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NavigableSet (1.6)</a:t>
            </a:r>
            <a:endParaRPr/>
          </a:p>
        </p:txBody>
      </p:sp>
      <p:sp>
        <p:nvSpPr>
          <p:cNvPr id="940" name="Google Shape;940;p59"/>
          <p:cNvSpPr/>
          <p:nvPr/>
        </p:nvSpPr>
        <p:spPr>
          <a:xfrm>
            <a:off x="6425110" y="6218621"/>
            <a:ext cx="1615539" cy="490330"/>
          </a:xfrm>
          <a:prstGeom prst="rect">
            <a:avLst/>
          </a:prstGeom>
          <a:solidFill>
            <a:schemeClr val="accent4">
              <a:alpha val="49803"/>
            </a:schemeClr>
          </a:solid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TreeSet (1.2)</a:t>
            </a:r>
            <a:endParaRPr/>
          </a:p>
        </p:txBody>
      </p:sp>
      <p:cxnSp>
        <p:nvCxnSpPr>
          <p:cNvPr id="941" name="Google Shape;941;p59"/>
          <p:cNvCxnSpPr>
            <a:stCxn id="936" idx="0"/>
            <a:endCxn id="935" idx="2"/>
          </p:cNvCxnSpPr>
          <p:nvPr/>
        </p:nvCxnSpPr>
        <p:spPr>
          <a:xfrm rot="10800000" flipH="1">
            <a:off x="5161721" y="3312938"/>
            <a:ext cx="934200" cy="490200"/>
          </a:xfrm>
          <a:prstGeom prst="straightConnector1">
            <a:avLst/>
          </a:prstGeom>
          <a:noFill/>
          <a:ln w="28575" cap="flat" cmpd="sng">
            <a:solidFill>
              <a:schemeClr val="dk1"/>
            </a:solidFill>
            <a:prstDash val="dash"/>
            <a:miter lim="800000"/>
            <a:headEnd type="none" w="sm" len="sm"/>
            <a:tailEnd type="triangle" w="med" len="med"/>
          </a:ln>
        </p:spPr>
      </p:cxnSp>
      <p:cxnSp>
        <p:nvCxnSpPr>
          <p:cNvPr id="942" name="Google Shape;942;p59"/>
          <p:cNvCxnSpPr>
            <a:stCxn id="937" idx="0"/>
            <a:endCxn id="935" idx="2"/>
          </p:cNvCxnSpPr>
          <p:nvPr/>
        </p:nvCxnSpPr>
        <p:spPr>
          <a:xfrm rot="10800000">
            <a:off x="6095960" y="3313096"/>
            <a:ext cx="1122300" cy="465600"/>
          </a:xfrm>
          <a:prstGeom prst="straightConnector1">
            <a:avLst/>
          </a:prstGeom>
          <a:noFill/>
          <a:ln w="28575" cap="flat" cmpd="sng">
            <a:solidFill>
              <a:schemeClr val="dk1"/>
            </a:solidFill>
            <a:prstDash val="solid"/>
            <a:miter lim="800000"/>
            <a:headEnd type="none" w="sm" len="sm"/>
            <a:tailEnd type="triangle" w="med" len="med"/>
          </a:ln>
        </p:spPr>
      </p:cxnSp>
      <p:cxnSp>
        <p:nvCxnSpPr>
          <p:cNvPr id="943" name="Google Shape;943;p59"/>
          <p:cNvCxnSpPr>
            <a:stCxn id="938" idx="0"/>
            <a:endCxn id="936" idx="2"/>
          </p:cNvCxnSpPr>
          <p:nvPr/>
        </p:nvCxnSpPr>
        <p:spPr>
          <a:xfrm rot="10800000">
            <a:off x="5161587" y="4293607"/>
            <a:ext cx="8400" cy="857700"/>
          </a:xfrm>
          <a:prstGeom prst="straightConnector1">
            <a:avLst/>
          </a:prstGeom>
          <a:noFill/>
          <a:ln w="28575" cap="flat" cmpd="sng">
            <a:solidFill>
              <a:schemeClr val="dk1"/>
            </a:solidFill>
            <a:prstDash val="solid"/>
            <a:miter lim="800000"/>
            <a:headEnd type="none" w="sm" len="sm"/>
            <a:tailEnd type="triangle" w="med" len="med"/>
          </a:ln>
        </p:spPr>
      </p:cxnSp>
      <p:cxnSp>
        <p:nvCxnSpPr>
          <p:cNvPr id="944" name="Google Shape;944;p59"/>
          <p:cNvCxnSpPr>
            <a:stCxn id="939" idx="0"/>
            <a:endCxn id="937" idx="2"/>
          </p:cNvCxnSpPr>
          <p:nvPr/>
        </p:nvCxnSpPr>
        <p:spPr>
          <a:xfrm rot="10800000">
            <a:off x="7218179" y="4393190"/>
            <a:ext cx="14700" cy="634800"/>
          </a:xfrm>
          <a:prstGeom prst="straightConnector1">
            <a:avLst/>
          </a:prstGeom>
          <a:noFill/>
          <a:ln w="28575" cap="flat" cmpd="sng">
            <a:solidFill>
              <a:schemeClr val="dk1"/>
            </a:solidFill>
            <a:prstDash val="solid"/>
            <a:miter lim="800000"/>
            <a:headEnd type="none" w="sm" len="sm"/>
            <a:tailEnd type="triangle" w="med" len="med"/>
          </a:ln>
        </p:spPr>
      </p:cxnSp>
      <p:cxnSp>
        <p:nvCxnSpPr>
          <p:cNvPr id="945" name="Google Shape;945;p59"/>
          <p:cNvCxnSpPr>
            <a:stCxn id="940" idx="0"/>
            <a:endCxn id="939" idx="2"/>
          </p:cNvCxnSpPr>
          <p:nvPr/>
        </p:nvCxnSpPr>
        <p:spPr>
          <a:xfrm rot="10800000">
            <a:off x="7232880" y="5642621"/>
            <a:ext cx="0" cy="576000"/>
          </a:xfrm>
          <a:prstGeom prst="straightConnector1">
            <a:avLst/>
          </a:prstGeom>
          <a:noFill/>
          <a:ln w="28575" cap="flat" cmpd="sng">
            <a:solidFill>
              <a:schemeClr val="dk1"/>
            </a:solidFill>
            <a:prstDash val="dash"/>
            <a:miter lim="800000"/>
            <a:headEnd type="none" w="sm" len="sm"/>
            <a:tailEnd type="triangle" w="med" len="med"/>
          </a:ln>
        </p:spPr>
      </p:cxnSp>
      <p:cxnSp>
        <p:nvCxnSpPr>
          <p:cNvPr id="946" name="Google Shape;946;p59"/>
          <p:cNvCxnSpPr>
            <a:endCxn id="934" idx="2"/>
          </p:cNvCxnSpPr>
          <p:nvPr/>
        </p:nvCxnSpPr>
        <p:spPr>
          <a:xfrm rot="10800000" flipH="1">
            <a:off x="6091500" y="2183157"/>
            <a:ext cx="4500" cy="493500"/>
          </a:xfrm>
          <a:prstGeom prst="straightConnector1">
            <a:avLst/>
          </a:prstGeom>
          <a:noFill/>
          <a:ln w="28575" cap="flat" cmpd="sng">
            <a:solidFill>
              <a:schemeClr val="dk1"/>
            </a:solidFill>
            <a:prstDash val="solid"/>
            <a:miter lim="800000"/>
            <a:headEnd type="none" w="sm" len="sm"/>
            <a:tailEnd type="triangle" w="med" len="med"/>
          </a:ln>
        </p:spPr>
      </p:cxnSp>
      <p:sp>
        <p:nvSpPr>
          <p:cNvPr id="947" name="Google Shape;947;p59"/>
          <p:cNvSpPr/>
          <p:nvPr/>
        </p:nvSpPr>
        <p:spPr>
          <a:xfrm>
            <a:off x="5157200" y="612481"/>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Iterable</a:t>
            </a:r>
            <a:endParaRPr/>
          </a:p>
        </p:txBody>
      </p:sp>
      <p:cxnSp>
        <p:nvCxnSpPr>
          <p:cNvPr id="948" name="Google Shape;948;p59"/>
          <p:cNvCxnSpPr/>
          <p:nvPr/>
        </p:nvCxnSpPr>
        <p:spPr>
          <a:xfrm rot="10800000" flipH="1">
            <a:off x="6086957" y="1156060"/>
            <a:ext cx="4521" cy="493626"/>
          </a:xfrm>
          <a:prstGeom prst="straightConnector1">
            <a:avLst/>
          </a:prstGeom>
          <a:noFill/>
          <a:ln w="28575" cap="flat" cmpd="sng">
            <a:solidFill>
              <a:schemeClr val="dk1"/>
            </a:solidFill>
            <a:prstDash val="solid"/>
            <a:miter lim="800000"/>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pic>
        <p:nvPicPr>
          <p:cNvPr id="953" name="Google Shape;953;p60"/>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954" name="Google Shape;954;p60"/>
          <p:cNvGrpSpPr/>
          <p:nvPr/>
        </p:nvGrpSpPr>
        <p:grpSpPr>
          <a:xfrm>
            <a:off x="118191" y="106018"/>
            <a:ext cx="1498574" cy="904328"/>
            <a:chOff x="862157" y="4413681"/>
            <a:chExt cx="2570156" cy="1560001"/>
          </a:xfrm>
        </p:grpSpPr>
        <p:pic>
          <p:nvPicPr>
            <p:cNvPr id="955" name="Google Shape;955;p60"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956" name="Google Shape;956;p60"/>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957" name="Google Shape;957;p60"/>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Tree Set</a:t>
            </a:r>
            <a:endParaRPr/>
          </a:p>
        </p:txBody>
      </p:sp>
      <p:sp>
        <p:nvSpPr>
          <p:cNvPr id="958" name="Google Shape;958;p60"/>
          <p:cNvSpPr txBox="1"/>
          <p:nvPr/>
        </p:nvSpPr>
        <p:spPr>
          <a:xfrm>
            <a:off x="952319" y="2269829"/>
            <a:ext cx="10960734" cy="2677656"/>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TreeSet is one of the most important implementations of the SortedSet interface in Java that uses a Tree for storage. </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The ordering of the elements is maintained by a set using their natural ordering whether or not an explicit comparator is provided. </a:t>
            </a:r>
            <a:br>
              <a:rPr lang="en-US" sz="2400" b="1">
                <a:solidFill>
                  <a:schemeClr val="dk1"/>
                </a:solidFill>
                <a:latin typeface="Calibri"/>
                <a:ea typeface="Calibri"/>
                <a:cs typeface="Calibri"/>
                <a:sym typeface="Calibri"/>
              </a:rPr>
            </a:b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The TreeSet implements a NavigableSet interface by inheriting AbstractSet class.</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pic>
        <p:nvPicPr>
          <p:cNvPr id="963" name="Google Shape;963;p61"/>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964" name="Google Shape;964;p61"/>
          <p:cNvGrpSpPr/>
          <p:nvPr/>
        </p:nvGrpSpPr>
        <p:grpSpPr>
          <a:xfrm>
            <a:off x="118191" y="106018"/>
            <a:ext cx="1498574" cy="904328"/>
            <a:chOff x="862157" y="4413681"/>
            <a:chExt cx="2570156" cy="1560001"/>
          </a:xfrm>
        </p:grpSpPr>
        <p:pic>
          <p:nvPicPr>
            <p:cNvPr id="965" name="Google Shape;965;p61"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966" name="Google Shape;966;p61"/>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967" name="Google Shape;967;p61"/>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Tree Set</a:t>
            </a:r>
            <a:endParaRPr/>
          </a:p>
        </p:txBody>
      </p:sp>
      <p:sp>
        <p:nvSpPr>
          <p:cNvPr id="968" name="Google Shape;968;p61"/>
          <p:cNvSpPr txBox="1"/>
          <p:nvPr/>
        </p:nvSpPr>
        <p:spPr>
          <a:xfrm>
            <a:off x="952319" y="1010346"/>
            <a:ext cx="10960734" cy="526297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Few important features of TreeSet are as follows:</a:t>
            </a:r>
            <a:endParaRPr/>
          </a:p>
          <a:p>
            <a:pPr marL="800100" marR="0" lvl="1" indent="-190500" algn="l" rtl="0">
              <a:spcBef>
                <a:spcPts val="0"/>
              </a:spcBef>
              <a:spcAft>
                <a:spcPts val="0"/>
              </a:spcAft>
              <a:buClr>
                <a:schemeClr val="dk1"/>
              </a:buClr>
              <a:buSzPts val="2400"/>
              <a:buFont typeface="Noto Sans Symbols"/>
              <a:buNone/>
            </a:pPr>
            <a:endParaRPr sz="2400" b="1" i="0" u="none" strike="noStrike" cap="none">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TreeSet implements the SortedSet interface so duplicate values are not allowed.</a:t>
            </a:r>
            <a:endParaRPr/>
          </a:p>
          <a:p>
            <a:pPr marL="800100" marR="0" lvl="1" indent="-190500" algn="l" rtl="0">
              <a:spcBef>
                <a:spcPts val="0"/>
              </a:spcBef>
              <a:spcAft>
                <a:spcPts val="0"/>
              </a:spcAft>
              <a:buClr>
                <a:schemeClr val="dk1"/>
              </a:buClr>
              <a:buSzPts val="2400"/>
              <a:buFont typeface="Noto Sans Symbols"/>
              <a:buNone/>
            </a:pPr>
            <a:endParaRPr sz="2400" b="1" i="0" u="none" strike="noStrike" cap="none">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Objects in a TreeSet are stored in a sorted and ascending order.</a:t>
            </a:r>
            <a:endParaRPr/>
          </a:p>
          <a:p>
            <a:pPr marL="800100" marR="0" lvl="1" indent="-190500" algn="l" rtl="0">
              <a:spcBef>
                <a:spcPts val="0"/>
              </a:spcBef>
              <a:spcAft>
                <a:spcPts val="0"/>
              </a:spcAft>
              <a:buClr>
                <a:schemeClr val="dk1"/>
              </a:buClr>
              <a:buSzPts val="2400"/>
              <a:buFont typeface="Noto Sans Symbols"/>
              <a:buNone/>
            </a:pPr>
            <a:endParaRPr sz="2400" b="1" i="0" u="none" strike="noStrike" cap="none">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TreeSet does not preserve the insertion order of elements.</a:t>
            </a:r>
            <a:endParaRPr/>
          </a:p>
          <a:p>
            <a:pPr marL="800100" marR="0" lvl="1" indent="-190500" algn="l" rtl="0">
              <a:spcBef>
                <a:spcPts val="0"/>
              </a:spcBef>
              <a:spcAft>
                <a:spcPts val="0"/>
              </a:spcAft>
              <a:buClr>
                <a:schemeClr val="dk1"/>
              </a:buClr>
              <a:buSzPts val="2400"/>
              <a:buFont typeface="Noto Sans Symbols"/>
              <a:buNone/>
            </a:pPr>
            <a:endParaRPr sz="2400" b="1" i="0" u="none" strike="noStrike" cap="none">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TreeSet serves as an excellent choice for storing large amounts of sorted information which are supposed to be accessed quickly because of its faster access and retrieval time.</a:t>
            </a:r>
            <a:endParaRPr/>
          </a:p>
          <a:p>
            <a:pPr marL="800100" marR="0" lvl="1" indent="-190500" algn="l" rtl="0">
              <a:spcBef>
                <a:spcPts val="0"/>
              </a:spcBef>
              <a:spcAft>
                <a:spcPts val="0"/>
              </a:spcAft>
              <a:buClr>
                <a:schemeClr val="dk1"/>
              </a:buClr>
              <a:buSzPts val="2400"/>
              <a:buFont typeface="Noto Sans Symbols"/>
              <a:buNone/>
            </a:pPr>
            <a:endParaRPr sz="2400" b="1" i="0" u="none" strike="noStrike" cap="none">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TreeSet is basically implementation of a self-balancing binary search tree.</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pic>
        <p:nvPicPr>
          <p:cNvPr id="973" name="Google Shape;973;p62"/>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974" name="Google Shape;974;p62"/>
          <p:cNvGrpSpPr/>
          <p:nvPr/>
        </p:nvGrpSpPr>
        <p:grpSpPr>
          <a:xfrm>
            <a:off x="118191" y="106018"/>
            <a:ext cx="1498574" cy="904328"/>
            <a:chOff x="862157" y="4413681"/>
            <a:chExt cx="2570156" cy="1560001"/>
          </a:xfrm>
        </p:grpSpPr>
        <p:pic>
          <p:nvPicPr>
            <p:cNvPr id="975" name="Google Shape;975;p62"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976" name="Google Shape;976;p62"/>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977" name="Google Shape;977;p62"/>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Tree Set</a:t>
            </a:r>
            <a:endParaRPr/>
          </a:p>
        </p:txBody>
      </p:sp>
      <p:sp>
        <p:nvSpPr>
          <p:cNvPr id="978" name="Google Shape;978;p62"/>
          <p:cNvSpPr txBox="1"/>
          <p:nvPr/>
        </p:nvSpPr>
        <p:spPr>
          <a:xfrm>
            <a:off x="952319" y="612844"/>
            <a:ext cx="10960734" cy="600164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Noto Sans Symbols"/>
              <a:buChar char="▪"/>
            </a:pPr>
            <a:r>
              <a:rPr lang="en-US" sz="2400" b="1">
                <a:solidFill>
                  <a:schemeClr val="dk1"/>
                </a:solidFill>
                <a:latin typeface="Calibri"/>
                <a:ea typeface="Calibri"/>
                <a:cs typeface="Calibri"/>
                <a:sym typeface="Calibri"/>
              </a:rPr>
              <a:t>Constructors of TreeSet class:</a:t>
            </a:r>
            <a:endParaRPr/>
          </a:p>
          <a:p>
            <a:pPr marL="342900" marR="0" lvl="0" indent="-190500" algn="l" rtl="0">
              <a:spcBef>
                <a:spcPts val="0"/>
              </a:spcBef>
              <a:spcAft>
                <a:spcPts val="0"/>
              </a:spcAft>
              <a:buClr>
                <a:schemeClr val="dk1"/>
              </a:buClr>
              <a:buSzPts val="2400"/>
              <a:buFont typeface="Noto Sans Symbols"/>
              <a:buNone/>
            </a:pPr>
            <a:endParaRPr sz="2400" b="1">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TreeSet t = new TreeSet();</a:t>
            </a:r>
            <a:endParaRPr/>
          </a:p>
          <a:p>
            <a:pPr marL="1371600" marR="0" lvl="3" indent="0" algn="l" rtl="0">
              <a:spcBef>
                <a:spcPts val="0"/>
              </a:spcBef>
              <a:spcAft>
                <a:spcPts val="0"/>
              </a:spcAft>
              <a:buNone/>
            </a:pPr>
            <a:r>
              <a:rPr lang="en-US" sz="2400" b="1" i="0" u="none" strike="noStrike" cap="none">
                <a:solidFill>
                  <a:schemeClr val="dk1"/>
                </a:solidFill>
                <a:latin typeface="Calibri"/>
                <a:ea typeface="Calibri"/>
                <a:cs typeface="Calibri"/>
                <a:sym typeface="Calibri"/>
              </a:rPr>
              <a:t>This will create empty TreeSet object in which elements will get stored in default natural sorting order.</a:t>
            </a:r>
            <a:endParaRPr/>
          </a:p>
          <a:p>
            <a:pPr marL="1371600" marR="0" lvl="3" indent="0" algn="l" rtl="0">
              <a:spcBef>
                <a:spcPts val="0"/>
              </a:spcBef>
              <a:spcAft>
                <a:spcPts val="0"/>
              </a:spcAft>
              <a:buNone/>
            </a:pPr>
            <a:endParaRPr sz="2400" b="1" i="0" u="none" strike="noStrike" cap="none">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TreeSet t = new TreeSet(Comparator comp);</a:t>
            </a:r>
            <a:endParaRPr/>
          </a:p>
          <a:p>
            <a:pPr marL="1371600" marR="0" lvl="3" indent="0" algn="l" rtl="0">
              <a:spcBef>
                <a:spcPts val="0"/>
              </a:spcBef>
              <a:spcAft>
                <a:spcPts val="0"/>
              </a:spcAft>
              <a:buNone/>
            </a:pPr>
            <a:r>
              <a:rPr lang="en-US" sz="2400" b="1" i="0" u="none" strike="noStrike" cap="none">
                <a:solidFill>
                  <a:schemeClr val="dk1"/>
                </a:solidFill>
                <a:latin typeface="Calibri"/>
                <a:ea typeface="Calibri"/>
                <a:cs typeface="Calibri"/>
                <a:sym typeface="Calibri"/>
              </a:rPr>
              <a:t>This constructor is used when external specification of sorting order of elements is needed.</a:t>
            </a:r>
            <a:endParaRPr/>
          </a:p>
          <a:p>
            <a:pPr marL="1371600" marR="0" lvl="3" indent="0" algn="l" rtl="0">
              <a:spcBef>
                <a:spcPts val="0"/>
              </a:spcBef>
              <a:spcAft>
                <a:spcPts val="0"/>
              </a:spcAft>
              <a:buNone/>
            </a:pPr>
            <a:endParaRPr sz="2400" b="1" i="0" u="none" strike="noStrike" cap="none">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TreeSet t = new TreeSet(Collection col);</a:t>
            </a:r>
            <a:endParaRPr/>
          </a:p>
          <a:p>
            <a:pPr marL="1371600" marR="0" lvl="3" indent="0" algn="l" rtl="0">
              <a:spcBef>
                <a:spcPts val="0"/>
              </a:spcBef>
              <a:spcAft>
                <a:spcPts val="0"/>
              </a:spcAft>
              <a:buNone/>
            </a:pPr>
            <a:r>
              <a:rPr lang="en-US" sz="2400" b="1" i="0" u="none" strike="noStrike" cap="none">
                <a:solidFill>
                  <a:schemeClr val="dk1"/>
                </a:solidFill>
                <a:latin typeface="Calibri"/>
                <a:ea typeface="Calibri"/>
                <a:cs typeface="Calibri"/>
                <a:sym typeface="Calibri"/>
              </a:rPr>
              <a:t>This constructor is used when any conversion is needed from any Collection object to TreeSet object.</a:t>
            </a:r>
            <a:endParaRPr/>
          </a:p>
          <a:p>
            <a:pPr marL="1371600" marR="0" lvl="3" indent="0" algn="l" rtl="0">
              <a:spcBef>
                <a:spcPts val="0"/>
              </a:spcBef>
              <a:spcAft>
                <a:spcPts val="0"/>
              </a:spcAft>
              <a:buNone/>
            </a:pPr>
            <a:endParaRPr sz="2400" b="1" i="0" u="none" strike="noStrike" cap="none">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2400"/>
              <a:buFont typeface="Noto Sans Symbols"/>
              <a:buChar char="▪"/>
            </a:pPr>
            <a:r>
              <a:rPr lang="en-US" sz="2400" b="1" i="0" u="none" strike="noStrike" cap="none">
                <a:solidFill>
                  <a:schemeClr val="dk1"/>
                </a:solidFill>
                <a:latin typeface="Calibri"/>
                <a:ea typeface="Calibri"/>
                <a:cs typeface="Calibri"/>
                <a:sym typeface="Calibri"/>
              </a:rPr>
              <a:t>TreeSet t = new TreeSet(SortedSet s);</a:t>
            </a:r>
            <a:endParaRPr/>
          </a:p>
          <a:p>
            <a:pPr marL="1371600" marR="0" lvl="3" indent="0" algn="l" rtl="0">
              <a:spcBef>
                <a:spcPts val="0"/>
              </a:spcBef>
              <a:spcAft>
                <a:spcPts val="0"/>
              </a:spcAft>
              <a:buNone/>
            </a:pPr>
            <a:r>
              <a:rPr lang="en-US" sz="2400" b="1" i="0" u="none" strike="noStrike" cap="none">
                <a:solidFill>
                  <a:schemeClr val="dk1"/>
                </a:solidFill>
                <a:latin typeface="Calibri"/>
                <a:ea typeface="Calibri"/>
                <a:cs typeface="Calibri"/>
                <a:sym typeface="Calibri"/>
              </a:rPr>
              <a:t>This constructor is used to convert SortedSet object to TreeSet Object.</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pic>
        <p:nvPicPr>
          <p:cNvPr id="983" name="Google Shape;983;p63"/>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984" name="Google Shape;984;p63"/>
          <p:cNvGrpSpPr/>
          <p:nvPr/>
        </p:nvGrpSpPr>
        <p:grpSpPr>
          <a:xfrm>
            <a:off x="118191" y="106018"/>
            <a:ext cx="1498574" cy="904328"/>
            <a:chOff x="862157" y="4413681"/>
            <a:chExt cx="2570156" cy="1560001"/>
          </a:xfrm>
        </p:grpSpPr>
        <p:pic>
          <p:nvPicPr>
            <p:cNvPr id="985" name="Google Shape;985;p63"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986" name="Google Shape;986;p63"/>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987" name="Google Shape;987;p63"/>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Tree Set</a:t>
            </a:r>
            <a:endParaRPr/>
          </a:p>
        </p:txBody>
      </p:sp>
      <p:graphicFrame>
        <p:nvGraphicFramePr>
          <p:cNvPr id="988" name="Google Shape;988;p63"/>
          <p:cNvGraphicFramePr/>
          <p:nvPr/>
        </p:nvGraphicFramePr>
        <p:xfrm>
          <a:off x="479501" y="1124288"/>
          <a:ext cx="3000000" cy="3000000"/>
        </p:xfrm>
        <a:graphic>
          <a:graphicData uri="http://schemas.openxmlformats.org/drawingml/2006/table">
            <a:tbl>
              <a:tblPr>
                <a:noFill/>
                <a:tableStyleId>{B9160D5A-F4D8-4355-9011-09AB1966FD5C}</a:tableStyleId>
              </a:tblPr>
              <a:tblGrid>
                <a:gridCol w="3710600">
                  <a:extLst>
                    <a:ext uri="{9D8B030D-6E8A-4147-A177-3AD203B41FA5}">
                      <a16:colId xmlns:a16="http://schemas.microsoft.com/office/drawing/2014/main" val="20000"/>
                    </a:ext>
                  </a:extLst>
                </a:gridCol>
                <a:gridCol w="7845275">
                  <a:extLst>
                    <a:ext uri="{9D8B030D-6E8A-4147-A177-3AD203B41FA5}">
                      <a16:colId xmlns:a16="http://schemas.microsoft.com/office/drawing/2014/main" val="20001"/>
                    </a:ext>
                  </a:extLst>
                </a:gridCol>
              </a:tblGrid>
              <a:tr h="190500">
                <a:tc>
                  <a:txBody>
                    <a:bodyPr/>
                    <a:lstStyle/>
                    <a:p>
                      <a:pPr marL="0" marR="0" lvl="0" indent="0" algn="ctr" rtl="0">
                        <a:spcBef>
                          <a:spcPts val="0"/>
                        </a:spcBef>
                        <a:spcAft>
                          <a:spcPts val="0"/>
                        </a:spcAft>
                        <a:buNone/>
                      </a:pPr>
                      <a:r>
                        <a:rPr lang="en-US" sz="1800" b="1" u="none" strike="noStrike"/>
                        <a:t>Method</a:t>
                      </a:r>
                      <a:endParaRPr sz="1800" b="1" i="0" u="none" strike="noStrike">
                        <a:solidFill>
                          <a:srgbClr val="000000"/>
                        </a:solidFill>
                        <a:latin typeface="Calibri"/>
                        <a:ea typeface="Calibri"/>
                        <a:cs typeface="Calibri"/>
                        <a:sym typeface="Calibri"/>
                      </a:endParaRPr>
                    </a:p>
                  </a:txBody>
                  <a:tcPr marL="9525" marR="9525" marT="9525" marB="0" anchor="ctr">
                    <a:solidFill>
                      <a:srgbClr val="FFC000"/>
                    </a:solidFill>
                  </a:tcPr>
                </a:tc>
                <a:tc>
                  <a:txBody>
                    <a:bodyPr/>
                    <a:lstStyle/>
                    <a:p>
                      <a:pPr marL="0" marR="0" lvl="0" indent="0" algn="ctr" rtl="0">
                        <a:spcBef>
                          <a:spcPts val="0"/>
                        </a:spcBef>
                        <a:spcAft>
                          <a:spcPts val="0"/>
                        </a:spcAft>
                        <a:buNone/>
                      </a:pPr>
                      <a:r>
                        <a:rPr lang="en-US" sz="1800" b="1" u="none" strike="noStrike"/>
                        <a:t>Description</a:t>
                      </a:r>
                      <a:endParaRPr sz="1800" b="1" i="0" u="none" strike="noStrike">
                        <a:solidFill>
                          <a:srgbClr val="000000"/>
                        </a:solidFill>
                        <a:latin typeface="Calibri"/>
                        <a:ea typeface="Calibri"/>
                        <a:cs typeface="Calibri"/>
                        <a:sym typeface="Calibri"/>
                      </a:endParaRPr>
                    </a:p>
                  </a:txBody>
                  <a:tcPr marL="9525" marR="9525" marT="9525" marB="0" anchor="ctr">
                    <a:solidFill>
                      <a:srgbClr val="FFC000"/>
                    </a:solidFill>
                  </a:tcPr>
                </a:tc>
                <a:extLst>
                  <a:ext uri="{0D108BD9-81ED-4DB2-BD59-A6C34878D82A}">
                    <a16:rowId xmlns:a16="http://schemas.microsoft.com/office/drawing/2014/main" val="10000"/>
                  </a:ext>
                </a:extLst>
              </a:tr>
              <a:tr h="190500">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void add(Object o):</a:t>
                      </a:r>
                      <a:endParaRPr/>
                    </a:p>
                  </a:txBody>
                  <a:tcPr marL="6350" marR="6350" marT="6350" marB="0" anchor="b">
                    <a:solidFill>
                      <a:srgbClr val="FBE4D4"/>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This method will add specified element according to some sorting order in TreeSet. Duplicate entires will not get added.</a:t>
                      </a:r>
                      <a:endParaRPr/>
                    </a:p>
                  </a:txBody>
                  <a:tcPr marL="6350" marR="6350" marT="6350" marB="0" anchor="b">
                    <a:solidFill>
                      <a:srgbClr val="FBE4D4"/>
                    </a:solidFill>
                  </a:tcPr>
                </a:tc>
                <a:extLst>
                  <a:ext uri="{0D108BD9-81ED-4DB2-BD59-A6C34878D82A}">
                    <a16:rowId xmlns:a16="http://schemas.microsoft.com/office/drawing/2014/main" val="10001"/>
                  </a:ext>
                </a:extLst>
              </a:tr>
              <a:tr h="190500">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boolean addAll(Collection c):</a:t>
                      </a:r>
                      <a:endParaRPr/>
                    </a:p>
                  </a:txBody>
                  <a:tcPr marL="6350" marR="6350" marT="6350" marB="0" anchor="b">
                    <a:solidFill>
                      <a:schemeClr val="lt1"/>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This method will add all elements of specified Collection to the set. Elements in Collection should be homogeneous otherwise ClassCastException will be thrown. Duplicate Entries of Collection will not be added to TreeSet.</a:t>
                      </a:r>
                      <a:endParaRPr/>
                    </a:p>
                  </a:txBody>
                  <a:tcPr marL="6350" marR="6350" marT="6350" marB="0" anchor="b">
                    <a:solidFill>
                      <a:schemeClr val="lt1"/>
                    </a:solidFill>
                  </a:tcPr>
                </a:tc>
                <a:extLst>
                  <a:ext uri="{0D108BD9-81ED-4DB2-BD59-A6C34878D82A}">
                    <a16:rowId xmlns:a16="http://schemas.microsoft.com/office/drawing/2014/main" val="10002"/>
                  </a:ext>
                </a:extLst>
              </a:tr>
              <a:tr h="190500">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void clear():</a:t>
                      </a:r>
                      <a:endParaRPr/>
                    </a:p>
                  </a:txBody>
                  <a:tcPr marL="6350" marR="6350" marT="6350" marB="0" anchor="b">
                    <a:solidFill>
                      <a:srgbClr val="FBE4D4"/>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This method will remove all the elements.</a:t>
                      </a:r>
                      <a:endParaRPr/>
                    </a:p>
                  </a:txBody>
                  <a:tcPr marL="6350" marR="6350" marT="6350" marB="0" anchor="b">
                    <a:solidFill>
                      <a:srgbClr val="FBE4D4"/>
                    </a:solidFill>
                  </a:tcPr>
                </a:tc>
                <a:extLst>
                  <a:ext uri="{0D108BD9-81ED-4DB2-BD59-A6C34878D82A}">
                    <a16:rowId xmlns:a16="http://schemas.microsoft.com/office/drawing/2014/main" val="10003"/>
                  </a:ext>
                </a:extLst>
              </a:tr>
              <a:tr h="190500">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boolean contains(Object o):</a:t>
                      </a:r>
                      <a:endParaRPr/>
                    </a:p>
                  </a:txBody>
                  <a:tcPr marL="6350" marR="6350" marT="6350" marB="0" anchor="b">
                    <a:solidFill>
                      <a:schemeClr val="lt1"/>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This method will return true if given element is present in TreeSet else it will return false.</a:t>
                      </a:r>
                      <a:endParaRPr/>
                    </a:p>
                  </a:txBody>
                  <a:tcPr marL="6350" marR="6350" marT="6350" marB="0" anchor="b">
                    <a:solidFill>
                      <a:schemeClr val="lt1"/>
                    </a:solidFill>
                  </a:tcPr>
                </a:tc>
                <a:extLst>
                  <a:ext uri="{0D108BD9-81ED-4DB2-BD59-A6C34878D82A}">
                    <a16:rowId xmlns:a16="http://schemas.microsoft.com/office/drawing/2014/main" val="10004"/>
                  </a:ext>
                </a:extLst>
              </a:tr>
              <a:tr h="190500">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Object first():</a:t>
                      </a:r>
                      <a:endParaRPr/>
                    </a:p>
                  </a:txBody>
                  <a:tcPr marL="6350" marR="6350" marT="6350" marB="0" anchor="b">
                    <a:solidFill>
                      <a:srgbClr val="FBE4D4"/>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This method will return first element in TreeSet if TreeSet is not null else it will throw NoSuchElementException.</a:t>
                      </a:r>
                      <a:endParaRPr/>
                    </a:p>
                  </a:txBody>
                  <a:tcPr marL="6350" marR="6350" marT="6350" marB="0" anchor="b">
                    <a:solidFill>
                      <a:srgbClr val="FBE4D4"/>
                    </a:solidFill>
                  </a:tcPr>
                </a:tc>
                <a:extLst>
                  <a:ext uri="{0D108BD9-81ED-4DB2-BD59-A6C34878D82A}">
                    <a16:rowId xmlns:a16="http://schemas.microsoft.com/office/drawing/2014/main" val="10005"/>
                  </a:ext>
                </a:extLst>
              </a:tr>
              <a:tr h="190500">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Object last():</a:t>
                      </a:r>
                      <a:endParaRPr/>
                    </a:p>
                  </a:txBody>
                  <a:tcPr marL="6350" marR="6350" marT="6350" marB="0" anchor="b">
                    <a:solidFill>
                      <a:schemeClr val="lt1"/>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This method will return last element in TreeSet if TreeSet is not null else it will throw NoSuchElementException.</a:t>
                      </a:r>
                      <a:endParaRPr/>
                    </a:p>
                  </a:txBody>
                  <a:tcPr marL="6350" marR="6350" marT="6350" marB="0" anchor="b">
                    <a:solidFill>
                      <a:schemeClr val="lt1"/>
                    </a:solidFill>
                  </a:tcPr>
                </a:tc>
                <a:extLst>
                  <a:ext uri="{0D108BD9-81ED-4DB2-BD59-A6C34878D82A}">
                    <a16:rowId xmlns:a16="http://schemas.microsoft.com/office/drawing/2014/main" val="10006"/>
                  </a:ext>
                </a:extLst>
              </a:tr>
              <a:tr h="190500">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SortedSet headSet(Object toElement):</a:t>
                      </a:r>
                      <a:endParaRPr/>
                    </a:p>
                  </a:txBody>
                  <a:tcPr marL="6350" marR="6350" marT="6350" marB="0" anchor="b">
                    <a:solidFill>
                      <a:srgbClr val="FBE4D4"/>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This method will return elements of TreeSet which are less than the specified element.</a:t>
                      </a:r>
                      <a:endParaRPr/>
                    </a:p>
                  </a:txBody>
                  <a:tcPr marL="6350" marR="6350" marT="6350" marB="0" anchor="b">
                    <a:solidFill>
                      <a:srgbClr val="FBE4D4"/>
                    </a:solidFill>
                  </a:tcPr>
                </a:tc>
                <a:extLst>
                  <a:ext uri="{0D108BD9-81ED-4DB2-BD59-A6C34878D82A}">
                    <a16:rowId xmlns:a16="http://schemas.microsoft.com/office/drawing/2014/main" val="10007"/>
                  </a:ext>
                </a:extLst>
              </a:tr>
              <a:tr h="381000">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SortedSet tailSet(Object fromElement):</a:t>
                      </a:r>
                      <a:endParaRPr/>
                    </a:p>
                  </a:txBody>
                  <a:tcPr marL="6350" marR="6350" marT="6350" marB="0" anchor="b">
                    <a:solidFill>
                      <a:schemeClr val="lt1"/>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This method will return elements of TreeSet which are greater than or equal to the specified element.</a:t>
                      </a:r>
                      <a:endParaRPr/>
                    </a:p>
                  </a:txBody>
                  <a:tcPr marL="6350" marR="6350" marT="6350" marB="0" anchor="b">
                    <a:solidFill>
                      <a:schemeClr val="lt1"/>
                    </a:solidFill>
                  </a:tcPr>
                </a:tc>
                <a:extLst>
                  <a:ext uri="{0D108BD9-81ED-4DB2-BD59-A6C34878D82A}">
                    <a16:rowId xmlns:a16="http://schemas.microsoft.com/office/drawing/2014/main" val="10008"/>
                  </a:ext>
                </a:extLst>
              </a:tr>
              <a:tr h="381000">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SortedSet subSet(Object fromElement, Object toElement):</a:t>
                      </a:r>
                      <a:endParaRPr/>
                    </a:p>
                  </a:txBody>
                  <a:tcPr marL="6350" marR="6350" marT="6350" marB="0" anchor="b">
                    <a:solidFill>
                      <a:srgbClr val="FBE4D4"/>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This method will return elements ranging from fromElement to toElement. fromElement is inclusive and toElement is exclusive.</a:t>
                      </a:r>
                      <a:endParaRPr/>
                    </a:p>
                  </a:txBody>
                  <a:tcPr marL="6350" marR="6350" marT="6350" marB="0" anchor="b">
                    <a:solidFill>
                      <a:srgbClr val="FBE4D4"/>
                    </a:solidFill>
                  </a:tcP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pic>
        <p:nvPicPr>
          <p:cNvPr id="993" name="Google Shape;993;p64"/>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994" name="Google Shape;994;p64"/>
          <p:cNvGrpSpPr/>
          <p:nvPr/>
        </p:nvGrpSpPr>
        <p:grpSpPr>
          <a:xfrm>
            <a:off x="118191" y="106018"/>
            <a:ext cx="1498574" cy="904328"/>
            <a:chOff x="862157" y="4413681"/>
            <a:chExt cx="2570156" cy="1560001"/>
          </a:xfrm>
        </p:grpSpPr>
        <p:pic>
          <p:nvPicPr>
            <p:cNvPr id="995" name="Google Shape;995;p64"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996" name="Google Shape;996;p64"/>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997" name="Google Shape;997;p64"/>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Tree Set</a:t>
            </a:r>
            <a:endParaRPr/>
          </a:p>
        </p:txBody>
      </p:sp>
      <p:graphicFrame>
        <p:nvGraphicFramePr>
          <p:cNvPr id="998" name="Google Shape;998;p64"/>
          <p:cNvGraphicFramePr/>
          <p:nvPr/>
        </p:nvGraphicFramePr>
        <p:xfrm>
          <a:off x="479501" y="1124288"/>
          <a:ext cx="3000000" cy="3000000"/>
        </p:xfrm>
        <a:graphic>
          <a:graphicData uri="http://schemas.openxmlformats.org/drawingml/2006/table">
            <a:tbl>
              <a:tblPr>
                <a:noFill/>
                <a:tableStyleId>{B9160D5A-F4D8-4355-9011-09AB1966FD5C}</a:tableStyleId>
              </a:tblPr>
              <a:tblGrid>
                <a:gridCol w="3710600">
                  <a:extLst>
                    <a:ext uri="{9D8B030D-6E8A-4147-A177-3AD203B41FA5}">
                      <a16:colId xmlns:a16="http://schemas.microsoft.com/office/drawing/2014/main" val="20000"/>
                    </a:ext>
                  </a:extLst>
                </a:gridCol>
                <a:gridCol w="7845275">
                  <a:extLst>
                    <a:ext uri="{9D8B030D-6E8A-4147-A177-3AD203B41FA5}">
                      <a16:colId xmlns:a16="http://schemas.microsoft.com/office/drawing/2014/main" val="20001"/>
                    </a:ext>
                  </a:extLst>
                </a:gridCol>
              </a:tblGrid>
              <a:tr h="190500">
                <a:tc>
                  <a:txBody>
                    <a:bodyPr/>
                    <a:lstStyle/>
                    <a:p>
                      <a:pPr marL="0" marR="0" lvl="0" indent="0" algn="ctr" rtl="0">
                        <a:spcBef>
                          <a:spcPts val="0"/>
                        </a:spcBef>
                        <a:spcAft>
                          <a:spcPts val="0"/>
                        </a:spcAft>
                        <a:buNone/>
                      </a:pPr>
                      <a:r>
                        <a:rPr lang="en-US" sz="2000" b="1" u="none" strike="noStrike"/>
                        <a:t>Method</a:t>
                      </a:r>
                      <a:endParaRPr sz="2000" b="1" i="0" u="none" strike="noStrike">
                        <a:solidFill>
                          <a:srgbClr val="000000"/>
                        </a:solidFill>
                        <a:latin typeface="Calibri"/>
                        <a:ea typeface="Calibri"/>
                        <a:cs typeface="Calibri"/>
                        <a:sym typeface="Calibri"/>
                      </a:endParaRPr>
                    </a:p>
                  </a:txBody>
                  <a:tcPr marL="9525" marR="9525" marT="9525" marB="0" anchor="ctr">
                    <a:solidFill>
                      <a:srgbClr val="FFC000"/>
                    </a:solidFill>
                  </a:tcPr>
                </a:tc>
                <a:tc>
                  <a:txBody>
                    <a:bodyPr/>
                    <a:lstStyle/>
                    <a:p>
                      <a:pPr marL="0" marR="0" lvl="0" indent="0" algn="ctr" rtl="0">
                        <a:spcBef>
                          <a:spcPts val="0"/>
                        </a:spcBef>
                        <a:spcAft>
                          <a:spcPts val="0"/>
                        </a:spcAft>
                        <a:buNone/>
                      </a:pPr>
                      <a:r>
                        <a:rPr lang="en-US" sz="2000" b="1" u="none" strike="noStrike"/>
                        <a:t>Description</a:t>
                      </a:r>
                      <a:endParaRPr sz="2000" b="1" i="0" u="none" strike="noStrike">
                        <a:solidFill>
                          <a:srgbClr val="000000"/>
                        </a:solidFill>
                        <a:latin typeface="Calibri"/>
                        <a:ea typeface="Calibri"/>
                        <a:cs typeface="Calibri"/>
                        <a:sym typeface="Calibri"/>
                      </a:endParaRPr>
                    </a:p>
                  </a:txBody>
                  <a:tcPr marL="9525" marR="9525" marT="9525" marB="0" anchor="ctr">
                    <a:solidFill>
                      <a:srgbClr val="FFC000"/>
                    </a:solidFill>
                  </a:tcPr>
                </a:tc>
                <a:extLst>
                  <a:ext uri="{0D108BD9-81ED-4DB2-BD59-A6C34878D82A}">
                    <a16:rowId xmlns:a16="http://schemas.microsoft.com/office/drawing/2014/main" val="10000"/>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boolean isEmpty():</a:t>
                      </a:r>
                      <a:endParaRPr/>
                    </a:p>
                  </a:txBody>
                  <a:tcPr marL="6350" marR="6350" marT="6350"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This method is used to return true if this set contains no elements or is empty and false for the opposite case.</a:t>
                      </a:r>
                      <a:endParaRPr/>
                    </a:p>
                  </a:txBody>
                  <a:tcPr marL="6350" marR="6350" marT="6350" marB="0" anchor="b">
                    <a:solidFill>
                      <a:srgbClr val="FBE4D4"/>
                    </a:solidFill>
                  </a:tcPr>
                </a:tc>
                <a:extLst>
                  <a:ext uri="{0D108BD9-81ED-4DB2-BD59-A6C34878D82A}">
                    <a16:rowId xmlns:a16="http://schemas.microsoft.com/office/drawing/2014/main" val="10001"/>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Object clone():</a:t>
                      </a:r>
                      <a:endParaRPr/>
                    </a:p>
                  </a:txBody>
                  <a:tcPr marL="6350" marR="6350" marT="6350" marB="0" anchor="b">
                    <a:solidFill>
                      <a:schemeClr val="lt1"/>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The method is used to return a shallow copy of the set, which is just a simple copied set.</a:t>
                      </a:r>
                      <a:endParaRPr/>
                    </a:p>
                  </a:txBody>
                  <a:tcPr marL="6350" marR="6350" marT="6350" marB="0" anchor="b">
                    <a:solidFill>
                      <a:schemeClr val="lt1"/>
                    </a:solidFill>
                  </a:tcPr>
                </a:tc>
                <a:extLst>
                  <a:ext uri="{0D108BD9-81ED-4DB2-BD59-A6C34878D82A}">
                    <a16:rowId xmlns:a16="http://schemas.microsoft.com/office/drawing/2014/main" val="10002"/>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int size():</a:t>
                      </a:r>
                      <a:endParaRPr/>
                    </a:p>
                  </a:txBody>
                  <a:tcPr marL="6350" marR="6350" marT="6350"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This method is used to return the size of the set or the number of elements present in the set.</a:t>
                      </a:r>
                      <a:endParaRPr/>
                    </a:p>
                  </a:txBody>
                  <a:tcPr marL="6350" marR="6350" marT="6350" marB="0" anchor="b">
                    <a:solidFill>
                      <a:srgbClr val="FBE4D4"/>
                    </a:solidFill>
                  </a:tcPr>
                </a:tc>
                <a:extLst>
                  <a:ext uri="{0D108BD9-81ED-4DB2-BD59-A6C34878D82A}">
                    <a16:rowId xmlns:a16="http://schemas.microsoft.com/office/drawing/2014/main" val="10003"/>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boolean remove(Object o):</a:t>
                      </a:r>
                      <a:endParaRPr/>
                    </a:p>
                  </a:txBody>
                  <a:tcPr marL="6350" marR="6350" marT="6350" marB="0" anchor="b">
                    <a:solidFill>
                      <a:schemeClr val="lt1"/>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This method is used to return a specific element from the set.</a:t>
                      </a:r>
                      <a:endParaRPr/>
                    </a:p>
                  </a:txBody>
                  <a:tcPr marL="6350" marR="6350" marT="6350" marB="0" anchor="b">
                    <a:solidFill>
                      <a:schemeClr val="lt1"/>
                    </a:solidFill>
                  </a:tcPr>
                </a:tc>
                <a:extLst>
                  <a:ext uri="{0D108BD9-81ED-4DB2-BD59-A6C34878D82A}">
                    <a16:rowId xmlns:a16="http://schemas.microsoft.com/office/drawing/2014/main" val="10004"/>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Iterator iterator():</a:t>
                      </a:r>
                      <a:endParaRPr/>
                    </a:p>
                  </a:txBody>
                  <a:tcPr marL="6350" marR="6350" marT="6350"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Returns an iterator for iterating over the elements of the set.</a:t>
                      </a:r>
                      <a:endParaRPr/>
                    </a:p>
                  </a:txBody>
                  <a:tcPr marL="6350" marR="6350" marT="6350" marB="0" anchor="b">
                    <a:solidFill>
                      <a:srgbClr val="FBE4D4"/>
                    </a:solidFill>
                  </a:tcPr>
                </a:tc>
                <a:extLst>
                  <a:ext uri="{0D108BD9-81ED-4DB2-BD59-A6C34878D82A}">
                    <a16:rowId xmlns:a16="http://schemas.microsoft.com/office/drawing/2014/main" val="10005"/>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Comparator comparator():</a:t>
                      </a:r>
                      <a:endParaRPr/>
                    </a:p>
                  </a:txBody>
                  <a:tcPr marL="6350" marR="6350" marT="6350" marB="0" anchor="b">
                    <a:solidFill>
                      <a:schemeClr val="lt1"/>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This method will return Comparator used to sort elements in TreeSet or it will return null if default natural sorting order is used.</a:t>
                      </a:r>
                      <a:endParaRPr/>
                    </a:p>
                  </a:txBody>
                  <a:tcPr marL="6350" marR="6350" marT="6350" marB="0" anchor="b">
                    <a:solidFill>
                      <a:schemeClr val="lt1"/>
                    </a:solidFill>
                  </a:tcPr>
                </a:tc>
                <a:extLst>
                  <a:ext uri="{0D108BD9-81ED-4DB2-BD59-A6C34878D82A}">
                    <a16:rowId xmlns:a16="http://schemas.microsoft.com/office/drawing/2014/main" val="10006"/>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ceiling​(E e):</a:t>
                      </a:r>
                      <a:endParaRPr/>
                    </a:p>
                  </a:txBody>
                  <a:tcPr marL="6350" marR="6350" marT="6350"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This method returns the least element in this set greater than or equal to the given element, or null if there is no such element.</a:t>
                      </a:r>
                      <a:endParaRPr/>
                    </a:p>
                  </a:txBody>
                  <a:tcPr marL="6350" marR="6350" marT="6350" marB="0" anchor="b">
                    <a:solidFill>
                      <a:srgbClr val="FBE4D4"/>
                    </a:solidFill>
                  </a:tcPr>
                </a:tc>
                <a:extLst>
                  <a:ext uri="{0D108BD9-81ED-4DB2-BD59-A6C34878D82A}">
                    <a16:rowId xmlns:a16="http://schemas.microsoft.com/office/drawing/2014/main" val="10007"/>
                  </a:ext>
                </a:extLst>
              </a:tr>
              <a:tr h="3810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descendingIterator​():</a:t>
                      </a:r>
                      <a:endParaRPr/>
                    </a:p>
                  </a:txBody>
                  <a:tcPr marL="6350" marR="6350" marT="6350" marB="0" anchor="b">
                    <a:solidFill>
                      <a:schemeClr val="lt1"/>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This method returns an iterator over the elements in this set in descending order.</a:t>
                      </a:r>
                      <a:endParaRPr/>
                    </a:p>
                  </a:txBody>
                  <a:tcPr marL="6350" marR="6350" marT="6350" marB="0" anchor="b">
                    <a:solidFill>
                      <a:schemeClr val="lt1"/>
                    </a:solidFill>
                  </a:tcPr>
                </a:tc>
                <a:extLst>
                  <a:ext uri="{0D108BD9-81ED-4DB2-BD59-A6C34878D82A}">
                    <a16:rowId xmlns:a16="http://schemas.microsoft.com/office/drawing/2014/main" val="10008"/>
                  </a:ext>
                </a:extLst>
              </a:tr>
              <a:tr h="3810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descendingSet​():</a:t>
                      </a:r>
                      <a:endParaRPr/>
                    </a:p>
                  </a:txBody>
                  <a:tcPr marL="6350" marR="6350" marT="6350"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This method returns a reverse order view of the elements contained in this set.</a:t>
                      </a:r>
                      <a:endParaRPr/>
                    </a:p>
                  </a:txBody>
                  <a:tcPr marL="6350" marR="6350" marT="6350" marB="0" anchor="b">
                    <a:solidFill>
                      <a:srgbClr val="FBE4D4"/>
                    </a:solidFill>
                  </a:tcP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pic>
        <p:nvPicPr>
          <p:cNvPr id="1003" name="Google Shape;1003;p65"/>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004" name="Google Shape;1004;p65"/>
          <p:cNvGrpSpPr/>
          <p:nvPr/>
        </p:nvGrpSpPr>
        <p:grpSpPr>
          <a:xfrm>
            <a:off x="118191" y="106018"/>
            <a:ext cx="1498574" cy="904328"/>
            <a:chOff x="862157" y="4413681"/>
            <a:chExt cx="2570156" cy="1560001"/>
          </a:xfrm>
        </p:grpSpPr>
        <p:pic>
          <p:nvPicPr>
            <p:cNvPr id="1005" name="Google Shape;1005;p65"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006" name="Google Shape;1006;p65"/>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007" name="Google Shape;1007;p65"/>
          <p:cNvSpPr txBox="1"/>
          <p:nvPr/>
        </p:nvSpPr>
        <p:spPr>
          <a:xfrm>
            <a:off x="3272224" y="38499"/>
            <a:ext cx="56475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Tree Set</a:t>
            </a:r>
            <a:endParaRPr/>
          </a:p>
        </p:txBody>
      </p:sp>
      <p:graphicFrame>
        <p:nvGraphicFramePr>
          <p:cNvPr id="1008" name="Google Shape;1008;p65"/>
          <p:cNvGraphicFramePr/>
          <p:nvPr/>
        </p:nvGraphicFramePr>
        <p:xfrm>
          <a:off x="479501" y="1124288"/>
          <a:ext cx="3000000" cy="3000000"/>
        </p:xfrm>
        <a:graphic>
          <a:graphicData uri="http://schemas.openxmlformats.org/drawingml/2006/table">
            <a:tbl>
              <a:tblPr>
                <a:noFill/>
                <a:tableStyleId>{B9160D5A-F4D8-4355-9011-09AB1966FD5C}</a:tableStyleId>
              </a:tblPr>
              <a:tblGrid>
                <a:gridCol w="3710600">
                  <a:extLst>
                    <a:ext uri="{9D8B030D-6E8A-4147-A177-3AD203B41FA5}">
                      <a16:colId xmlns:a16="http://schemas.microsoft.com/office/drawing/2014/main" val="20000"/>
                    </a:ext>
                  </a:extLst>
                </a:gridCol>
                <a:gridCol w="7845275">
                  <a:extLst>
                    <a:ext uri="{9D8B030D-6E8A-4147-A177-3AD203B41FA5}">
                      <a16:colId xmlns:a16="http://schemas.microsoft.com/office/drawing/2014/main" val="20001"/>
                    </a:ext>
                  </a:extLst>
                </a:gridCol>
              </a:tblGrid>
              <a:tr h="190500">
                <a:tc>
                  <a:txBody>
                    <a:bodyPr/>
                    <a:lstStyle/>
                    <a:p>
                      <a:pPr marL="0" marR="0" lvl="0" indent="0" algn="ctr" rtl="0">
                        <a:spcBef>
                          <a:spcPts val="0"/>
                        </a:spcBef>
                        <a:spcAft>
                          <a:spcPts val="0"/>
                        </a:spcAft>
                        <a:buNone/>
                      </a:pPr>
                      <a:r>
                        <a:rPr lang="en-US" sz="2000" b="1" u="none" strike="noStrike"/>
                        <a:t>Method</a:t>
                      </a:r>
                      <a:endParaRPr sz="2000" b="1" i="0" u="none" strike="noStrike">
                        <a:solidFill>
                          <a:srgbClr val="000000"/>
                        </a:solidFill>
                        <a:latin typeface="Calibri"/>
                        <a:ea typeface="Calibri"/>
                        <a:cs typeface="Calibri"/>
                        <a:sym typeface="Calibri"/>
                      </a:endParaRPr>
                    </a:p>
                  </a:txBody>
                  <a:tcPr marL="9525" marR="9525" marT="9525" marB="0" anchor="ctr">
                    <a:solidFill>
                      <a:srgbClr val="FFC000"/>
                    </a:solidFill>
                  </a:tcPr>
                </a:tc>
                <a:tc>
                  <a:txBody>
                    <a:bodyPr/>
                    <a:lstStyle/>
                    <a:p>
                      <a:pPr marL="0" marR="0" lvl="0" indent="0" algn="ctr" rtl="0">
                        <a:spcBef>
                          <a:spcPts val="0"/>
                        </a:spcBef>
                        <a:spcAft>
                          <a:spcPts val="0"/>
                        </a:spcAft>
                        <a:buNone/>
                      </a:pPr>
                      <a:r>
                        <a:rPr lang="en-US" sz="2000" b="1" u="none" strike="noStrike"/>
                        <a:t>Description</a:t>
                      </a:r>
                      <a:endParaRPr sz="2000" b="1" i="0" u="none" strike="noStrike">
                        <a:solidFill>
                          <a:srgbClr val="000000"/>
                        </a:solidFill>
                        <a:latin typeface="Calibri"/>
                        <a:ea typeface="Calibri"/>
                        <a:cs typeface="Calibri"/>
                        <a:sym typeface="Calibri"/>
                      </a:endParaRPr>
                    </a:p>
                  </a:txBody>
                  <a:tcPr marL="9525" marR="9525" marT="9525" marB="0" anchor="ctr">
                    <a:solidFill>
                      <a:srgbClr val="FFC000"/>
                    </a:solidFill>
                  </a:tcPr>
                </a:tc>
                <a:extLst>
                  <a:ext uri="{0D108BD9-81ED-4DB2-BD59-A6C34878D82A}">
                    <a16:rowId xmlns:a16="http://schemas.microsoft.com/office/drawing/2014/main" val="10000"/>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floor​(E e):</a:t>
                      </a:r>
                      <a:endParaRPr/>
                    </a:p>
                  </a:txBody>
                  <a:tcPr marL="6350" marR="6350" marT="6350"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This method returns the greatest element in this set less than or equal to the given element, or null if there is no such element.</a:t>
                      </a:r>
                      <a:endParaRPr/>
                    </a:p>
                  </a:txBody>
                  <a:tcPr marL="6350" marR="6350" marT="6350" marB="0" anchor="b">
                    <a:solidFill>
                      <a:srgbClr val="FBE4D4"/>
                    </a:solidFill>
                  </a:tcPr>
                </a:tc>
                <a:extLst>
                  <a:ext uri="{0D108BD9-81ED-4DB2-BD59-A6C34878D82A}">
                    <a16:rowId xmlns:a16="http://schemas.microsoft.com/office/drawing/2014/main" val="10001"/>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higher​(E e):</a:t>
                      </a:r>
                      <a:endParaRPr/>
                    </a:p>
                  </a:txBody>
                  <a:tcPr marL="6350" marR="6350" marT="6350" marB="0" anchor="b">
                    <a:solidFill>
                      <a:schemeClr val="lt1"/>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This method returns the least element in this set strictly greater than the given element, or null if there is no such element.</a:t>
                      </a:r>
                      <a:endParaRPr/>
                    </a:p>
                  </a:txBody>
                  <a:tcPr marL="6350" marR="6350" marT="6350" marB="0" anchor="b">
                    <a:solidFill>
                      <a:schemeClr val="lt1"/>
                    </a:solidFill>
                  </a:tcPr>
                </a:tc>
                <a:extLst>
                  <a:ext uri="{0D108BD9-81ED-4DB2-BD59-A6C34878D82A}">
                    <a16:rowId xmlns:a16="http://schemas.microsoft.com/office/drawing/2014/main" val="10002"/>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lower​(E e):</a:t>
                      </a:r>
                      <a:endParaRPr/>
                    </a:p>
                  </a:txBody>
                  <a:tcPr marL="6350" marR="6350" marT="6350"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This method returns the greatest element in this set strictly less than the given element, or null if there is no such element.</a:t>
                      </a:r>
                      <a:endParaRPr/>
                    </a:p>
                  </a:txBody>
                  <a:tcPr marL="6350" marR="6350" marT="6350" marB="0" anchor="b">
                    <a:solidFill>
                      <a:srgbClr val="FBE4D4"/>
                    </a:solidFill>
                  </a:tcPr>
                </a:tc>
                <a:extLst>
                  <a:ext uri="{0D108BD9-81ED-4DB2-BD59-A6C34878D82A}">
                    <a16:rowId xmlns:a16="http://schemas.microsoft.com/office/drawing/2014/main" val="10003"/>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pollFirst​():</a:t>
                      </a:r>
                      <a:endParaRPr/>
                    </a:p>
                  </a:txBody>
                  <a:tcPr marL="6350" marR="6350" marT="6350" marB="0" anchor="b">
                    <a:solidFill>
                      <a:schemeClr val="lt1"/>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This method retrieves and removes the first (lowest) element, or returns null if this set is empty.</a:t>
                      </a:r>
                      <a:endParaRPr/>
                    </a:p>
                  </a:txBody>
                  <a:tcPr marL="6350" marR="6350" marT="6350" marB="0" anchor="b">
                    <a:solidFill>
                      <a:schemeClr val="lt1"/>
                    </a:solidFill>
                  </a:tcPr>
                </a:tc>
                <a:extLst>
                  <a:ext uri="{0D108BD9-81ED-4DB2-BD59-A6C34878D82A}">
                    <a16:rowId xmlns:a16="http://schemas.microsoft.com/office/drawing/2014/main" val="10004"/>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pollLast​():</a:t>
                      </a:r>
                      <a:endParaRPr/>
                    </a:p>
                  </a:txBody>
                  <a:tcPr marL="6350" marR="6350" marT="6350" marB="0" anchor="b">
                    <a:solidFill>
                      <a:srgbClr val="FBE4D4"/>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This method retrieves and removes the last (highest) element, or returns null if this set is empty.</a:t>
                      </a:r>
                      <a:endParaRPr/>
                    </a:p>
                  </a:txBody>
                  <a:tcPr marL="6350" marR="6350" marT="6350" marB="0" anchor="b">
                    <a:solidFill>
                      <a:srgbClr val="FBE4D4"/>
                    </a:solidFill>
                  </a:tcPr>
                </a:tc>
                <a:extLst>
                  <a:ext uri="{0D108BD9-81ED-4DB2-BD59-A6C34878D82A}">
                    <a16:rowId xmlns:a16="http://schemas.microsoft.com/office/drawing/2014/main" val="10005"/>
                  </a:ext>
                </a:extLst>
              </a:tr>
              <a:tr h="190500">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spliterator​():</a:t>
                      </a:r>
                      <a:endParaRPr/>
                    </a:p>
                  </a:txBody>
                  <a:tcPr marL="6350" marR="6350" marT="6350" marB="0" anchor="b">
                    <a:solidFill>
                      <a:schemeClr val="lt1"/>
                    </a:solidFill>
                  </a:tcPr>
                </a:tc>
                <a:tc>
                  <a:txBody>
                    <a:bodyPr/>
                    <a:lstStyle/>
                    <a:p>
                      <a:pPr marL="0" marR="0" lvl="0" indent="0" algn="l" rtl="0">
                        <a:spcBef>
                          <a:spcPts val="0"/>
                        </a:spcBef>
                        <a:spcAft>
                          <a:spcPts val="0"/>
                        </a:spcAft>
                        <a:buNone/>
                      </a:pPr>
                      <a:r>
                        <a:rPr lang="en-US" sz="2000" b="1" i="0" u="none" strike="noStrike">
                          <a:solidFill>
                            <a:srgbClr val="000000"/>
                          </a:solidFill>
                          <a:latin typeface="Calibri"/>
                          <a:ea typeface="Calibri"/>
                          <a:cs typeface="Calibri"/>
                          <a:sym typeface="Calibri"/>
                        </a:rPr>
                        <a:t>This method creates a late-binding and fail-fast Spliterator over the elements in this set.</a:t>
                      </a:r>
                      <a:endParaRPr/>
                    </a:p>
                  </a:txBody>
                  <a:tcPr marL="6350" marR="6350" marT="6350" marB="0" anchor="b">
                    <a:solidFill>
                      <a:schemeClr val="lt1"/>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pic>
        <p:nvPicPr>
          <p:cNvPr id="1013" name="Google Shape;1013;p66"/>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014" name="Google Shape;1014;p66"/>
          <p:cNvGrpSpPr/>
          <p:nvPr/>
        </p:nvGrpSpPr>
        <p:grpSpPr>
          <a:xfrm>
            <a:off x="118191" y="106018"/>
            <a:ext cx="1498574" cy="904328"/>
            <a:chOff x="862157" y="4413681"/>
            <a:chExt cx="2570156" cy="1560001"/>
          </a:xfrm>
        </p:grpSpPr>
        <p:pic>
          <p:nvPicPr>
            <p:cNvPr id="1015" name="Google Shape;1015;p66"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016" name="Google Shape;1016;p66"/>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017" name="Google Shape;1017;p66"/>
          <p:cNvSpPr txBox="1"/>
          <p:nvPr/>
        </p:nvSpPr>
        <p:spPr>
          <a:xfrm>
            <a:off x="2667786" y="38499"/>
            <a:ext cx="7466028"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a:solidFill>
                  <a:srgbClr val="261628"/>
                </a:solidFill>
                <a:latin typeface="Calibri"/>
                <a:ea typeface="Calibri"/>
                <a:cs typeface="Calibri"/>
                <a:sym typeface="Calibri"/>
              </a:rPr>
              <a:t>HashSet vs LinkedHashSet vs Tree Set</a:t>
            </a:r>
            <a:endParaRPr/>
          </a:p>
        </p:txBody>
      </p:sp>
      <p:graphicFrame>
        <p:nvGraphicFramePr>
          <p:cNvPr id="1018" name="Google Shape;1018;p66"/>
          <p:cNvGraphicFramePr/>
          <p:nvPr/>
        </p:nvGraphicFramePr>
        <p:xfrm>
          <a:off x="867266" y="1010346"/>
          <a:ext cx="3000000" cy="3000000"/>
        </p:xfrm>
        <a:graphic>
          <a:graphicData uri="http://schemas.openxmlformats.org/drawingml/2006/table">
            <a:tbl>
              <a:tblPr>
                <a:noFill/>
                <a:tableStyleId>{A564AED5-2C7A-4046-9A58-7D9B8091932A}</a:tableStyleId>
              </a:tblPr>
              <a:tblGrid>
                <a:gridCol w="2637150">
                  <a:extLst>
                    <a:ext uri="{9D8B030D-6E8A-4147-A177-3AD203B41FA5}">
                      <a16:colId xmlns:a16="http://schemas.microsoft.com/office/drawing/2014/main" val="20000"/>
                    </a:ext>
                  </a:extLst>
                </a:gridCol>
                <a:gridCol w="2575825">
                  <a:extLst>
                    <a:ext uri="{9D8B030D-6E8A-4147-A177-3AD203B41FA5}">
                      <a16:colId xmlns:a16="http://schemas.microsoft.com/office/drawing/2014/main" val="20001"/>
                    </a:ext>
                  </a:extLst>
                </a:gridCol>
                <a:gridCol w="2575825">
                  <a:extLst>
                    <a:ext uri="{9D8B030D-6E8A-4147-A177-3AD203B41FA5}">
                      <a16:colId xmlns:a16="http://schemas.microsoft.com/office/drawing/2014/main" val="20002"/>
                    </a:ext>
                  </a:extLst>
                </a:gridCol>
                <a:gridCol w="2759800">
                  <a:extLst>
                    <a:ext uri="{9D8B030D-6E8A-4147-A177-3AD203B41FA5}">
                      <a16:colId xmlns:a16="http://schemas.microsoft.com/office/drawing/2014/main" val="20003"/>
                    </a:ext>
                  </a:extLst>
                </a:gridCol>
              </a:tblGrid>
              <a:tr h="739100">
                <a:tc>
                  <a:txBody>
                    <a:bodyPr/>
                    <a:lstStyle/>
                    <a:p>
                      <a:pPr marL="0" marR="0" lvl="0" indent="0" algn="ctr" rtl="0">
                        <a:spcBef>
                          <a:spcPts val="0"/>
                        </a:spcBef>
                        <a:spcAft>
                          <a:spcPts val="0"/>
                        </a:spcAft>
                        <a:buNone/>
                      </a:pPr>
                      <a:r>
                        <a:rPr lang="en-US" sz="2000" b="1" i="0" u="none" strike="noStrike">
                          <a:solidFill>
                            <a:srgbClr val="FFFFFF"/>
                          </a:solidFill>
                          <a:latin typeface="Calibri"/>
                          <a:ea typeface="Calibri"/>
                          <a:cs typeface="Calibri"/>
                          <a:sym typeface="Calibri"/>
                        </a:rPr>
                        <a:t>Criteria</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4472C4"/>
                    </a:solidFill>
                  </a:tcPr>
                </a:tc>
                <a:tc>
                  <a:txBody>
                    <a:bodyPr/>
                    <a:lstStyle/>
                    <a:p>
                      <a:pPr marL="0" marR="0" lvl="0" indent="0" algn="ctr" rtl="0">
                        <a:spcBef>
                          <a:spcPts val="0"/>
                        </a:spcBef>
                        <a:spcAft>
                          <a:spcPts val="0"/>
                        </a:spcAft>
                        <a:buNone/>
                      </a:pPr>
                      <a:r>
                        <a:rPr lang="en-US" sz="2000" b="1" i="0" u="none" strike="noStrike">
                          <a:solidFill>
                            <a:srgbClr val="FFFFFF"/>
                          </a:solidFill>
                          <a:latin typeface="Calibri"/>
                          <a:ea typeface="Calibri"/>
                          <a:cs typeface="Calibri"/>
                          <a:sym typeface="Calibri"/>
                        </a:rPr>
                        <a:t>HashSet</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4472C4"/>
                    </a:solidFill>
                  </a:tcPr>
                </a:tc>
                <a:tc>
                  <a:txBody>
                    <a:bodyPr/>
                    <a:lstStyle/>
                    <a:p>
                      <a:pPr marL="0" marR="0" lvl="0" indent="0" algn="ctr" rtl="0">
                        <a:spcBef>
                          <a:spcPts val="0"/>
                        </a:spcBef>
                        <a:spcAft>
                          <a:spcPts val="0"/>
                        </a:spcAft>
                        <a:buNone/>
                      </a:pPr>
                      <a:r>
                        <a:rPr lang="en-US" sz="2000" b="1" i="0" u="none" strike="noStrike">
                          <a:solidFill>
                            <a:srgbClr val="FFFFFF"/>
                          </a:solidFill>
                          <a:latin typeface="Calibri"/>
                          <a:ea typeface="Calibri"/>
                          <a:cs typeface="Calibri"/>
                          <a:sym typeface="Calibri"/>
                        </a:rPr>
                        <a:t>LinkedHashSet</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4472C4"/>
                    </a:solidFill>
                  </a:tcPr>
                </a:tc>
                <a:tc>
                  <a:txBody>
                    <a:bodyPr/>
                    <a:lstStyle/>
                    <a:p>
                      <a:pPr marL="0" marR="0" lvl="0" indent="0" algn="ctr" rtl="0">
                        <a:spcBef>
                          <a:spcPts val="0"/>
                        </a:spcBef>
                        <a:spcAft>
                          <a:spcPts val="0"/>
                        </a:spcAft>
                        <a:buNone/>
                      </a:pPr>
                      <a:r>
                        <a:rPr lang="en-US" sz="2000" b="1" i="0" u="none" strike="noStrike">
                          <a:solidFill>
                            <a:srgbClr val="FFFFFF"/>
                          </a:solidFill>
                          <a:latin typeface="Calibri"/>
                          <a:ea typeface="Calibri"/>
                          <a:cs typeface="Calibri"/>
                          <a:sym typeface="Calibri"/>
                        </a:rPr>
                        <a:t>TreeSet</a:t>
                      </a:r>
                      <a:endParaRPr sz="2000" b="1" i="0" u="none" strike="noStrike">
                        <a:solidFill>
                          <a:srgbClr val="FFFFFF"/>
                        </a:solidFill>
                        <a:latin typeface="Calibri"/>
                        <a:ea typeface="Calibri"/>
                        <a:cs typeface="Calibri"/>
                        <a:sym typeface="Calibri"/>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4472C4"/>
                    </a:solidFill>
                  </a:tcPr>
                </a:tc>
                <a:extLst>
                  <a:ext uri="{0D108BD9-81ED-4DB2-BD59-A6C34878D82A}">
                    <a16:rowId xmlns:a16="http://schemas.microsoft.com/office/drawing/2014/main" val="10000"/>
                  </a:ext>
                </a:extLst>
              </a:tr>
              <a:tr h="739100">
                <a:tc>
                  <a:txBody>
                    <a:bodyPr/>
                    <a:lstStyle/>
                    <a:p>
                      <a:pPr marL="0" marR="0" lvl="0" indent="0" algn="l" rtl="0">
                        <a:spcBef>
                          <a:spcPts val="0"/>
                        </a:spcBef>
                        <a:spcAft>
                          <a:spcPts val="0"/>
                        </a:spcAft>
                        <a:buNone/>
                      </a:pPr>
                      <a:r>
                        <a:rPr lang="en-US" sz="2000" b="1" i="0" u="none" strike="noStrike">
                          <a:solidFill>
                            <a:srgbClr val="000000"/>
                          </a:solidFill>
                          <a:latin typeface="Arial"/>
                          <a:ea typeface="Arial"/>
                          <a:cs typeface="Arial"/>
                          <a:sym typeface="Arial"/>
                        </a:rPr>
                        <a:t>Duplicates </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1F2"/>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Not Allowed</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1F2"/>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Not Allowed</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1F2"/>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Not Allowed</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1F2"/>
                    </a:solidFill>
                  </a:tcPr>
                </a:tc>
                <a:extLst>
                  <a:ext uri="{0D108BD9-81ED-4DB2-BD59-A6C34878D82A}">
                    <a16:rowId xmlns:a16="http://schemas.microsoft.com/office/drawing/2014/main" val="10001"/>
                  </a:ext>
                </a:extLst>
              </a:tr>
              <a:tr h="739100">
                <a:tc>
                  <a:txBody>
                    <a:bodyPr/>
                    <a:lstStyle/>
                    <a:p>
                      <a:pPr marL="0" marR="0" lvl="0" indent="0" algn="l" rtl="0">
                        <a:spcBef>
                          <a:spcPts val="0"/>
                        </a:spcBef>
                        <a:spcAft>
                          <a:spcPts val="0"/>
                        </a:spcAft>
                        <a:buNone/>
                      </a:pPr>
                      <a:r>
                        <a:rPr lang="en-US" sz="2000" b="1" i="0" u="none" strike="noStrike">
                          <a:solidFill>
                            <a:srgbClr val="000000"/>
                          </a:solidFill>
                          <a:latin typeface="Arial"/>
                          <a:ea typeface="Arial"/>
                          <a:cs typeface="Arial"/>
                          <a:sym typeface="Arial"/>
                        </a:rPr>
                        <a:t>Non-Synchronized</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Yes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Yes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Yes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739100">
                <a:tc>
                  <a:txBody>
                    <a:bodyPr/>
                    <a:lstStyle/>
                    <a:p>
                      <a:pPr marL="0" marR="0" lvl="0" indent="0" algn="l" rtl="0">
                        <a:spcBef>
                          <a:spcPts val="0"/>
                        </a:spcBef>
                        <a:spcAft>
                          <a:spcPts val="0"/>
                        </a:spcAft>
                        <a:buNone/>
                      </a:pPr>
                      <a:r>
                        <a:rPr lang="en-US" sz="2000" b="1" i="0" u="none" strike="noStrike">
                          <a:solidFill>
                            <a:srgbClr val="000000"/>
                          </a:solidFill>
                          <a:latin typeface="Arial"/>
                          <a:ea typeface="Arial"/>
                          <a:cs typeface="Arial"/>
                          <a:sym typeface="Arial"/>
                        </a:rPr>
                        <a:t>Speed</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1F2"/>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First</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1F2"/>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Second</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1F2"/>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Third</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1F2"/>
                    </a:solidFill>
                  </a:tcPr>
                </a:tc>
                <a:extLst>
                  <a:ext uri="{0D108BD9-81ED-4DB2-BD59-A6C34878D82A}">
                    <a16:rowId xmlns:a16="http://schemas.microsoft.com/office/drawing/2014/main" val="10003"/>
                  </a:ext>
                </a:extLst>
              </a:tr>
              <a:tr h="739100">
                <a:tc>
                  <a:txBody>
                    <a:bodyPr/>
                    <a:lstStyle/>
                    <a:p>
                      <a:pPr marL="0" marR="0" lvl="0" indent="0" algn="l" rtl="0">
                        <a:spcBef>
                          <a:spcPts val="0"/>
                        </a:spcBef>
                        <a:spcAft>
                          <a:spcPts val="0"/>
                        </a:spcAft>
                        <a:buNone/>
                      </a:pPr>
                      <a:r>
                        <a:rPr lang="en-US" sz="2000" b="1" i="0" u="none" strike="noStrike">
                          <a:solidFill>
                            <a:srgbClr val="000000"/>
                          </a:solidFill>
                          <a:latin typeface="Arial"/>
                          <a:ea typeface="Arial"/>
                          <a:cs typeface="Arial"/>
                          <a:sym typeface="Arial"/>
                        </a:rPr>
                        <a:t>Ordering</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No Order</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Insertion Order</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Natural Sort Order</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739100">
                <a:tc>
                  <a:txBody>
                    <a:bodyPr/>
                    <a:lstStyle/>
                    <a:p>
                      <a:pPr marL="0" marR="0" lvl="0" indent="0" algn="l" rtl="0">
                        <a:spcBef>
                          <a:spcPts val="0"/>
                        </a:spcBef>
                        <a:spcAft>
                          <a:spcPts val="0"/>
                        </a:spcAft>
                        <a:buNone/>
                      </a:pPr>
                      <a:r>
                        <a:rPr lang="en-US" sz="2000" b="1" i="0" u="none" strike="noStrike">
                          <a:solidFill>
                            <a:srgbClr val="000000"/>
                          </a:solidFill>
                          <a:latin typeface="Arial"/>
                          <a:ea typeface="Arial"/>
                          <a:cs typeface="Arial"/>
                          <a:sym typeface="Arial"/>
                        </a:rPr>
                        <a:t>Null Values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1F2"/>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One Null Allowed</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1F2"/>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One Null Allowed</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1F2"/>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Not Allowed</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1F2"/>
                    </a:solidFill>
                  </a:tcPr>
                </a:tc>
                <a:extLst>
                  <a:ext uri="{0D108BD9-81ED-4DB2-BD59-A6C34878D82A}">
                    <a16:rowId xmlns:a16="http://schemas.microsoft.com/office/drawing/2014/main" val="10005"/>
                  </a:ext>
                </a:extLst>
              </a:tr>
              <a:tr h="739100">
                <a:tc>
                  <a:txBody>
                    <a:bodyPr/>
                    <a:lstStyle/>
                    <a:p>
                      <a:pPr marL="0" marR="0" lvl="0" indent="0" algn="l" rtl="0">
                        <a:spcBef>
                          <a:spcPts val="0"/>
                        </a:spcBef>
                        <a:spcAft>
                          <a:spcPts val="0"/>
                        </a:spcAft>
                        <a:buNone/>
                      </a:pPr>
                      <a:r>
                        <a:rPr lang="en-US" sz="2000" b="1" i="0" u="none" strike="noStrike">
                          <a:solidFill>
                            <a:srgbClr val="000000"/>
                          </a:solidFill>
                          <a:latin typeface="Arial"/>
                          <a:ea typeface="Arial"/>
                          <a:cs typeface="Arial"/>
                          <a:sym typeface="Arial"/>
                        </a:rPr>
                        <a:t>Comparison</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uses equals()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uses equals()</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2000" b="0" i="0" u="none" strike="noStrike">
                          <a:solidFill>
                            <a:srgbClr val="000000"/>
                          </a:solidFill>
                          <a:latin typeface="Calibri"/>
                          <a:ea typeface="Calibri"/>
                          <a:cs typeface="Calibri"/>
                          <a:sym typeface="Calibri"/>
                        </a:rPr>
                        <a:t>uses compareTo()</a:t>
                      </a:r>
                      <a:endParaRPr/>
                    </a:p>
                  </a:txBody>
                  <a:tcPr marL="6350" marR="6350" marT="63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p67"/>
          <p:cNvSpPr/>
          <p:nvPr/>
        </p:nvSpPr>
        <p:spPr>
          <a:xfrm>
            <a:off x="1" y="0"/>
            <a:ext cx="3897442" cy="6858000"/>
          </a:xfrm>
          <a:prstGeom prst="rect">
            <a:avLst/>
          </a:pr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4" name="Google Shape;1024;p67"/>
          <p:cNvSpPr txBox="1"/>
          <p:nvPr/>
        </p:nvSpPr>
        <p:spPr>
          <a:xfrm>
            <a:off x="1151292" y="237372"/>
            <a:ext cx="15948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Topics</a:t>
            </a:r>
            <a:endParaRPr/>
          </a:p>
        </p:txBody>
      </p:sp>
      <p:sp>
        <p:nvSpPr>
          <p:cNvPr id="1025" name="Google Shape;1025;p67"/>
          <p:cNvSpPr txBox="1"/>
          <p:nvPr/>
        </p:nvSpPr>
        <p:spPr>
          <a:xfrm>
            <a:off x="5989419" y="2721114"/>
            <a:ext cx="2528256"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61628"/>
                </a:solidFill>
                <a:latin typeface="Calibri"/>
                <a:ea typeface="Calibri"/>
                <a:cs typeface="Calibri"/>
                <a:sym typeface="Calibri"/>
              </a:rPr>
              <a:t>09	Queue</a:t>
            </a:r>
            <a:endParaRPr/>
          </a:p>
        </p:txBody>
      </p:sp>
      <p:pic>
        <p:nvPicPr>
          <p:cNvPr id="1026" name="Google Shape;1026;p67"/>
          <p:cNvPicPr preferRelativeResize="0"/>
          <p:nvPr/>
        </p:nvPicPr>
        <p:blipFill rotWithShape="1">
          <a:blip r:embed="rId3">
            <a:alphaModFix/>
          </a:blip>
          <a:srcRect l="25290" t="6287" r="23678" b="6958"/>
          <a:stretch/>
        </p:blipFill>
        <p:spPr>
          <a:xfrm>
            <a:off x="957407" y="1890227"/>
            <a:ext cx="1637034" cy="2782957"/>
          </a:xfrm>
          <a:prstGeom prst="rect">
            <a:avLst/>
          </a:prstGeom>
          <a:noFill/>
          <a:ln>
            <a:noFill/>
          </a:ln>
        </p:spPr>
      </p:pic>
      <p:sp>
        <p:nvSpPr>
          <p:cNvPr id="1027" name="Google Shape;1027;p67"/>
          <p:cNvSpPr txBox="1"/>
          <p:nvPr/>
        </p:nvSpPr>
        <p:spPr>
          <a:xfrm>
            <a:off x="4784035" y="0"/>
            <a:ext cx="564755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rgbClr val="261628"/>
                </a:solidFill>
                <a:latin typeface="Calibri"/>
                <a:ea typeface="Calibri"/>
                <a:cs typeface="Calibri"/>
                <a:sym typeface="Calibri"/>
              </a:rPr>
              <a:t>Collection Framework</a:t>
            </a:r>
            <a:endParaRPr/>
          </a:p>
        </p:txBody>
      </p:sp>
      <p:grpSp>
        <p:nvGrpSpPr>
          <p:cNvPr id="1028" name="Google Shape;1028;p67"/>
          <p:cNvGrpSpPr/>
          <p:nvPr/>
        </p:nvGrpSpPr>
        <p:grpSpPr>
          <a:xfrm>
            <a:off x="485505" y="4776597"/>
            <a:ext cx="2570156" cy="1560001"/>
            <a:chOff x="862157" y="4413681"/>
            <a:chExt cx="2570156" cy="1560001"/>
          </a:xfrm>
        </p:grpSpPr>
        <p:pic>
          <p:nvPicPr>
            <p:cNvPr id="1029" name="Google Shape;1029;p67"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030" name="Google Shape;1030;p67"/>
            <p:cNvSpPr/>
            <p:nvPr/>
          </p:nvSpPr>
          <p:spPr>
            <a:xfrm>
              <a:off x="862157" y="4413681"/>
              <a:ext cx="2570156" cy="372346"/>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1">
                  <a:solidFill>
                    <a:schemeClr val="lt1"/>
                  </a:solidFill>
                  <a:latin typeface="Roboto"/>
                  <a:ea typeface="Roboto"/>
                  <a:cs typeface="Roboto"/>
                  <a:sym typeface="Roboto"/>
                </a:rPr>
                <a:t>Collection Framework</a:t>
              </a:r>
              <a:endParaRPr/>
            </a:p>
          </p:txBody>
        </p:sp>
      </p:gr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pic>
        <p:nvPicPr>
          <p:cNvPr id="1035" name="Google Shape;1035;p68"/>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036" name="Google Shape;1036;p68"/>
          <p:cNvGrpSpPr/>
          <p:nvPr/>
        </p:nvGrpSpPr>
        <p:grpSpPr>
          <a:xfrm>
            <a:off x="118191" y="106018"/>
            <a:ext cx="1498574" cy="904328"/>
            <a:chOff x="862157" y="4413681"/>
            <a:chExt cx="2570156" cy="1560001"/>
          </a:xfrm>
        </p:grpSpPr>
        <p:pic>
          <p:nvPicPr>
            <p:cNvPr id="1037" name="Google Shape;1037;p68"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038" name="Google Shape;1038;p68"/>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039" name="Google Shape;1039;p68"/>
          <p:cNvSpPr/>
          <p:nvPr/>
        </p:nvSpPr>
        <p:spPr>
          <a:xfrm>
            <a:off x="5157199" y="1679216"/>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Collection</a:t>
            </a:r>
            <a:endParaRPr/>
          </a:p>
        </p:txBody>
      </p:sp>
      <p:sp>
        <p:nvSpPr>
          <p:cNvPr id="1040" name="Google Shape;1040;p68"/>
          <p:cNvSpPr/>
          <p:nvPr/>
        </p:nvSpPr>
        <p:spPr>
          <a:xfrm>
            <a:off x="5161721" y="3289397"/>
            <a:ext cx="1868557" cy="614577"/>
          </a:xfrm>
          <a:prstGeom prst="rect">
            <a:avLst/>
          </a:prstGeom>
          <a:solidFill>
            <a:schemeClr val="accent3">
              <a:alpha val="49803"/>
            </a:schemeClr>
          </a:solid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Queue (1.5)</a:t>
            </a:r>
            <a:endParaRPr/>
          </a:p>
        </p:txBody>
      </p:sp>
      <p:sp>
        <p:nvSpPr>
          <p:cNvPr id="1041" name="Google Shape;1041;p68"/>
          <p:cNvSpPr/>
          <p:nvPr/>
        </p:nvSpPr>
        <p:spPr>
          <a:xfrm>
            <a:off x="7049712" y="4447279"/>
            <a:ext cx="1686916" cy="842260"/>
          </a:xfrm>
          <a:prstGeom prst="rect">
            <a:avLst/>
          </a:prstGeom>
          <a:solidFill>
            <a:schemeClr val="accent3">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BlockingQueue (1.5)</a:t>
            </a:r>
            <a:endParaRPr/>
          </a:p>
        </p:txBody>
      </p:sp>
      <p:sp>
        <p:nvSpPr>
          <p:cNvPr id="1042" name="Google Shape;1042;p68"/>
          <p:cNvSpPr/>
          <p:nvPr/>
        </p:nvSpPr>
        <p:spPr>
          <a:xfrm>
            <a:off x="2587285" y="4623244"/>
            <a:ext cx="1562912" cy="490330"/>
          </a:xfrm>
          <a:prstGeom prst="rect">
            <a:avLst/>
          </a:prstGeom>
          <a:solidFill>
            <a:schemeClr val="accent3">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PriorityQueue (1.5)</a:t>
            </a:r>
            <a:endParaRPr/>
          </a:p>
        </p:txBody>
      </p:sp>
      <p:cxnSp>
        <p:nvCxnSpPr>
          <p:cNvPr id="1043" name="Google Shape;1043;p68"/>
          <p:cNvCxnSpPr>
            <a:stCxn id="1042" idx="0"/>
            <a:endCxn id="1040" idx="2"/>
          </p:cNvCxnSpPr>
          <p:nvPr/>
        </p:nvCxnSpPr>
        <p:spPr>
          <a:xfrm rot="10800000" flipH="1">
            <a:off x="3368741" y="3903844"/>
            <a:ext cx="2727300" cy="719400"/>
          </a:xfrm>
          <a:prstGeom prst="straightConnector1">
            <a:avLst/>
          </a:prstGeom>
          <a:noFill/>
          <a:ln w="28575" cap="flat" cmpd="sng">
            <a:solidFill>
              <a:schemeClr val="dk1"/>
            </a:solidFill>
            <a:prstDash val="dash"/>
            <a:miter lim="800000"/>
            <a:headEnd type="none" w="sm" len="sm"/>
            <a:tailEnd type="triangle" w="med" len="med"/>
          </a:ln>
        </p:spPr>
      </p:cxnSp>
      <p:cxnSp>
        <p:nvCxnSpPr>
          <p:cNvPr id="1044" name="Google Shape;1044;p68"/>
          <p:cNvCxnSpPr>
            <a:stCxn id="1041" idx="0"/>
            <a:endCxn id="1040" idx="2"/>
          </p:cNvCxnSpPr>
          <p:nvPr/>
        </p:nvCxnSpPr>
        <p:spPr>
          <a:xfrm rot="10800000">
            <a:off x="6095870" y="3903979"/>
            <a:ext cx="1797300" cy="543300"/>
          </a:xfrm>
          <a:prstGeom prst="straightConnector1">
            <a:avLst/>
          </a:prstGeom>
          <a:noFill/>
          <a:ln w="28575" cap="flat" cmpd="sng">
            <a:solidFill>
              <a:schemeClr val="dk1"/>
            </a:solidFill>
            <a:prstDash val="solid"/>
            <a:miter lim="800000"/>
            <a:headEnd type="none" w="sm" len="sm"/>
            <a:tailEnd type="triangle" w="med" len="med"/>
          </a:ln>
        </p:spPr>
      </p:cxnSp>
      <p:sp>
        <p:nvSpPr>
          <p:cNvPr id="1045" name="Google Shape;1045;p68"/>
          <p:cNvSpPr/>
          <p:nvPr/>
        </p:nvSpPr>
        <p:spPr>
          <a:xfrm>
            <a:off x="4933754" y="5792279"/>
            <a:ext cx="2315446" cy="490330"/>
          </a:xfrm>
          <a:prstGeom prst="rect">
            <a:avLst/>
          </a:prstGeom>
          <a:solidFill>
            <a:schemeClr val="accent3">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PriorityBlockingQueue (1.5)</a:t>
            </a:r>
            <a:endParaRPr/>
          </a:p>
        </p:txBody>
      </p:sp>
      <p:cxnSp>
        <p:nvCxnSpPr>
          <p:cNvPr id="1046" name="Google Shape;1046;p68"/>
          <p:cNvCxnSpPr>
            <a:stCxn id="1045" idx="0"/>
            <a:endCxn id="1041" idx="2"/>
          </p:cNvCxnSpPr>
          <p:nvPr/>
        </p:nvCxnSpPr>
        <p:spPr>
          <a:xfrm rot="10800000" flipH="1">
            <a:off x="6091477" y="5289479"/>
            <a:ext cx="1801800" cy="502800"/>
          </a:xfrm>
          <a:prstGeom prst="straightConnector1">
            <a:avLst/>
          </a:prstGeom>
          <a:noFill/>
          <a:ln w="28575" cap="flat" cmpd="sng">
            <a:solidFill>
              <a:schemeClr val="dk1"/>
            </a:solidFill>
            <a:prstDash val="dash"/>
            <a:miter lim="800000"/>
            <a:headEnd type="none" w="sm" len="sm"/>
            <a:tailEnd type="triangle" w="med" len="med"/>
          </a:ln>
        </p:spPr>
      </p:cxnSp>
      <p:cxnSp>
        <p:nvCxnSpPr>
          <p:cNvPr id="1047" name="Google Shape;1047;p68"/>
          <p:cNvCxnSpPr>
            <a:stCxn id="1040" idx="0"/>
            <a:endCxn id="1039" idx="2"/>
          </p:cNvCxnSpPr>
          <p:nvPr/>
        </p:nvCxnSpPr>
        <p:spPr>
          <a:xfrm rot="10800000">
            <a:off x="6091500" y="2222597"/>
            <a:ext cx="4500" cy="1066800"/>
          </a:xfrm>
          <a:prstGeom prst="straightConnector1">
            <a:avLst/>
          </a:prstGeom>
          <a:noFill/>
          <a:ln w="28575" cap="flat" cmpd="sng">
            <a:solidFill>
              <a:schemeClr val="dk1"/>
            </a:solidFill>
            <a:prstDash val="solid"/>
            <a:miter lim="800000"/>
            <a:headEnd type="none" w="sm" len="sm"/>
            <a:tailEnd type="triangle" w="med" len="med"/>
          </a:ln>
        </p:spPr>
      </p:cxnSp>
      <p:sp>
        <p:nvSpPr>
          <p:cNvPr id="1048" name="Google Shape;1048;p68"/>
          <p:cNvSpPr/>
          <p:nvPr/>
        </p:nvSpPr>
        <p:spPr>
          <a:xfrm>
            <a:off x="5157200" y="612481"/>
            <a:ext cx="1868557" cy="543446"/>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&lt;&lt;interface&gt;&gt;</a:t>
            </a:r>
            <a:endParaRPr/>
          </a:p>
          <a:p>
            <a:pPr marL="0" marR="0" lvl="0" indent="0" algn="ctr" rtl="0">
              <a:spcBef>
                <a:spcPts val="0"/>
              </a:spcBef>
              <a:spcAft>
                <a:spcPts val="0"/>
              </a:spcAft>
              <a:buNone/>
            </a:pPr>
            <a:r>
              <a:rPr lang="en-US" sz="1800" b="1">
                <a:solidFill>
                  <a:schemeClr val="dk1"/>
                </a:solidFill>
                <a:latin typeface="Calibri"/>
                <a:ea typeface="Calibri"/>
                <a:cs typeface="Calibri"/>
                <a:sym typeface="Calibri"/>
              </a:rPr>
              <a:t>Iterable</a:t>
            </a:r>
            <a:endParaRPr/>
          </a:p>
        </p:txBody>
      </p:sp>
      <p:cxnSp>
        <p:nvCxnSpPr>
          <p:cNvPr id="1049" name="Google Shape;1049;p68"/>
          <p:cNvCxnSpPr>
            <a:stCxn id="1039" idx="0"/>
            <a:endCxn id="1048" idx="2"/>
          </p:cNvCxnSpPr>
          <p:nvPr/>
        </p:nvCxnSpPr>
        <p:spPr>
          <a:xfrm rot="10800000">
            <a:off x="6091477" y="1156016"/>
            <a:ext cx="0" cy="523200"/>
          </a:xfrm>
          <a:prstGeom prst="straightConnector1">
            <a:avLst/>
          </a:prstGeom>
          <a:noFill/>
          <a:ln w="28575" cap="flat" cmpd="sng">
            <a:solidFill>
              <a:schemeClr val="dk1"/>
            </a:solidFill>
            <a:prstDash val="solid"/>
            <a:miter lim="800000"/>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pic>
        <p:nvPicPr>
          <p:cNvPr id="1054" name="Google Shape;1054;p69"/>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055" name="Google Shape;1055;p69"/>
          <p:cNvGrpSpPr/>
          <p:nvPr/>
        </p:nvGrpSpPr>
        <p:grpSpPr>
          <a:xfrm>
            <a:off x="118191" y="106018"/>
            <a:ext cx="1498574" cy="904328"/>
            <a:chOff x="862157" y="4413681"/>
            <a:chExt cx="2570156" cy="1560001"/>
          </a:xfrm>
        </p:grpSpPr>
        <p:pic>
          <p:nvPicPr>
            <p:cNvPr id="1056" name="Google Shape;1056;p69"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057" name="Google Shape;1057;p69"/>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058" name="Google Shape;1058;p69"/>
          <p:cNvSpPr/>
          <p:nvPr/>
        </p:nvSpPr>
        <p:spPr>
          <a:xfrm>
            <a:off x="1455479" y="1010346"/>
            <a:ext cx="928104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00"/>
                </a:solidFill>
                <a:latin typeface="verdana"/>
                <a:ea typeface="verdana"/>
                <a:cs typeface="verdana"/>
                <a:sym typeface="verdana"/>
              </a:rPr>
              <a:t>Java Queue interface orders the element in FIFO(First In First Out) manner.</a:t>
            </a:r>
            <a:endParaRPr sz="1800">
              <a:solidFill>
                <a:schemeClr val="dk1"/>
              </a:solidFill>
              <a:latin typeface="Calibri"/>
              <a:ea typeface="Calibri"/>
              <a:cs typeface="Calibri"/>
              <a:sym typeface="Calibri"/>
            </a:endParaRPr>
          </a:p>
        </p:txBody>
      </p:sp>
      <p:graphicFrame>
        <p:nvGraphicFramePr>
          <p:cNvPr id="1059" name="Google Shape;1059;p69"/>
          <p:cNvGraphicFramePr/>
          <p:nvPr/>
        </p:nvGraphicFramePr>
        <p:xfrm>
          <a:off x="479501" y="1540646"/>
          <a:ext cx="3000000" cy="3000000"/>
        </p:xfrm>
        <a:graphic>
          <a:graphicData uri="http://schemas.openxmlformats.org/drawingml/2006/table">
            <a:tbl>
              <a:tblPr>
                <a:noFill/>
                <a:tableStyleId>{A564AED5-2C7A-4046-9A58-7D9B8091932A}</a:tableStyleId>
              </a:tblPr>
              <a:tblGrid>
                <a:gridCol w="3933475">
                  <a:extLst>
                    <a:ext uri="{9D8B030D-6E8A-4147-A177-3AD203B41FA5}">
                      <a16:colId xmlns:a16="http://schemas.microsoft.com/office/drawing/2014/main" val="20000"/>
                    </a:ext>
                  </a:extLst>
                </a:gridCol>
                <a:gridCol w="7421225">
                  <a:extLst>
                    <a:ext uri="{9D8B030D-6E8A-4147-A177-3AD203B41FA5}">
                      <a16:colId xmlns:a16="http://schemas.microsoft.com/office/drawing/2014/main" val="20001"/>
                    </a:ext>
                  </a:extLst>
                </a:gridCol>
              </a:tblGrid>
              <a:tr h="432425">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Method</a:t>
                      </a:r>
                      <a:endParaRPr/>
                    </a:p>
                  </a:txBody>
                  <a:tcPr marL="78250" marR="78250" marT="78250" marB="78250">
                    <a:lnL w="9525" cap="flat" cmpd="sng">
                      <a:solidFill>
                        <a:srgbClr val="D044FD"/>
                      </a:solidFill>
                      <a:prstDash val="solid"/>
                      <a:round/>
                      <a:headEnd type="none" w="sm" len="sm"/>
                      <a:tailEnd type="none" w="sm" len="sm"/>
                    </a:lnL>
                    <a:lnR w="9525" cap="flat" cmpd="sng">
                      <a:solidFill>
                        <a:srgbClr val="D044FD"/>
                      </a:solidFill>
                      <a:prstDash val="solid"/>
                      <a:round/>
                      <a:headEnd type="none" w="sm" len="sm"/>
                      <a:tailEnd type="none" w="sm" len="sm"/>
                    </a:lnR>
                    <a:lnT w="9525" cap="flat" cmpd="sng">
                      <a:solidFill>
                        <a:srgbClr val="D044FD"/>
                      </a:solidFill>
                      <a:prstDash val="solid"/>
                      <a:round/>
                      <a:headEnd type="none" w="sm" len="sm"/>
                      <a:tailEnd type="none" w="sm" len="sm"/>
                    </a:lnT>
                    <a:lnB w="9525" cap="flat" cmpd="sng">
                      <a:solidFill>
                        <a:srgbClr val="C7CCBE"/>
                      </a:solidFill>
                      <a:prstDash val="solid"/>
                      <a:round/>
                      <a:headEnd type="none" w="sm" len="sm"/>
                      <a:tailEnd type="none" w="sm" len="sm"/>
                    </a:lnB>
                    <a:solidFill>
                      <a:srgbClr val="FFC000"/>
                    </a:solidFill>
                  </a:tcPr>
                </a:tc>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Description</a:t>
                      </a:r>
                      <a:endParaRPr/>
                    </a:p>
                  </a:txBody>
                  <a:tcPr marL="78250" marR="78250" marT="78250" marB="78250">
                    <a:lnL w="9525" cap="flat" cmpd="sng">
                      <a:solidFill>
                        <a:srgbClr val="D044FD"/>
                      </a:solidFill>
                      <a:prstDash val="solid"/>
                      <a:round/>
                      <a:headEnd type="none" w="sm" len="sm"/>
                      <a:tailEnd type="none" w="sm" len="sm"/>
                    </a:lnL>
                    <a:lnR w="9525" cap="flat" cmpd="sng">
                      <a:solidFill>
                        <a:srgbClr val="D044FD"/>
                      </a:solidFill>
                      <a:prstDash val="solid"/>
                      <a:round/>
                      <a:headEnd type="none" w="sm" len="sm"/>
                      <a:tailEnd type="none" w="sm" len="sm"/>
                    </a:lnR>
                    <a:lnT w="9525" cap="flat" cmpd="sng">
                      <a:solidFill>
                        <a:srgbClr val="D044FD"/>
                      </a:solidFill>
                      <a:prstDash val="solid"/>
                      <a:round/>
                      <a:headEnd type="none" w="sm" len="sm"/>
                      <a:tailEnd type="none" w="sm" len="sm"/>
                    </a:lnT>
                    <a:lnB w="9525" cap="flat" cmpd="sng">
                      <a:solidFill>
                        <a:srgbClr val="C7CCBE"/>
                      </a:solidFill>
                      <a:prstDash val="solid"/>
                      <a:round/>
                      <a:headEnd type="none" w="sm" len="sm"/>
                      <a:tailEnd type="none" w="sm" len="sm"/>
                    </a:lnB>
                    <a:solidFill>
                      <a:srgbClr val="FFC000"/>
                    </a:solidFill>
                  </a:tcPr>
                </a:tc>
                <a:extLst>
                  <a:ext uri="{0D108BD9-81ED-4DB2-BD59-A6C34878D82A}">
                    <a16:rowId xmlns:a16="http://schemas.microsoft.com/office/drawing/2014/main" val="10000"/>
                  </a:ext>
                </a:extLst>
              </a:tr>
              <a:tr h="669225">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boolean add(object)</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It is used to insert the specified element into this queue and return true upon success.</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69225">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boolean offer(object)</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It is used to insert the specified element into this queue.</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2"/>
                  </a:ext>
                </a:extLst>
              </a:tr>
              <a:tr h="669225">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Object remove()</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It is used to retrieves and removes the head of this queue.</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802050">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Object poll()</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It is used to retrieves and removes the head of this queue, or returns null if this queue is empty.</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4"/>
                  </a:ext>
                </a:extLst>
              </a:tr>
              <a:tr h="669225">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Object element()</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It is used to retrieves, but does not remove, the head of this queue.</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802050">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Object peek()</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It is used to retrieves, but does not remove, the head of this queue, or returns null if this queue is empty.</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pic>
        <p:nvPicPr>
          <p:cNvPr id="1064" name="Google Shape;1064;p70"/>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065" name="Google Shape;1065;p70"/>
          <p:cNvGrpSpPr/>
          <p:nvPr/>
        </p:nvGrpSpPr>
        <p:grpSpPr>
          <a:xfrm>
            <a:off x="118191" y="106018"/>
            <a:ext cx="1498574" cy="904328"/>
            <a:chOff x="862157" y="4413681"/>
            <a:chExt cx="2570156" cy="1560001"/>
          </a:xfrm>
        </p:grpSpPr>
        <p:pic>
          <p:nvPicPr>
            <p:cNvPr id="1066" name="Google Shape;1066;p70"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067" name="Google Shape;1067;p70"/>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068" name="Google Shape;1068;p70"/>
          <p:cNvSpPr/>
          <p:nvPr/>
        </p:nvSpPr>
        <p:spPr>
          <a:xfrm>
            <a:off x="1174923" y="1010346"/>
            <a:ext cx="9453320"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00"/>
                </a:solidFill>
                <a:latin typeface="Calibri"/>
                <a:ea typeface="Calibri"/>
                <a:cs typeface="Calibri"/>
                <a:sym typeface="Calibri"/>
              </a:rPr>
              <a:t>PriorityQueue class</a:t>
            </a:r>
            <a:endParaRPr/>
          </a:p>
          <a:p>
            <a:pPr marL="0" marR="0" lvl="0" indent="0" algn="l" rtl="0">
              <a:spcBef>
                <a:spcPts val="0"/>
              </a:spcBef>
              <a:spcAft>
                <a:spcPts val="0"/>
              </a:spcAft>
              <a:buNone/>
            </a:pPr>
            <a:endParaRPr sz="2400">
              <a:solidFill>
                <a:srgbClr val="000000"/>
              </a:solidFill>
              <a:latin typeface="Calibri"/>
              <a:ea typeface="Calibri"/>
              <a:cs typeface="Calibri"/>
              <a:sym typeface="Calibri"/>
            </a:endParaRPr>
          </a:p>
          <a:p>
            <a:pPr marL="457200" marR="0" lvl="0" indent="-4572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The PriorityQueue class provides the facility of using queue. </a:t>
            </a:r>
            <a:endParaRPr/>
          </a:p>
          <a:p>
            <a:pPr marL="457200" marR="0" lvl="0" indent="-3048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457200" marR="0" lvl="0" indent="-4572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But it does not orders the elements in FIFO manner. </a:t>
            </a:r>
            <a:endParaRPr/>
          </a:p>
          <a:p>
            <a:pPr marL="457200" marR="0" lvl="0" indent="-3048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457200" marR="0" lvl="0" indent="-4572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It inherits AbstractQueue class.</a:t>
            </a:r>
            <a:endParaRPr/>
          </a:p>
          <a:p>
            <a:pPr marL="457200" marR="0" lvl="0" indent="-3048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457200" marR="0" lvl="0" indent="-4572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The elements in PriorityQueue must be of Comparable type. String and Wrapper classes are Comparable by default.</a:t>
            </a:r>
            <a:endParaRPr/>
          </a:p>
          <a:p>
            <a:pPr marL="457200" marR="0" lvl="0" indent="-3048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457200" marR="0" lvl="0" indent="-457200" algn="l"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To add user-defined objects in PriorityQueue, you need to implement Comparable interface.</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pic>
        <p:nvPicPr>
          <p:cNvPr id="1073" name="Google Shape;1073;p71"/>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074" name="Google Shape;1074;p71"/>
          <p:cNvGrpSpPr/>
          <p:nvPr/>
        </p:nvGrpSpPr>
        <p:grpSpPr>
          <a:xfrm>
            <a:off x="118191" y="106018"/>
            <a:ext cx="1498574" cy="904328"/>
            <a:chOff x="862157" y="4413681"/>
            <a:chExt cx="2570156" cy="1560001"/>
          </a:xfrm>
        </p:grpSpPr>
        <p:pic>
          <p:nvPicPr>
            <p:cNvPr id="1075" name="Google Shape;1075;p71"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076" name="Google Shape;1076;p71"/>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077" name="Google Shape;1077;p71"/>
          <p:cNvSpPr/>
          <p:nvPr/>
        </p:nvSpPr>
        <p:spPr>
          <a:xfrm>
            <a:off x="1152939" y="233841"/>
            <a:ext cx="10827026"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00"/>
                </a:solidFill>
                <a:latin typeface="Calibri"/>
                <a:ea typeface="Calibri"/>
                <a:cs typeface="Calibri"/>
                <a:sym typeface="Calibri"/>
              </a:rPr>
              <a:t>Deque Interface</a:t>
            </a:r>
            <a:endParaRPr/>
          </a:p>
          <a:p>
            <a:pPr marL="0" marR="0" lvl="0" indent="0" algn="l" rtl="0">
              <a:spcBef>
                <a:spcPts val="0"/>
              </a:spcBef>
              <a:spcAft>
                <a:spcPts val="0"/>
              </a:spcAft>
              <a:buNone/>
            </a:pPr>
            <a:endParaRPr sz="2400">
              <a:solidFill>
                <a:srgbClr val="000000"/>
              </a:solidFill>
              <a:latin typeface="Calibri"/>
              <a:ea typeface="Calibri"/>
              <a:cs typeface="Calibri"/>
              <a:sym typeface="Calibri"/>
            </a:endParaRPr>
          </a:p>
          <a:p>
            <a:pPr marL="457200" marR="0" lvl="0" indent="-4572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Deque Interface is a linear collection that supports element insertion and removal at both ends. </a:t>
            </a:r>
            <a:endParaRPr sz="2400">
              <a:solidFill>
                <a:schemeClr val="dk1"/>
              </a:solidFill>
              <a:latin typeface="Calibri"/>
              <a:ea typeface="Calibri"/>
              <a:cs typeface="Calibri"/>
              <a:sym typeface="Calibri"/>
            </a:endParaRPr>
          </a:p>
        </p:txBody>
      </p:sp>
      <p:graphicFrame>
        <p:nvGraphicFramePr>
          <p:cNvPr id="1078" name="Google Shape;1078;p71"/>
          <p:cNvGraphicFramePr/>
          <p:nvPr/>
        </p:nvGraphicFramePr>
        <p:xfrm>
          <a:off x="479501" y="1825625"/>
          <a:ext cx="3000000" cy="3000000"/>
        </p:xfrm>
        <a:graphic>
          <a:graphicData uri="http://schemas.openxmlformats.org/drawingml/2006/table">
            <a:tbl>
              <a:tblPr>
                <a:noFill/>
                <a:tableStyleId>{A564AED5-2C7A-4046-9A58-7D9B8091932A}</a:tableStyleId>
              </a:tblPr>
              <a:tblGrid>
                <a:gridCol w="3376875">
                  <a:extLst>
                    <a:ext uri="{9D8B030D-6E8A-4147-A177-3AD203B41FA5}">
                      <a16:colId xmlns:a16="http://schemas.microsoft.com/office/drawing/2014/main" val="20000"/>
                    </a:ext>
                  </a:extLst>
                </a:gridCol>
                <a:gridCol w="8123575">
                  <a:extLst>
                    <a:ext uri="{9D8B030D-6E8A-4147-A177-3AD203B41FA5}">
                      <a16:colId xmlns:a16="http://schemas.microsoft.com/office/drawing/2014/main" val="20001"/>
                    </a:ext>
                  </a:extLst>
                </a:gridCol>
              </a:tblGrid>
              <a:tr h="344350">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Method</a:t>
                      </a:r>
                      <a:endParaRPr/>
                    </a:p>
                  </a:txBody>
                  <a:tcPr marL="78250" marR="78250" marT="78250" marB="78250">
                    <a:lnL w="9525" cap="flat" cmpd="sng">
                      <a:solidFill>
                        <a:srgbClr val="3807BF"/>
                      </a:solidFill>
                      <a:prstDash val="solid"/>
                      <a:round/>
                      <a:headEnd type="none" w="sm" len="sm"/>
                      <a:tailEnd type="none" w="sm" len="sm"/>
                    </a:lnL>
                    <a:lnR w="9525" cap="flat" cmpd="sng">
                      <a:solidFill>
                        <a:srgbClr val="3807BF"/>
                      </a:solidFill>
                      <a:prstDash val="solid"/>
                      <a:round/>
                      <a:headEnd type="none" w="sm" len="sm"/>
                      <a:tailEnd type="none" w="sm" len="sm"/>
                    </a:lnR>
                    <a:lnT w="9525" cap="flat" cmpd="sng">
                      <a:solidFill>
                        <a:srgbClr val="3807BF"/>
                      </a:solidFill>
                      <a:prstDash val="solid"/>
                      <a:round/>
                      <a:headEnd type="none" w="sm" len="sm"/>
                      <a:tailEnd type="none" w="sm" len="sm"/>
                    </a:lnT>
                    <a:lnB w="9525" cap="flat" cmpd="sng">
                      <a:solidFill>
                        <a:srgbClr val="C7CCBE"/>
                      </a:solidFill>
                      <a:prstDash val="solid"/>
                      <a:round/>
                      <a:headEnd type="none" w="sm" len="sm"/>
                      <a:tailEnd type="none" w="sm" len="sm"/>
                    </a:lnB>
                    <a:solidFill>
                      <a:srgbClr val="FFC000"/>
                    </a:solidFill>
                  </a:tcPr>
                </a:tc>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Description</a:t>
                      </a:r>
                      <a:endParaRPr/>
                    </a:p>
                  </a:txBody>
                  <a:tcPr marL="78250" marR="78250" marT="78250" marB="78250">
                    <a:lnL w="9525" cap="flat" cmpd="sng">
                      <a:solidFill>
                        <a:srgbClr val="3807BF"/>
                      </a:solidFill>
                      <a:prstDash val="solid"/>
                      <a:round/>
                      <a:headEnd type="none" w="sm" len="sm"/>
                      <a:tailEnd type="none" w="sm" len="sm"/>
                    </a:lnL>
                    <a:lnR w="9525" cap="flat" cmpd="sng">
                      <a:solidFill>
                        <a:srgbClr val="3807BF"/>
                      </a:solidFill>
                      <a:prstDash val="solid"/>
                      <a:round/>
                      <a:headEnd type="none" w="sm" len="sm"/>
                      <a:tailEnd type="none" w="sm" len="sm"/>
                    </a:lnR>
                    <a:lnT w="9525" cap="flat" cmpd="sng">
                      <a:solidFill>
                        <a:srgbClr val="3807BF"/>
                      </a:solidFill>
                      <a:prstDash val="solid"/>
                      <a:round/>
                      <a:headEnd type="none" w="sm" len="sm"/>
                      <a:tailEnd type="none" w="sm" len="sm"/>
                    </a:lnT>
                    <a:lnB w="9525" cap="flat" cmpd="sng">
                      <a:solidFill>
                        <a:srgbClr val="C7CCBE"/>
                      </a:solidFill>
                      <a:prstDash val="solid"/>
                      <a:round/>
                      <a:headEnd type="none" w="sm" len="sm"/>
                      <a:tailEnd type="none" w="sm" len="sm"/>
                    </a:lnB>
                    <a:solidFill>
                      <a:srgbClr val="FFC000"/>
                    </a:solidFill>
                  </a:tcPr>
                </a:tc>
                <a:extLst>
                  <a:ext uri="{0D108BD9-81ED-4DB2-BD59-A6C34878D82A}">
                    <a16:rowId xmlns:a16="http://schemas.microsoft.com/office/drawing/2014/main" val="10000"/>
                  </a:ext>
                </a:extLst>
              </a:tr>
              <a:tr h="667825">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boolean add(object)</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It is used to insert the specified element into this deque and return true upon success.</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80000">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boolean offer(object)</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It is used to insert the specified element into this deque.</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2"/>
                  </a:ext>
                </a:extLst>
              </a:tr>
              <a:tr h="480000">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Object remove()</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It is used to retrieves and removes the head of this deque.</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855650">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Object poll()</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It is used to retrieves and removes the head of this deque, or returns null if this deque is empty.</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4"/>
                  </a:ext>
                </a:extLst>
              </a:tr>
              <a:tr h="667825">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Object element()</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It is used to retrieves, but does not remove, the head of this deque.</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855650">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Object peek()</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tc>
                  <a:txBody>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It is used to retrieves, but does not remove, the head of this deque, or returns null if this deque is empty.</a:t>
                      </a:r>
                      <a:endParaRPr/>
                    </a:p>
                  </a:txBody>
                  <a:tcPr marL="52175" marR="52175" marT="52175" marB="52175">
                    <a:lnL w="9525" cap="flat" cmpd="sng">
                      <a:solidFill>
                        <a:srgbClr val="C7CCBE"/>
                      </a:solidFill>
                      <a:prstDash val="solid"/>
                      <a:round/>
                      <a:headEnd type="none" w="sm" len="sm"/>
                      <a:tailEnd type="none" w="sm" len="sm"/>
                    </a:lnL>
                    <a:lnR w="9525" cap="flat" cmpd="sng">
                      <a:solidFill>
                        <a:srgbClr val="C7CCBE"/>
                      </a:solidFill>
                      <a:prstDash val="solid"/>
                      <a:round/>
                      <a:headEnd type="none" w="sm" len="sm"/>
                      <a:tailEnd type="none" w="sm" len="sm"/>
                    </a:lnR>
                    <a:lnT w="9525" cap="flat" cmpd="sng">
                      <a:solidFill>
                        <a:srgbClr val="C7CCBE"/>
                      </a:solidFill>
                      <a:prstDash val="solid"/>
                      <a:round/>
                      <a:headEnd type="none" w="sm" len="sm"/>
                      <a:tailEnd type="none" w="sm" len="sm"/>
                    </a:lnT>
                    <a:lnB w="9525" cap="flat" cmpd="sng">
                      <a:solidFill>
                        <a:srgbClr val="C7CCBE"/>
                      </a:solidFill>
                      <a:prstDash val="solid"/>
                      <a:round/>
                      <a:headEnd type="none" w="sm" len="sm"/>
                      <a:tailEnd type="none" w="sm" len="sm"/>
                    </a:lnB>
                    <a:solidFill>
                      <a:srgbClr val="FBE4D4"/>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pic>
        <p:nvPicPr>
          <p:cNvPr id="1083" name="Google Shape;1083;p72"/>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084" name="Google Shape;1084;p72"/>
          <p:cNvGrpSpPr/>
          <p:nvPr/>
        </p:nvGrpSpPr>
        <p:grpSpPr>
          <a:xfrm>
            <a:off x="118191" y="106018"/>
            <a:ext cx="1498574" cy="904328"/>
            <a:chOff x="862157" y="4413681"/>
            <a:chExt cx="2570156" cy="1560001"/>
          </a:xfrm>
        </p:grpSpPr>
        <p:pic>
          <p:nvPicPr>
            <p:cNvPr id="1085" name="Google Shape;1085;p72"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086" name="Google Shape;1086;p72"/>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087" name="Google Shape;1087;p72"/>
          <p:cNvSpPr/>
          <p:nvPr/>
        </p:nvSpPr>
        <p:spPr>
          <a:xfrm>
            <a:off x="885473" y="906745"/>
            <a:ext cx="10827026"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00"/>
                </a:solidFill>
                <a:latin typeface="Calibri"/>
                <a:ea typeface="Calibri"/>
                <a:cs typeface="Calibri"/>
                <a:sym typeface="Calibri"/>
              </a:rPr>
              <a:t>ArrayDeque Class</a:t>
            </a:r>
            <a:endParaRPr/>
          </a:p>
          <a:p>
            <a:pPr marL="0" marR="0" lvl="0" indent="0" algn="l" rtl="0">
              <a:spcBef>
                <a:spcPts val="0"/>
              </a:spcBef>
              <a:spcAft>
                <a:spcPts val="0"/>
              </a:spcAft>
              <a:buNone/>
            </a:pPr>
            <a:endParaRPr sz="2400">
              <a:solidFill>
                <a:srgbClr val="000000"/>
              </a:solidFill>
              <a:latin typeface="Calibri"/>
              <a:ea typeface="Calibri"/>
              <a:cs typeface="Calibri"/>
              <a:sym typeface="Calibri"/>
            </a:endParaRPr>
          </a:p>
          <a:p>
            <a:pPr marL="457200" marR="0" lvl="0" indent="-4572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The ArrayDeque class provides the facility of using deque and resizable-array. </a:t>
            </a:r>
            <a:endParaRPr/>
          </a:p>
          <a:p>
            <a:pPr marL="457200" marR="0" lvl="0" indent="-3048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457200" marR="0" lvl="0" indent="-4572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It inherits AbstractCollection class and implements the Deque interface.</a:t>
            </a:r>
            <a:endParaRPr/>
          </a:p>
          <a:p>
            <a:pPr marL="457200" marR="0" lvl="0" indent="-3048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457200" marR="0" lvl="0" indent="-457200" algn="l"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Unlike Queue, we can add or remove elements from both sides.</a:t>
            </a:r>
            <a:endParaRPr/>
          </a:p>
          <a:p>
            <a:pPr marL="457200" marR="0" lvl="0" indent="-304800" algn="l" rtl="0">
              <a:spcBef>
                <a:spcPts val="0"/>
              </a:spcBef>
              <a:spcAft>
                <a:spcPts val="0"/>
              </a:spcAft>
              <a:buClr>
                <a:schemeClr val="dk1"/>
              </a:buClr>
              <a:buSzPts val="2400"/>
              <a:buFont typeface="Noto Sans Symbols"/>
              <a:buNone/>
            </a:pPr>
            <a:endParaRPr sz="24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Null elements are not allowed in the ArrayDeque.</a:t>
            </a:r>
            <a:endParaRPr/>
          </a:p>
          <a:p>
            <a:pPr marL="457200" marR="0" lvl="0" indent="-304800" algn="l" rtl="0">
              <a:spcBef>
                <a:spcPts val="0"/>
              </a:spcBef>
              <a:spcAft>
                <a:spcPts val="0"/>
              </a:spcAft>
              <a:buClr>
                <a:schemeClr val="dk1"/>
              </a:buClr>
              <a:buSzPts val="2400"/>
              <a:buFont typeface="Noto Sans Symbols"/>
              <a:buNone/>
            </a:pPr>
            <a:endParaRPr sz="24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ArrayDeque is not thread safe, in the absence of external synchronization.</a:t>
            </a:r>
            <a:endParaRPr/>
          </a:p>
          <a:p>
            <a:pPr marL="457200" marR="0" lvl="0" indent="-304800" algn="l" rtl="0">
              <a:spcBef>
                <a:spcPts val="0"/>
              </a:spcBef>
              <a:spcAft>
                <a:spcPts val="0"/>
              </a:spcAft>
              <a:buClr>
                <a:schemeClr val="dk1"/>
              </a:buClr>
              <a:buSzPts val="2400"/>
              <a:buFont typeface="Noto Sans Symbols"/>
              <a:buNone/>
            </a:pPr>
            <a:endParaRPr sz="24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ArrayDeque has no capacity restrictions.</a:t>
            </a:r>
            <a:endParaRPr/>
          </a:p>
          <a:p>
            <a:pPr marL="457200" marR="0" lvl="0" indent="-304800" algn="l" rtl="0">
              <a:spcBef>
                <a:spcPts val="0"/>
              </a:spcBef>
              <a:spcAft>
                <a:spcPts val="0"/>
              </a:spcAft>
              <a:buClr>
                <a:schemeClr val="dk1"/>
              </a:buClr>
              <a:buSzPts val="2400"/>
              <a:buFont typeface="Noto Sans Symbols"/>
              <a:buNone/>
            </a:pPr>
            <a:endParaRPr sz="24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ArrayDeque is faster than LinkedList and Stack.</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p73"/>
          <p:cNvSpPr/>
          <p:nvPr/>
        </p:nvSpPr>
        <p:spPr>
          <a:xfrm>
            <a:off x="1" y="0"/>
            <a:ext cx="3897442" cy="6858000"/>
          </a:xfrm>
          <a:prstGeom prst="rect">
            <a:avLst/>
          </a:prstGeom>
          <a:solidFill>
            <a:srgbClr val="2616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3" name="Google Shape;1093;p73"/>
          <p:cNvSpPr txBox="1"/>
          <p:nvPr/>
        </p:nvSpPr>
        <p:spPr>
          <a:xfrm>
            <a:off x="1151292" y="237372"/>
            <a:ext cx="15948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Topics</a:t>
            </a:r>
            <a:endParaRPr/>
          </a:p>
        </p:txBody>
      </p:sp>
      <p:sp>
        <p:nvSpPr>
          <p:cNvPr id="1094" name="Google Shape;1094;p73"/>
          <p:cNvSpPr txBox="1"/>
          <p:nvPr/>
        </p:nvSpPr>
        <p:spPr>
          <a:xfrm>
            <a:off x="5989419" y="2721114"/>
            <a:ext cx="2288512"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61628"/>
                </a:solidFill>
                <a:latin typeface="Calibri"/>
                <a:ea typeface="Calibri"/>
                <a:cs typeface="Calibri"/>
                <a:sym typeface="Calibri"/>
              </a:rPr>
              <a:t>10	Maps</a:t>
            </a:r>
            <a:endParaRPr/>
          </a:p>
        </p:txBody>
      </p:sp>
      <p:pic>
        <p:nvPicPr>
          <p:cNvPr id="1095" name="Google Shape;1095;p73"/>
          <p:cNvPicPr preferRelativeResize="0"/>
          <p:nvPr/>
        </p:nvPicPr>
        <p:blipFill rotWithShape="1">
          <a:blip r:embed="rId3">
            <a:alphaModFix/>
          </a:blip>
          <a:srcRect l="25290" t="6287" r="23678" b="6958"/>
          <a:stretch/>
        </p:blipFill>
        <p:spPr>
          <a:xfrm>
            <a:off x="957407" y="1890227"/>
            <a:ext cx="1637034" cy="2782957"/>
          </a:xfrm>
          <a:prstGeom prst="rect">
            <a:avLst/>
          </a:prstGeom>
          <a:noFill/>
          <a:ln>
            <a:noFill/>
          </a:ln>
        </p:spPr>
      </p:pic>
      <p:sp>
        <p:nvSpPr>
          <p:cNvPr id="1096" name="Google Shape;1096;p73"/>
          <p:cNvSpPr txBox="1"/>
          <p:nvPr/>
        </p:nvSpPr>
        <p:spPr>
          <a:xfrm>
            <a:off x="4784035" y="0"/>
            <a:ext cx="5647552"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a:solidFill>
                  <a:srgbClr val="261628"/>
                </a:solidFill>
                <a:latin typeface="Calibri"/>
                <a:ea typeface="Calibri"/>
                <a:cs typeface="Calibri"/>
                <a:sym typeface="Calibri"/>
              </a:rPr>
              <a:t>Collection Framework</a:t>
            </a:r>
            <a:endParaRPr/>
          </a:p>
        </p:txBody>
      </p:sp>
      <p:grpSp>
        <p:nvGrpSpPr>
          <p:cNvPr id="1097" name="Google Shape;1097;p73"/>
          <p:cNvGrpSpPr/>
          <p:nvPr/>
        </p:nvGrpSpPr>
        <p:grpSpPr>
          <a:xfrm>
            <a:off x="485505" y="4776597"/>
            <a:ext cx="2570156" cy="1560001"/>
            <a:chOff x="862157" y="4413681"/>
            <a:chExt cx="2570156" cy="1560001"/>
          </a:xfrm>
        </p:grpSpPr>
        <p:pic>
          <p:nvPicPr>
            <p:cNvPr id="1098" name="Google Shape;1098;p73"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099" name="Google Shape;1099;p73"/>
            <p:cNvSpPr/>
            <p:nvPr/>
          </p:nvSpPr>
          <p:spPr>
            <a:xfrm>
              <a:off x="862157" y="4413681"/>
              <a:ext cx="2570156" cy="372346"/>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800" b="1">
                  <a:solidFill>
                    <a:schemeClr val="lt1"/>
                  </a:solidFill>
                  <a:latin typeface="Roboto"/>
                  <a:ea typeface="Roboto"/>
                  <a:cs typeface="Roboto"/>
                  <a:sym typeface="Roboto"/>
                </a:rPr>
                <a:t>Collection Framework</a:t>
              </a:r>
              <a:endParaRPr/>
            </a:p>
          </p:txBody>
        </p:sp>
      </p:gr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103"/>
        <p:cNvGrpSpPr/>
        <p:nvPr/>
      </p:nvGrpSpPr>
      <p:grpSpPr>
        <a:xfrm>
          <a:off x="0" y="0"/>
          <a:ext cx="0" cy="0"/>
          <a:chOff x="0" y="0"/>
          <a:chExt cx="0" cy="0"/>
        </a:xfrm>
      </p:grpSpPr>
      <p:pic>
        <p:nvPicPr>
          <p:cNvPr id="1104" name="Google Shape;1104;p74"/>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105" name="Google Shape;1105;p74"/>
          <p:cNvGrpSpPr/>
          <p:nvPr/>
        </p:nvGrpSpPr>
        <p:grpSpPr>
          <a:xfrm>
            <a:off x="118191" y="106018"/>
            <a:ext cx="1498574" cy="904328"/>
            <a:chOff x="862157" y="4413681"/>
            <a:chExt cx="2570156" cy="1560001"/>
          </a:xfrm>
        </p:grpSpPr>
        <p:pic>
          <p:nvPicPr>
            <p:cNvPr id="1106" name="Google Shape;1106;p74"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107" name="Google Shape;1107;p74"/>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108" name="Google Shape;1108;p74"/>
          <p:cNvSpPr/>
          <p:nvPr/>
        </p:nvSpPr>
        <p:spPr>
          <a:xfrm>
            <a:off x="954157" y="1010346"/>
            <a:ext cx="10959547"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Map Interface</a:t>
            </a:r>
            <a:endParaRPr/>
          </a:p>
          <a:p>
            <a:pPr marL="0" marR="0" lvl="0" indent="0" algn="l" rtl="0">
              <a:spcBef>
                <a:spcPts val="0"/>
              </a:spcBef>
              <a:spcAft>
                <a:spcPts val="0"/>
              </a:spcAft>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A map contains values on the basis of key, i.e. key and value pair.</a:t>
            </a:r>
            <a:endParaRPr/>
          </a:p>
          <a:p>
            <a:pPr marL="342900" marR="0" lvl="0" indent="-190500" algn="l" rtl="0">
              <a:spcBef>
                <a:spcPts val="0"/>
              </a:spcBef>
              <a:spcAft>
                <a:spcPts val="0"/>
              </a:spcAft>
              <a:buClr>
                <a:schemeClr val="dk1"/>
              </a:buClr>
              <a:buSzPts val="2400"/>
              <a:buFont typeface="Noto Sans Symbols"/>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Each key and value pair is known as an entry.</a:t>
            </a:r>
            <a:endParaRPr/>
          </a:p>
          <a:p>
            <a:pPr marL="342900" marR="0" lvl="0" indent="-190500" algn="l" rtl="0">
              <a:spcBef>
                <a:spcPts val="0"/>
              </a:spcBef>
              <a:spcAft>
                <a:spcPts val="0"/>
              </a:spcAft>
              <a:buClr>
                <a:schemeClr val="dk1"/>
              </a:buClr>
              <a:buSzPts val="2400"/>
              <a:buFont typeface="Noto Sans Symbols"/>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A Map contains unique keys.</a:t>
            </a:r>
            <a:endParaRPr/>
          </a:p>
          <a:p>
            <a:pPr marL="342900" marR="0" lvl="0" indent="-190500" algn="l" rtl="0">
              <a:spcBef>
                <a:spcPts val="0"/>
              </a:spcBef>
              <a:spcAft>
                <a:spcPts val="0"/>
              </a:spcAft>
              <a:buClr>
                <a:schemeClr val="dk1"/>
              </a:buClr>
              <a:buSzPts val="2400"/>
              <a:buFont typeface="Noto Sans Symbols"/>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A Map is useful if you have to search, update or delete elements on the basis of a key.</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pic>
        <p:nvPicPr>
          <p:cNvPr id="1113" name="Google Shape;1113;p75"/>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114" name="Google Shape;1114;p75"/>
          <p:cNvGrpSpPr/>
          <p:nvPr/>
        </p:nvGrpSpPr>
        <p:grpSpPr>
          <a:xfrm>
            <a:off x="118191" y="106018"/>
            <a:ext cx="1498574" cy="904328"/>
            <a:chOff x="862157" y="4413681"/>
            <a:chExt cx="2570156" cy="1560001"/>
          </a:xfrm>
        </p:grpSpPr>
        <p:pic>
          <p:nvPicPr>
            <p:cNvPr id="1115" name="Google Shape;1115;p75"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116" name="Google Shape;1116;p75"/>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117" name="Google Shape;1117;p75"/>
          <p:cNvSpPr/>
          <p:nvPr/>
        </p:nvSpPr>
        <p:spPr>
          <a:xfrm>
            <a:off x="954157" y="1010346"/>
            <a:ext cx="10959547"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Map Interface</a:t>
            </a:r>
            <a:endParaRPr/>
          </a:p>
          <a:p>
            <a:pPr marL="0" marR="0" lvl="0" indent="0" algn="l" rtl="0">
              <a:spcBef>
                <a:spcPts val="0"/>
              </a:spcBef>
              <a:spcAft>
                <a:spcPts val="0"/>
              </a:spcAft>
              <a:buNone/>
            </a:pPr>
            <a:endParaRPr sz="2400" b="1">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Doesn't allow duplicate keys, but you can have duplicate values. </a:t>
            </a:r>
            <a:endParaRPr/>
          </a:p>
          <a:p>
            <a:pPr marL="342900" marR="0" lvl="0" indent="-190500" algn="l" rtl="0">
              <a:spcBef>
                <a:spcPts val="0"/>
              </a:spcBef>
              <a:spcAft>
                <a:spcPts val="0"/>
              </a:spcAft>
              <a:buClr>
                <a:schemeClr val="dk1"/>
              </a:buClr>
              <a:buSzPts val="2400"/>
              <a:buFont typeface="Noto Sans Symbols"/>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HashMap and LinkedHashMap allow null keys and values, but TreeMap doesn't allow any null key or value.</a:t>
            </a:r>
            <a:endParaRPr/>
          </a:p>
          <a:p>
            <a:pPr marL="342900" marR="0" lvl="0" indent="-190500" algn="l" rtl="0">
              <a:spcBef>
                <a:spcPts val="0"/>
              </a:spcBef>
              <a:spcAft>
                <a:spcPts val="0"/>
              </a:spcAft>
              <a:buClr>
                <a:schemeClr val="dk1"/>
              </a:buClr>
              <a:buSzPts val="2400"/>
              <a:buFont typeface="Noto Sans Symbols"/>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A Map can't be traversed, so you need to convert it into Set using keySet() or entrySet() method.</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121"/>
        <p:cNvGrpSpPr/>
        <p:nvPr/>
      </p:nvGrpSpPr>
      <p:grpSpPr>
        <a:xfrm>
          <a:off x="0" y="0"/>
          <a:ext cx="0" cy="0"/>
          <a:chOff x="0" y="0"/>
          <a:chExt cx="0" cy="0"/>
        </a:xfrm>
      </p:grpSpPr>
      <p:pic>
        <p:nvPicPr>
          <p:cNvPr id="1122" name="Google Shape;1122;p76"/>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123" name="Google Shape;1123;p76"/>
          <p:cNvGrpSpPr/>
          <p:nvPr/>
        </p:nvGrpSpPr>
        <p:grpSpPr>
          <a:xfrm>
            <a:off x="118191" y="106018"/>
            <a:ext cx="1498574" cy="904328"/>
            <a:chOff x="862157" y="4413681"/>
            <a:chExt cx="2570156" cy="1560001"/>
          </a:xfrm>
        </p:grpSpPr>
        <p:pic>
          <p:nvPicPr>
            <p:cNvPr id="1124" name="Google Shape;1124;p76"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125" name="Google Shape;1125;p76"/>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graphicFrame>
        <p:nvGraphicFramePr>
          <p:cNvPr id="1126" name="Google Shape;1126;p76"/>
          <p:cNvGraphicFramePr/>
          <p:nvPr/>
        </p:nvGraphicFramePr>
        <p:xfrm>
          <a:off x="479501" y="1223272"/>
          <a:ext cx="3000000" cy="3000000"/>
        </p:xfrm>
        <a:graphic>
          <a:graphicData uri="http://schemas.openxmlformats.org/drawingml/2006/table">
            <a:tbl>
              <a:tblPr>
                <a:noFill/>
                <a:tableStyleId>{A564AED5-2C7A-4046-9A58-7D9B8091932A}</a:tableStyleId>
              </a:tblPr>
              <a:tblGrid>
                <a:gridCol w="3582700">
                  <a:extLst>
                    <a:ext uri="{9D8B030D-6E8A-4147-A177-3AD203B41FA5}">
                      <a16:colId xmlns:a16="http://schemas.microsoft.com/office/drawing/2014/main" val="20000"/>
                    </a:ext>
                  </a:extLst>
                </a:gridCol>
                <a:gridCol w="7758750">
                  <a:extLst>
                    <a:ext uri="{9D8B030D-6E8A-4147-A177-3AD203B41FA5}">
                      <a16:colId xmlns:a16="http://schemas.microsoft.com/office/drawing/2014/main" val="20001"/>
                    </a:ext>
                  </a:extLst>
                </a:gridCol>
              </a:tblGrid>
              <a:tr h="295325">
                <a:tc>
                  <a:txBody>
                    <a:bodyPr/>
                    <a:lstStyle/>
                    <a:p>
                      <a:pPr marL="0" marR="0" lvl="0" indent="0" algn="l" rtl="0">
                        <a:spcBef>
                          <a:spcPts val="0"/>
                        </a:spcBef>
                        <a:spcAft>
                          <a:spcPts val="0"/>
                        </a:spcAft>
                        <a:buNone/>
                      </a:pPr>
                      <a:r>
                        <a:rPr lang="en-US" sz="1400" b="1" i="0" u="none" strike="noStrike">
                          <a:solidFill>
                            <a:srgbClr val="FFFFFF"/>
                          </a:solidFill>
                          <a:latin typeface="Calibri"/>
                          <a:ea typeface="Calibri"/>
                          <a:cs typeface="Calibri"/>
                          <a:sym typeface="Calibri"/>
                        </a:rPr>
                        <a:t>Method</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5B9BD5"/>
                    </a:solidFill>
                  </a:tcPr>
                </a:tc>
                <a:tc>
                  <a:txBody>
                    <a:bodyPr/>
                    <a:lstStyle/>
                    <a:p>
                      <a:pPr marL="0" marR="0" lvl="0" indent="0" algn="l" rtl="0">
                        <a:spcBef>
                          <a:spcPts val="0"/>
                        </a:spcBef>
                        <a:spcAft>
                          <a:spcPts val="0"/>
                        </a:spcAft>
                        <a:buNone/>
                      </a:pPr>
                      <a:r>
                        <a:rPr lang="en-US" sz="1400" b="1" i="0" u="none" strike="noStrike">
                          <a:solidFill>
                            <a:srgbClr val="FFFFFF"/>
                          </a:solidFill>
                          <a:latin typeface="Calibri"/>
                          <a:ea typeface="Calibri"/>
                          <a:cs typeface="Calibri"/>
                          <a:sym typeface="Calibri"/>
                        </a:rPr>
                        <a:t>Description</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V put(Object key, Object value)</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It is used to insert an entry in the map.</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extLst>
                  <a:ext uri="{0D108BD9-81ED-4DB2-BD59-A6C34878D82A}">
                    <a16:rowId xmlns:a16="http://schemas.microsoft.com/office/drawing/2014/main" val="10001"/>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void putAll(Map map)</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It is used to insert the specified map in the map.</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extLst>
                  <a:ext uri="{0D108BD9-81ED-4DB2-BD59-A6C34878D82A}">
                    <a16:rowId xmlns:a16="http://schemas.microsoft.com/office/drawing/2014/main" val="10002"/>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V putIfAbsent(K key, V value)</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It inserts the specified value with the specified key in the map only if it is not already specified.</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extLst>
                  <a:ext uri="{0D108BD9-81ED-4DB2-BD59-A6C34878D82A}">
                    <a16:rowId xmlns:a16="http://schemas.microsoft.com/office/drawing/2014/main" val="10003"/>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V remove(Object key)</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It is used to delete an entry for the specified key.</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extLst>
                  <a:ext uri="{0D108BD9-81ED-4DB2-BD59-A6C34878D82A}">
                    <a16:rowId xmlns:a16="http://schemas.microsoft.com/office/drawing/2014/main" val="10004"/>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boolean remove(Object key, Object value)</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It removes the specified values with the associated specified keys from the map.</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extLst>
                  <a:ext uri="{0D108BD9-81ED-4DB2-BD59-A6C34878D82A}">
                    <a16:rowId xmlns:a16="http://schemas.microsoft.com/office/drawing/2014/main" val="10005"/>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Set keySet()</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It returns the Set view containing all the keys.</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extLst>
                  <a:ext uri="{0D108BD9-81ED-4DB2-BD59-A6C34878D82A}">
                    <a16:rowId xmlns:a16="http://schemas.microsoft.com/office/drawing/2014/main" val="10006"/>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Set&lt;Map.Entry&lt;K,V&gt;&gt; entrySet()</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It returns the Set view containing all the keys and values.</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extLst>
                  <a:ext uri="{0D108BD9-81ED-4DB2-BD59-A6C34878D82A}">
                    <a16:rowId xmlns:a16="http://schemas.microsoft.com/office/drawing/2014/main" val="10007"/>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void clear()</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It is used to reset the map.</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extLst>
                  <a:ext uri="{0D108BD9-81ED-4DB2-BD59-A6C34878D82A}">
                    <a16:rowId xmlns:a16="http://schemas.microsoft.com/office/drawing/2014/main" val="10008"/>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boolean containsValue(Object value)</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This method returns true if some value equal to the value exists within the map, else return false.</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extLst>
                  <a:ext uri="{0D108BD9-81ED-4DB2-BD59-A6C34878D82A}">
                    <a16:rowId xmlns:a16="http://schemas.microsoft.com/office/drawing/2014/main" val="10009"/>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boolean containsKey(Object key)</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This method returns true if some key equal to the key exists within the map, else return false.</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extLst>
                  <a:ext uri="{0D108BD9-81ED-4DB2-BD59-A6C34878D82A}">
                    <a16:rowId xmlns:a16="http://schemas.microsoft.com/office/drawing/2014/main" val="10010"/>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boolean equals(Object o)</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It is used to compare the specified Object with the Map.</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extLst>
                  <a:ext uri="{0D108BD9-81ED-4DB2-BD59-A6C34878D82A}">
                    <a16:rowId xmlns:a16="http://schemas.microsoft.com/office/drawing/2014/main" val="10011"/>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V get(Object key)</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This method returns the object that contains the value associated with the key.</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extLst>
                  <a:ext uri="{0D108BD9-81ED-4DB2-BD59-A6C34878D82A}">
                    <a16:rowId xmlns:a16="http://schemas.microsoft.com/office/drawing/2014/main" val="10012"/>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int hashCode()</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It returns the hash code value for the Map</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extLst>
                  <a:ext uri="{0D108BD9-81ED-4DB2-BD59-A6C34878D82A}">
                    <a16:rowId xmlns:a16="http://schemas.microsoft.com/office/drawing/2014/main" val="10013"/>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boolean isEmpty()</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This method returns true if the map is empty; returns false if it contains at least one key.</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extLst>
                  <a:ext uri="{0D108BD9-81ED-4DB2-BD59-A6C34878D82A}">
                    <a16:rowId xmlns:a16="http://schemas.microsoft.com/office/drawing/2014/main" val="10014"/>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V replace(K key, V value)</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It replaces the specified value for a specified key.</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extLst>
                  <a:ext uri="{0D108BD9-81ED-4DB2-BD59-A6C34878D82A}">
                    <a16:rowId xmlns:a16="http://schemas.microsoft.com/office/drawing/2014/main" val="10015"/>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boolean replace(K key, V oldValue, V newValue)</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It replaces the old value with the new value for a specified key.</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extLst>
                  <a:ext uri="{0D108BD9-81ED-4DB2-BD59-A6C34878D82A}">
                    <a16:rowId xmlns:a16="http://schemas.microsoft.com/office/drawing/2014/main" val="10016"/>
                  </a:ext>
                </a:extLst>
              </a:tr>
              <a:tr h="295325">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int size()</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r>
                        <a:rPr lang="en-US" sz="1400" b="1" i="0" u="none" strike="noStrike">
                          <a:solidFill>
                            <a:srgbClr val="000000"/>
                          </a:solidFill>
                          <a:latin typeface="Calibri"/>
                          <a:ea typeface="Calibri"/>
                          <a:cs typeface="Calibri"/>
                          <a:sym typeface="Calibri"/>
                        </a:rPr>
                        <a:t>This method returns the number of entries in the map.</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extLst>
                  <a:ext uri="{0D108BD9-81ED-4DB2-BD59-A6C34878D82A}">
                    <a16:rowId xmlns:a16="http://schemas.microsoft.com/office/drawing/2014/main" val="1001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pic>
        <p:nvPicPr>
          <p:cNvPr id="1131" name="Google Shape;1131;p77"/>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132" name="Google Shape;1132;p77"/>
          <p:cNvGrpSpPr/>
          <p:nvPr/>
        </p:nvGrpSpPr>
        <p:grpSpPr>
          <a:xfrm>
            <a:off x="118191" y="106018"/>
            <a:ext cx="1498574" cy="904328"/>
            <a:chOff x="862157" y="4413681"/>
            <a:chExt cx="2570156" cy="1560001"/>
          </a:xfrm>
        </p:grpSpPr>
        <p:pic>
          <p:nvPicPr>
            <p:cNvPr id="1133" name="Google Shape;1133;p77"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134" name="Google Shape;1134;p77"/>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pic>
        <p:nvPicPr>
          <p:cNvPr id="1135" name="Google Shape;1135;p77" descr="Java Map Hierarchy"/>
          <p:cNvPicPr preferRelativeResize="0"/>
          <p:nvPr/>
        </p:nvPicPr>
        <p:blipFill rotWithShape="1">
          <a:blip r:embed="rId5">
            <a:alphaModFix/>
          </a:blip>
          <a:srcRect t="18353"/>
          <a:stretch/>
        </p:blipFill>
        <p:spPr>
          <a:xfrm>
            <a:off x="3019632" y="743882"/>
            <a:ext cx="6545078" cy="537023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139"/>
        <p:cNvGrpSpPr/>
        <p:nvPr/>
      </p:nvGrpSpPr>
      <p:grpSpPr>
        <a:xfrm>
          <a:off x="0" y="0"/>
          <a:ext cx="0" cy="0"/>
          <a:chOff x="0" y="0"/>
          <a:chExt cx="0" cy="0"/>
        </a:xfrm>
      </p:grpSpPr>
      <p:pic>
        <p:nvPicPr>
          <p:cNvPr id="1140" name="Google Shape;1140;p78"/>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141" name="Google Shape;1141;p78"/>
          <p:cNvGrpSpPr/>
          <p:nvPr/>
        </p:nvGrpSpPr>
        <p:grpSpPr>
          <a:xfrm>
            <a:off x="118191" y="106018"/>
            <a:ext cx="1498574" cy="904328"/>
            <a:chOff x="862157" y="4413681"/>
            <a:chExt cx="2570156" cy="1560001"/>
          </a:xfrm>
        </p:grpSpPr>
        <p:pic>
          <p:nvPicPr>
            <p:cNvPr id="1142" name="Google Shape;1142;p78"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143" name="Google Shape;1143;p78"/>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144" name="Google Shape;1144;p78"/>
          <p:cNvSpPr/>
          <p:nvPr/>
        </p:nvSpPr>
        <p:spPr>
          <a:xfrm>
            <a:off x="1246783" y="318944"/>
            <a:ext cx="10827026"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610B38"/>
                </a:solidFill>
                <a:latin typeface="Calibri"/>
                <a:ea typeface="Calibri"/>
                <a:cs typeface="Calibri"/>
                <a:sym typeface="Calibri"/>
              </a:rPr>
              <a:t>Map.Entry Interface</a:t>
            </a:r>
            <a:endParaRPr/>
          </a:p>
          <a:p>
            <a:pPr marL="0" marR="0" lvl="0" indent="0" algn="l" rtl="0">
              <a:spcBef>
                <a:spcPts val="0"/>
              </a:spcBef>
              <a:spcAft>
                <a:spcPts val="0"/>
              </a:spcAft>
              <a:buNone/>
            </a:pPr>
            <a:endParaRPr sz="2400">
              <a:solidFill>
                <a:srgbClr val="610B38"/>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Entry is the subinterface of Map. </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So we will access it by Map.Entry name. </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It returns a collection-view of the map, whose elements are of this class. </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It provides methods to get key and value.</a:t>
            </a:r>
            <a:endParaRPr sz="2400" i="0">
              <a:solidFill>
                <a:srgbClr val="000000"/>
              </a:solidFill>
              <a:latin typeface="Calibri"/>
              <a:ea typeface="Calibri"/>
              <a:cs typeface="Calibri"/>
              <a:sym typeface="Calibri"/>
            </a:endParaRPr>
          </a:p>
        </p:txBody>
      </p:sp>
      <p:graphicFrame>
        <p:nvGraphicFramePr>
          <p:cNvPr id="1145" name="Google Shape;1145;p78"/>
          <p:cNvGraphicFramePr/>
          <p:nvPr/>
        </p:nvGraphicFramePr>
        <p:xfrm>
          <a:off x="1174923" y="3870170"/>
          <a:ext cx="3000000" cy="3000000"/>
        </p:xfrm>
        <a:graphic>
          <a:graphicData uri="http://schemas.openxmlformats.org/drawingml/2006/table">
            <a:tbl>
              <a:tblPr>
                <a:noFill/>
                <a:tableStyleId>{A564AED5-2C7A-4046-9A58-7D9B8091932A}</a:tableStyleId>
              </a:tblPr>
              <a:tblGrid>
                <a:gridCol w="2407775">
                  <a:extLst>
                    <a:ext uri="{9D8B030D-6E8A-4147-A177-3AD203B41FA5}">
                      <a16:colId xmlns:a16="http://schemas.microsoft.com/office/drawing/2014/main" val="20000"/>
                    </a:ext>
                  </a:extLst>
                </a:gridCol>
                <a:gridCol w="7920200">
                  <a:extLst>
                    <a:ext uri="{9D8B030D-6E8A-4147-A177-3AD203B41FA5}">
                      <a16:colId xmlns:a16="http://schemas.microsoft.com/office/drawing/2014/main" val="20001"/>
                    </a:ext>
                  </a:extLst>
                </a:gridCol>
              </a:tblGrid>
              <a:tr h="444825">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Method</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5B9BD5"/>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Description</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444825">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K getKey()</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It is used to obtain a key.</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extLst>
                  <a:ext uri="{0D108BD9-81ED-4DB2-BD59-A6C34878D82A}">
                    <a16:rowId xmlns:a16="http://schemas.microsoft.com/office/drawing/2014/main" val="10001"/>
                  </a:ext>
                </a:extLst>
              </a:tr>
              <a:tr h="444825">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V getValue()</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It is used to obtain value.</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extLst>
                  <a:ext uri="{0D108BD9-81ED-4DB2-BD59-A6C34878D82A}">
                    <a16:rowId xmlns:a16="http://schemas.microsoft.com/office/drawing/2014/main" val="10002"/>
                  </a:ext>
                </a:extLst>
              </a:tr>
              <a:tr h="444825">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int hashCode()</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It is used to obtain hashCode.</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extLst>
                  <a:ext uri="{0D108BD9-81ED-4DB2-BD59-A6C34878D82A}">
                    <a16:rowId xmlns:a16="http://schemas.microsoft.com/office/drawing/2014/main" val="10003"/>
                  </a:ext>
                </a:extLst>
              </a:tr>
              <a:tr h="444825">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V setValue(V value)</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It is used to replace the value corresponding to this entry with the specified value.</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extLst>
                  <a:ext uri="{0D108BD9-81ED-4DB2-BD59-A6C34878D82A}">
                    <a16:rowId xmlns:a16="http://schemas.microsoft.com/office/drawing/2014/main" val="10004"/>
                  </a:ext>
                </a:extLst>
              </a:tr>
              <a:tr h="444825">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boolean equals(Object o)</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tc>
                  <a:txBody>
                    <a:bodyPr/>
                    <a:lstStyle/>
                    <a:p>
                      <a:pPr marL="0" marR="0" lvl="0" indent="0" algn="l" rtl="0">
                        <a:spcBef>
                          <a:spcPts val="0"/>
                        </a:spcBef>
                        <a:spcAft>
                          <a:spcPts val="0"/>
                        </a:spcAft>
                        <a:buNone/>
                      </a:pPr>
                      <a:r>
                        <a:rPr lang="en-US" sz="1800" b="1" i="0" u="none" strike="noStrike">
                          <a:solidFill>
                            <a:srgbClr val="000000"/>
                          </a:solidFill>
                          <a:latin typeface="Calibri"/>
                          <a:ea typeface="Calibri"/>
                          <a:cs typeface="Calibri"/>
                          <a:sym typeface="Calibri"/>
                        </a:rPr>
                        <a:t>It is used to compare the specified object with the other existing objects.</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7EE"/>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pic>
        <p:nvPicPr>
          <p:cNvPr id="1150" name="Google Shape;1150;p79"/>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151" name="Google Shape;1151;p79"/>
          <p:cNvGrpSpPr/>
          <p:nvPr/>
        </p:nvGrpSpPr>
        <p:grpSpPr>
          <a:xfrm>
            <a:off x="118191" y="106018"/>
            <a:ext cx="1498574" cy="904328"/>
            <a:chOff x="862157" y="4413681"/>
            <a:chExt cx="2570156" cy="1560001"/>
          </a:xfrm>
        </p:grpSpPr>
        <p:pic>
          <p:nvPicPr>
            <p:cNvPr id="1152" name="Google Shape;1152;p79"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153" name="Google Shape;1153;p79"/>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154" name="Google Shape;1154;p79"/>
          <p:cNvSpPr/>
          <p:nvPr/>
        </p:nvSpPr>
        <p:spPr>
          <a:xfrm>
            <a:off x="1246783" y="318944"/>
            <a:ext cx="10827026"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610B38"/>
                </a:solidFill>
                <a:latin typeface="Calibri"/>
                <a:ea typeface="Calibri"/>
                <a:cs typeface="Calibri"/>
                <a:sym typeface="Calibri"/>
              </a:rPr>
              <a:t>Map.Entry Interface</a:t>
            </a:r>
            <a:endParaRPr/>
          </a:p>
          <a:p>
            <a:pPr marL="0" marR="0" lvl="0" indent="0" algn="l" rtl="0">
              <a:spcBef>
                <a:spcPts val="0"/>
              </a:spcBef>
              <a:spcAft>
                <a:spcPts val="0"/>
              </a:spcAft>
              <a:buNone/>
            </a:pPr>
            <a:endParaRPr sz="2400">
              <a:solidFill>
                <a:srgbClr val="610B38"/>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Entry is the subinterface of Map. </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So we will access it by Map.Entry name. </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It returns a collection-view of the map, whose elements are of this class. </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It provides methods to get key and value.</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pic>
        <p:nvPicPr>
          <p:cNvPr id="1159" name="Google Shape;1159;p80"/>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160" name="Google Shape;1160;p80"/>
          <p:cNvGrpSpPr/>
          <p:nvPr/>
        </p:nvGrpSpPr>
        <p:grpSpPr>
          <a:xfrm>
            <a:off x="118191" y="106018"/>
            <a:ext cx="1498574" cy="904328"/>
            <a:chOff x="862157" y="4413681"/>
            <a:chExt cx="2570156" cy="1560001"/>
          </a:xfrm>
        </p:grpSpPr>
        <p:pic>
          <p:nvPicPr>
            <p:cNvPr id="1161" name="Google Shape;1161;p80"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162" name="Google Shape;1162;p80"/>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163" name="Google Shape;1163;p80"/>
          <p:cNvSpPr/>
          <p:nvPr/>
        </p:nvSpPr>
        <p:spPr>
          <a:xfrm>
            <a:off x="1246783" y="318944"/>
            <a:ext cx="10587408" cy="526297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610B38"/>
                </a:solidFill>
                <a:latin typeface="Calibri"/>
                <a:ea typeface="Calibri"/>
                <a:cs typeface="Calibri"/>
                <a:sym typeface="Calibri"/>
              </a:rPr>
              <a:t>Hash Map</a:t>
            </a:r>
            <a:endParaRPr/>
          </a:p>
          <a:p>
            <a:pPr marL="0" marR="0" lvl="0" indent="0" algn="ctr" rtl="0">
              <a:spcBef>
                <a:spcPts val="0"/>
              </a:spcBef>
              <a:spcAft>
                <a:spcPts val="0"/>
              </a:spcAft>
              <a:buNone/>
            </a:pPr>
            <a:endParaRPr sz="2400" b="1">
              <a:solidFill>
                <a:srgbClr val="610B38"/>
              </a:solidFill>
              <a:latin typeface="Calibri"/>
              <a:ea typeface="Calibri"/>
              <a:cs typeface="Calibri"/>
              <a:sym typeface="Calibri"/>
            </a:endParaRPr>
          </a:p>
          <a:p>
            <a:pPr marL="0" marR="0" lvl="0" indent="0" algn="l" rtl="0">
              <a:spcBef>
                <a:spcPts val="0"/>
              </a:spcBef>
              <a:spcAft>
                <a:spcPts val="0"/>
              </a:spcAft>
              <a:buNone/>
            </a:pPr>
            <a:endParaRPr sz="2400">
              <a:solidFill>
                <a:srgbClr val="610B38"/>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HashMap contains values based on the key.</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HashMap contains only unique keys.</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HashMap may have one null key and multiple null values.</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HashMap is non synchronized.</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HashMap maintains no order.</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The initial default capacity of HashMap is 16 with a load factor of 0.75.</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pic>
        <p:nvPicPr>
          <p:cNvPr id="1168" name="Google Shape;1168;p81"/>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169" name="Google Shape;1169;p81"/>
          <p:cNvGrpSpPr/>
          <p:nvPr/>
        </p:nvGrpSpPr>
        <p:grpSpPr>
          <a:xfrm>
            <a:off x="118191" y="106018"/>
            <a:ext cx="1498574" cy="904328"/>
            <a:chOff x="862157" y="4413681"/>
            <a:chExt cx="2570156" cy="1560001"/>
          </a:xfrm>
        </p:grpSpPr>
        <p:pic>
          <p:nvPicPr>
            <p:cNvPr id="1170" name="Google Shape;1170;p81"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171" name="Google Shape;1171;p81"/>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172" name="Google Shape;1172;p81"/>
          <p:cNvSpPr/>
          <p:nvPr/>
        </p:nvSpPr>
        <p:spPr>
          <a:xfrm>
            <a:off x="1246783" y="318944"/>
            <a:ext cx="10587408" cy="526297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610B38"/>
                </a:solidFill>
                <a:latin typeface="Calibri"/>
                <a:ea typeface="Calibri"/>
                <a:cs typeface="Calibri"/>
                <a:sym typeface="Calibri"/>
              </a:rPr>
              <a:t>LinkedHash Map</a:t>
            </a:r>
            <a:endParaRPr/>
          </a:p>
          <a:p>
            <a:pPr marL="0" marR="0" lvl="0" indent="0" algn="ctr" rtl="0">
              <a:spcBef>
                <a:spcPts val="0"/>
              </a:spcBef>
              <a:spcAft>
                <a:spcPts val="0"/>
              </a:spcAft>
              <a:buNone/>
            </a:pPr>
            <a:endParaRPr sz="2400" b="1">
              <a:solidFill>
                <a:srgbClr val="610B38"/>
              </a:solidFill>
              <a:latin typeface="Calibri"/>
              <a:ea typeface="Calibri"/>
              <a:cs typeface="Calibri"/>
              <a:sym typeface="Calibri"/>
            </a:endParaRPr>
          </a:p>
          <a:p>
            <a:pPr marL="0" marR="0" lvl="0" indent="0" algn="l" rtl="0">
              <a:spcBef>
                <a:spcPts val="0"/>
              </a:spcBef>
              <a:spcAft>
                <a:spcPts val="0"/>
              </a:spcAft>
              <a:buNone/>
            </a:pPr>
            <a:endParaRPr sz="2400">
              <a:solidFill>
                <a:srgbClr val="610B38"/>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LinkedHashMap contains values based on the key.</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LinkedHashMap contains unique elements.</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LinkedHashMap may have one null key and multiple null values.</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LinkedHashMap is non synchronized.</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LinkedHashMap maintains insertion order.</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The initial default capacity of HashMap is 16 with a load factor of 0.75.</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176"/>
        <p:cNvGrpSpPr/>
        <p:nvPr/>
      </p:nvGrpSpPr>
      <p:grpSpPr>
        <a:xfrm>
          <a:off x="0" y="0"/>
          <a:ext cx="0" cy="0"/>
          <a:chOff x="0" y="0"/>
          <a:chExt cx="0" cy="0"/>
        </a:xfrm>
      </p:grpSpPr>
      <p:pic>
        <p:nvPicPr>
          <p:cNvPr id="1177" name="Google Shape;1177;p82"/>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178" name="Google Shape;1178;p82"/>
          <p:cNvGrpSpPr/>
          <p:nvPr/>
        </p:nvGrpSpPr>
        <p:grpSpPr>
          <a:xfrm>
            <a:off x="118191" y="106018"/>
            <a:ext cx="1498574" cy="904328"/>
            <a:chOff x="862157" y="4413681"/>
            <a:chExt cx="2570156" cy="1560001"/>
          </a:xfrm>
        </p:grpSpPr>
        <p:pic>
          <p:nvPicPr>
            <p:cNvPr id="1179" name="Google Shape;1179;p82"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180" name="Google Shape;1180;p82"/>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181" name="Google Shape;1181;p82"/>
          <p:cNvSpPr/>
          <p:nvPr/>
        </p:nvSpPr>
        <p:spPr>
          <a:xfrm>
            <a:off x="1246783" y="318944"/>
            <a:ext cx="10587408" cy="526297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610B38"/>
                </a:solidFill>
                <a:latin typeface="Calibri"/>
                <a:ea typeface="Calibri"/>
                <a:cs typeface="Calibri"/>
                <a:sym typeface="Calibri"/>
              </a:rPr>
              <a:t>Tree Map</a:t>
            </a:r>
            <a:endParaRPr/>
          </a:p>
          <a:p>
            <a:pPr marL="0" marR="0" lvl="0" indent="0" algn="ctr" rtl="0">
              <a:spcBef>
                <a:spcPts val="0"/>
              </a:spcBef>
              <a:spcAft>
                <a:spcPts val="0"/>
              </a:spcAft>
              <a:buNone/>
            </a:pPr>
            <a:endParaRPr sz="2400" b="1">
              <a:solidFill>
                <a:srgbClr val="610B38"/>
              </a:solidFill>
              <a:latin typeface="Calibri"/>
              <a:ea typeface="Calibri"/>
              <a:cs typeface="Calibri"/>
              <a:sym typeface="Calibri"/>
            </a:endParaRPr>
          </a:p>
          <a:p>
            <a:pPr marL="0" marR="0" lvl="0" indent="0" algn="l" rtl="0">
              <a:spcBef>
                <a:spcPts val="0"/>
              </a:spcBef>
              <a:spcAft>
                <a:spcPts val="0"/>
              </a:spcAft>
              <a:buNone/>
            </a:pPr>
            <a:endParaRPr sz="2400">
              <a:solidFill>
                <a:srgbClr val="610B38"/>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TreeMap contains values based on the key. </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It implements the NavigableMap interface and extends AbstractMap class.</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TreeMap contains only unique elements.</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TreeMap cannot have a null key but can have multiple null values.</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TreeMap is non synchronized.</a:t>
            </a:r>
            <a:endParaRPr/>
          </a:p>
          <a:p>
            <a:pPr marL="342900" marR="0" lvl="0" indent="-190500" algn="l" rtl="0">
              <a:spcBef>
                <a:spcPts val="0"/>
              </a:spcBef>
              <a:spcAft>
                <a:spcPts val="0"/>
              </a:spcAft>
              <a:buClr>
                <a:schemeClr val="dk1"/>
              </a:buClr>
              <a:buSzPts val="2400"/>
              <a:buFont typeface="Noto Sans Symbols"/>
              <a:buNone/>
            </a:pPr>
            <a:endParaRPr sz="2400">
              <a:solidFill>
                <a:srgbClr val="000000"/>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TreeMap maintains ascending order.</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185"/>
        <p:cNvGrpSpPr/>
        <p:nvPr/>
      </p:nvGrpSpPr>
      <p:grpSpPr>
        <a:xfrm>
          <a:off x="0" y="0"/>
          <a:ext cx="0" cy="0"/>
          <a:chOff x="0" y="0"/>
          <a:chExt cx="0" cy="0"/>
        </a:xfrm>
      </p:grpSpPr>
      <p:pic>
        <p:nvPicPr>
          <p:cNvPr id="1186" name="Google Shape;1186;p83"/>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187" name="Google Shape;1187;p83"/>
          <p:cNvGrpSpPr/>
          <p:nvPr/>
        </p:nvGrpSpPr>
        <p:grpSpPr>
          <a:xfrm>
            <a:off x="118191" y="106018"/>
            <a:ext cx="1498574" cy="904328"/>
            <a:chOff x="862157" y="4413681"/>
            <a:chExt cx="2570156" cy="1560001"/>
          </a:xfrm>
        </p:grpSpPr>
        <p:pic>
          <p:nvPicPr>
            <p:cNvPr id="1188" name="Google Shape;1188;p83" descr="Image result for collections icon"/>
            <p:cNvPicPr preferRelativeResize="0"/>
            <p:nvPr/>
          </p:nvPicPr>
          <p:blipFill rotWithShape="1">
            <a:blip r:embed="rId4">
              <a:alphaModFix/>
            </a:blip>
            <a:srcRect/>
            <a:stretch/>
          </p:blipFill>
          <p:spPr>
            <a:xfrm>
              <a:off x="1481828" y="4780986"/>
              <a:ext cx="1192696" cy="1192696"/>
            </a:xfrm>
            <a:prstGeom prst="rect">
              <a:avLst/>
            </a:prstGeom>
            <a:noFill/>
            <a:ln>
              <a:noFill/>
            </a:ln>
          </p:spPr>
        </p:pic>
        <p:sp>
          <p:nvSpPr>
            <p:cNvPr id="1189" name="Google Shape;1189;p83"/>
            <p:cNvSpPr/>
            <p:nvPr/>
          </p:nvSpPr>
          <p:spPr>
            <a:xfrm>
              <a:off x="862157" y="4413681"/>
              <a:ext cx="2570156" cy="441001"/>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US" sz="1050" b="1">
                  <a:solidFill>
                    <a:srgbClr val="261628"/>
                  </a:solidFill>
                  <a:latin typeface="Roboto"/>
                  <a:ea typeface="Roboto"/>
                  <a:cs typeface="Roboto"/>
                  <a:sym typeface="Roboto"/>
                </a:rPr>
                <a:t>Collection Framework</a:t>
              </a:r>
              <a:endParaRPr/>
            </a:p>
          </p:txBody>
        </p:sp>
      </p:grpSp>
      <p:sp>
        <p:nvSpPr>
          <p:cNvPr id="1190" name="Google Shape;1190;p83"/>
          <p:cNvSpPr/>
          <p:nvPr/>
        </p:nvSpPr>
        <p:spPr>
          <a:xfrm>
            <a:off x="1246783" y="318944"/>
            <a:ext cx="10587408" cy="193899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610B38"/>
                </a:solidFill>
                <a:latin typeface="Calibri"/>
                <a:ea typeface="Calibri"/>
                <a:cs typeface="Calibri"/>
                <a:sym typeface="Calibri"/>
              </a:rPr>
              <a:t>Scenario</a:t>
            </a:r>
            <a:endParaRPr/>
          </a:p>
          <a:p>
            <a:pPr marL="0" marR="0" lvl="0" indent="0" algn="ctr" rtl="0">
              <a:spcBef>
                <a:spcPts val="0"/>
              </a:spcBef>
              <a:spcAft>
                <a:spcPts val="0"/>
              </a:spcAft>
              <a:buNone/>
            </a:pPr>
            <a:endParaRPr sz="2400" b="1">
              <a:solidFill>
                <a:srgbClr val="610B38"/>
              </a:solidFill>
              <a:latin typeface="Calibri"/>
              <a:ea typeface="Calibri"/>
              <a:cs typeface="Calibri"/>
              <a:sym typeface="Calibri"/>
            </a:endParaRPr>
          </a:p>
          <a:p>
            <a:pPr marL="0" marR="0" lvl="0" indent="0" algn="l" rtl="0">
              <a:spcBef>
                <a:spcPts val="0"/>
              </a:spcBef>
              <a:spcAft>
                <a:spcPts val="0"/>
              </a:spcAft>
              <a:buNone/>
            </a:pPr>
            <a:endParaRPr sz="2400">
              <a:solidFill>
                <a:srgbClr val="610B38"/>
              </a:solidFill>
              <a:latin typeface="Calibri"/>
              <a:ea typeface="Calibri"/>
              <a:cs typeface="Calibri"/>
              <a:sym typeface="Calibri"/>
            </a:endParaRPr>
          </a:p>
          <a:p>
            <a:pPr marL="342900" marR="0" lvl="0" indent="-342900" algn="l" rtl="0">
              <a:spcBef>
                <a:spcPts val="0"/>
              </a:spcBef>
              <a:spcAft>
                <a:spcPts val="0"/>
              </a:spcAft>
              <a:buClr>
                <a:srgbClr val="000000"/>
              </a:buClr>
              <a:buSzPts val="2400"/>
              <a:buFont typeface="Noto Sans Symbols"/>
              <a:buChar char="▪"/>
            </a:pPr>
            <a:r>
              <a:rPr lang="en-US" sz="2400">
                <a:solidFill>
                  <a:srgbClr val="000000"/>
                </a:solidFill>
                <a:latin typeface="Calibri"/>
                <a:ea typeface="Calibri"/>
                <a:cs typeface="Calibri"/>
                <a:sym typeface="Calibri"/>
              </a:rPr>
              <a:t>Implement simple shopping cart using Map. Using shopping car, the user should be able to add, remove, search for items in the cart.</a:t>
            </a:r>
            <a:endParaRPr/>
          </a:p>
        </p:txBody>
      </p:sp>
    </p:spTree>
  </p:cSld>
  <p:clrMapOvr>
    <a:masterClrMapping/>
  </p:clrMapOvr>
  <mc:AlternateContent xmlns:mc="http://schemas.openxmlformats.org/markup-compatibility/2006" xmlns:p14="http://schemas.microsoft.com/office/powerpoint/2010/main">
    <mc:Choice Requires="p14">
      <p:transition spd="slow" p14:dur="20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7435</Words>
  <Application>Microsoft Office PowerPoint</Application>
  <PresentationFormat>Widescreen</PresentationFormat>
  <Paragraphs>1113</Paragraphs>
  <Slides>83</Slides>
  <Notes>83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83</vt:i4>
      </vt:variant>
    </vt:vector>
  </HeadingPairs>
  <TitlesOfParts>
    <vt:vector size="89" baseType="lpstr">
      <vt:lpstr>Roboto</vt:lpstr>
      <vt:lpstr>Verdana</vt:lpstr>
      <vt:lpstr>Noto Sans Symbols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Riadi .</dc:creator>
  <cp:lastModifiedBy>Muthu Viswanathan</cp:lastModifiedBy>
  <cp:revision>1</cp:revision>
  <dcterms:created xsi:type="dcterms:W3CDTF">2018-03-05T22:31:18Z</dcterms:created>
  <dcterms:modified xsi:type="dcterms:W3CDTF">2023-10-19T04:17:23Z</dcterms:modified>
</cp:coreProperties>
</file>