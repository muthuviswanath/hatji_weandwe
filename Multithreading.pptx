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F20"/>
    <a:srgbClr val="D4B495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61BC32-5A97-0D1B-9F42-C943BD336E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AF999-64AC-6682-F94A-FF783689D5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ACB587-CBD0-461C-8031-D1E893849DE9}" type="datetimeFigureOut">
              <a:rPr lang="en-US" smtClean="0"/>
              <a:t>8/11/2022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CB06F-2A6A-CD0B-B0B1-C0EAFD96DC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C445C-66BB-821C-9ACD-3D0139AC4D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3E228-FA1E-433C-8C97-2293B49DB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10249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C43B8-BA16-45BC-A7E6-A1E796EE5CE1}" type="datetimeFigureOut">
              <a:rPr lang="en-US" smtClean="0"/>
              <a:t>8/11/2022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72EA4-DAEB-4B39-B0B6-1F265EE16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12076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56CC18-C5ED-C244-FAB7-876139698526}"/>
              </a:ext>
            </a:extLst>
          </p:cNvPr>
          <p:cNvCxnSpPr>
            <a:cxnSpLocks/>
          </p:cNvCxnSpPr>
          <p:nvPr userDrawn="1"/>
        </p:nvCxnSpPr>
        <p:spPr>
          <a:xfrm>
            <a:off x="-120073" y="6530109"/>
            <a:ext cx="1247832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24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4BCDDF8-FB63-48C9-E6E0-71A0A31499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6732" y="-47864"/>
            <a:ext cx="12461608" cy="697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D72DED6-CB84-72E4-8C99-BE16FDD38A7C}"/>
              </a:ext>
            </a:extLst>
          </p:cNvPr>
          <p:cNvGrpSpPr/>
          <p:nvPr userDrawn="1"/>
        </p:nvGrpSpPr>
        <p:grpSpPr>
          <a:xfrm>
            <a:off x="-116732" y="193967"/>
            <a:ext cx="12461608" cy="785091"/>
            <a:chOff x="-116732" y="332507"/>
            <a:chExt cx="12461608" cy="785091"/>
          </a:xfrm>
        </p:grpSpPr>
        <p:sp>
          <p:nvSpPr>
            <p:cNvPr id="3" name="Flowchart: Process 2">
              <a:extLst>
                <a:ext uri="{FF2B5EF4-FFF2-40B4-BE49-F238E27FC236}">
                  <a16:creationId xmlns:a16="http://schemas.microsoft.com/office/drawing/2014/main" id="{8DCE30C6-823C-6136-1841-AA452525A1D0}"/>
                </a:ext>
              </a:extLst>
            </p:cNvPr>
            <p:cNvSpPr/>
            <p:nvPr userDrawn="1"/>
          </p:nvSpPr>
          <p:spPr>
            <a:xfrm>
              <a:off x="1084888" y="332507"/>
              <a:ext cx="10058368" cy="78509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4706 h 10000"/>
                <a:gd name="connsiteX5" fmla="*/ 0 w 10000"/>
                <a:gd name="connsiteY5" fmla="*/ 0 h 10000"/>
                <a:gd name="connsiteX0" fmla="*/ 201 w 10201"/>
                <a:gd name="connsiteY0" fmla="*/ 0 h 10000"/>
                <a:gd name="connsiteX1" fmla="*/ 10201 w 10201"/>
                <a:gd name="connsiteY1" fmla="*/ 0 h 10000"/>
                <a:gd name="connsiteX2" fmla="*/ 10201 w 10201"/>
                <a:gd name="connsiteY2" fmla="*/ 10000 h 10000"/>
                <a:gd name="connsiteX3" fmla="*/ 201 w 10201"/>
                <a:gd name="connsiteY3" fmla="*/ 10000 h 10000"/>
                <a:gd name="connsiteX4" fmla="*/ 0 w 10201"/>
                <a:gd name="connsiteY4" fmla="*/ 4706 h 10000"/>
                <a:gd name="connsiteX5" fmla="*/ 201 w 10201"/>
                <a:gd name="connsiteY5" fmla="*/ 0 h 10000"/>
                <a:gd name="connsiteX0" fmla="*/ 201 w 10201"/>
                <a:gd name="connsiteY0" fmla="*/ 0 h 10000"/>
                <a:gd name="connsiteX1" fmla="*/ 10201 w 10201"/>
                <a:gd name="connsiteY1" fmla="*/ 0 h 10000"/>
                <a:gd name="connsiteX2" fmla="*/ 10201 w 10201"/>
                <a:gd name="connsiteY2" fmla="*/ 4824 h 10000"/>
                <a:gd name="connsiteX3" fmla="*/ 10201 w 10201"/>
                <a:gd name="connsiteY3" fmla="*/ 10000 h 10000"/>
                <a:gd name="connsiteX4" fmla="*/ 201 w 10201"/>
                <a:gd name="connsiteY4" fmla="*/ 10000 h 10000"/>
                <a:gd name="connsiteX5" fmla="*/ 0 w 10201"/>
                <a:gd name="connsiteY5" fmla="*/ 4706 h 10000"/>
                <a:gd name="connsiteX6" fmla="*/ 201 w 10201"/>
                <a:gd name="connsiteY6" fmla="*/ 0 h 10000"/>
                <a:gd name="connsiteX0" fmla="*/ 201 w 10431"/>
                <a:gd name="connsiteY0" fmla="*/ 0 h 10000"/>
                <a:gd name="connsiteX1" fmla="*/ 10201 w 10431"/>
                <a:gd name="connsiteY1" fmla="*/ 0 h 10000"/>
                <a:gd name="connsiteX2" fmla="*/ 10431 w 10431"/>
                <a:gd name="connsiteY2" fmla="*/ 4706 h 10000"/>
                <a:gd name="connsiteX3" fmla="*/ 10201 w 10431"/>
                <a:gd name="connsiteY3" fmla="*/ 10000 h 10000"/>
                <a:gd name="connsiteX4" fmla="*/ 201 w 10431"/>
                <a:gd name="connsiteY4" fmla="*/ 10000 h 10000"/>
                <a:gd name="connsiteX5" fmla="*/ 0 w 10431"/>
                <a:gd name="connsiteY5" fmla="*/ 4706 h 10000"/>
                <a:gd name="connsiteX6" fmla="*/ 201 w 10431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31" h="10000">
                  <a:moveTo>
                    <a:pt x="201" y="0"/>
                  </a:moveTo>
                  <a:lnTo>
                    <a:pt x="10201" y="0"/>
                  </a:lnTo>
                  <a:cubicBezTo>
                    <a:pt x="10278" y="1569"/>
                    <a:pt x="10354" y="3137"/>
                    <a:pt x="10431" y="4706"/>
                  </a:cubicBezTo>
                  <a:cubicBezTo>
                    <a:pt x="10354" y="6471"/>
                    <a:pt x="10278" y="8235"/>
                    <a:pt x="10201" y="10000"/>
                  </a:cubicBezTo>
                  <a:lnTo>
                    <a:pt x="201" y="10000"/>
                  </a:lnTo>
                  <a:lnTo>
                    <a:pt x="0" y="4706"/>
                  </a:lnTo>
                  <a:lnTo>
                    <a:pt x="201" y="0"/>
                  </a:lnTo>
                  <a:close/>
                </a:path>
              </a:pathLst>
            </a:cu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A1E8200-C380-5EEA-A7FE-27736B20AD21}"/>
                </a:ext>
              </a:extLst>
            </p:cNvPr>
            <p:cNvCxnSpPr>
              <a:stCxn id="3" idx="5"/>
            </p:cNvCxnSpPr>
            <p:nvPr userDrawn="1"/>
          </p:nvCxnSpPr>
          <p:spPr>
            <a:xfrm flipH="1" flipV="1">
              <a:off x="-116732" y="701964"/>
              <a:ext cx="1201620" cy="7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06F07D7-70F6-8027-F5CE-D7A4E2C0D722}"/>
                </a:ext>
              </a:extLst>
            </p:cNvPr>
            <p:cNvCxnSpPr/>
            <p:nvPr userDrawn="1"/>
          </p:nvCxnSpPr>
          <p:spPr>
            <a:xfrm flipH="1" flipV="1">
              <a:off x="11143256" y="701964"/>
              <a:ext cx="1201620" cy="7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245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6B06F-6851-1746-367E-F6386936410E}"/>
              </a:ext>
            </a:extLst>
          </p:cNvPr>
          <p:cNvSpPr txBox="1"/>
          <p:nvPr/>
        </p:nvSpPr>
        <p:spPr>
          <a:xfrm>
            <a:off x="376333" y="1651862"/>
            <a:ext cx="11252719" cy="2954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Multithreading is a process in which multiple threads work simultaneously.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Avenir Next LT Pro" panose="020B05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It is a process to achieve multitasking.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Avenir Next LT Pro" panose="020B05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It saves time because multiple tasks are being executed at a time.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Avenir Next LT Pro" panose="020B05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To create multithreaded application in C#, we need to use </a:t>
            </a:r>
            <a:r>
              <a:rPr lang="en-US" b="1" i="1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System.Threding</a:t>
            </a:r>
            <a:r>
              <a:rPr lang="en-US" b="1" i="1" dirty="0">
                <a:solidFill>
                  <a:schemeClr val="bg1"/>
                </a:solidFill>
                <a:latin typeface="Avenir Next LT Pro" panose="020B050402020202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namespace.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Multithreading</a:t>
            </a:r>
          </a:p>
        </p:txBody>
      </p:sp>
    </p:spTree>
    <p:extLst>
      <p:ext uri="{BB962C8B-B14F-4D97-AF65-F5344CB8AC3E}">
        <p14:creationId xmlns:p14="http://schemas.microsoft.com/office/powerpoint/2010/main" val="1395746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6B06F-6851-1746-367E-F6386936410E}"/>
              </a:ext>
            </a:extLst>
          </p:cNvPr>
          <p:cNvSpPr txBox="1"/>
          <p:nvPr/>
        </p:nvSpPr>
        <p:spPr>
          <a:xfrm>
            <a:off x="376333" y="1651862"/>
            <a:ext cx="11252719" cy="4616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A process represents an application whereas a thread represents a module of the application. 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Avenir Next LT Pro" panose="020B05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Process is heavyweight component whereas thread is lightweight. 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Avenir Next LT Pro" panose="020B05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A thread can be termed as lightweight subprocess because it is executed inside a process.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Avenir Next LT Pro" panose="020B05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Whenever you create a process, a separate memory area is occupied. 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Avenir Next LT Pro" panose="020B05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Threads share a common memory area.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Avenir Next LT Pro" panose="020B05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There will be context switching between the threads.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Process and Threads</a:t>
            </a:r>
          </a:p>
        </p:txBody>
      </p:sp>
    </p:spTree>
    <p:extLst>
      <p:ext uri="{BB962C8B-B14F-4D97-AF65-F5344CB8AC3E}">
        <p14:creationId xmlns:p14="http://schemas.microsoft.com/office/powerpoint/2010/main" val="54338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6B06F-6851-1746-367E-F6386936410E}"/>
              </a:ext>
            </a:extLst>
          </p:cNvPr>
          <p:cNvSpPr txBox="1"/>
          <p:nvPr/>
        </p:nvSpPr>
        <p:spPr>
          <a:xfrm>
            <a:off x="376333" y="1651862"/>
            <a:ext cx="11252719" cy="420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The life cycle of a thread is started when instance of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System.Threading.Thread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class is created. 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When the task execution of the thread is completed, its life cycle is ended.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Avenir Next LT Pro" panose="020B05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States in the life cycle of a Thread in C#.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Avenir Next LT Pro" panose="020B05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Avenir Next LT Pro" panose="020B0504020202020204" pitchFamily="34" charset="0"/>
              </a:rPr>
              <a:t>Unstarted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Avenir Next LT Pro" panose="020B0504020202020204" pitchFamily="34" charset="0"/>
              </a:rPr>
              <a:t>Runnable (Ready to run)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Avenir Next LT Pro" panose="020B0504020202020204" pitchFamily="34" charset="0"/>
              </a:rPr>
              <a:t>Running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Avenir Next LT Pro" panose="020B0504020202020204" pitchFamily="34" charset="0"/>
              </a:rPr>
              <a:t>Not Runnable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00"/>
                </a:solidFill>
                <a:latin typeface="Avenir Next LT Pro" panose="020B0504020202020204" pitchFamily="34" charset="0"/>
              </a:rPr>
              <a:t>Dead (Terminated)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Thread Life Cycle</a:t>
            </a:r>
          </a:p>
        </p:txBody>
      </p:sp>
    </p:spTree>
    <p:extLst>
      <p:ext uri="{BB962C8B-B14F-4D97-AF65-F5344CB8AC3E}">
        <p14:creationId xmlns:p14="http://schemas.microsoft.com/office/powerpoint/2010/main" val="2203661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6B06F-6851-1746-367E-F6386936410E}"/>
              </a:ext>
            </a:extLst>
          </p:cNvPr>
          <p:cNvSpPr txBox="1"/>
          <p:nvPr/>
        </p:nvSpPr>
        <p:spPr>
          <a:xfrm>
            <a:off x="550506" y="1080220"/>
            <a:ext cx="11290041" cy="530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sz="2400" dirty="0">
                <a:solidFill>
                  <a:srgbClr val="FFFF00"/>
                </a:solidFill>
                <a:latin typeface="Agency FB" panose="020B0503020202020204" pitchFamily="34" charset="0"/>
              </a:rPr>
              <a:t>Unstarted State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When the instance of Thread class is created, it is in unstarted state by default.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sz="2400" dirty="0">
                <a:solidFill>
                  <a:srgbClr val="FFFF00"/>
                </a:solidFill>
                <a:latin typeface="Agency FB" panose="020B0503020202020204" pitchFamily="34" charset="0"/>
              </a:rPr>
              <a:t>Runnable State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When start() method on the thread is called, it is in runnable or ready to run state.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sz="2400" dirty="0">
                <a:solidFill>
                  <a:srgbClr val="FFFF00"/>
                </a:solidFill>
                <a:latin typeface="Agency FB" panose="020B0503020202020204" pitchFamily="34" charset="0"/>
              </a:rPr>
              <a:t>Running State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Only one thread within a process can be executed at a time. During execution, thread is in running state.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sz="2400" dirty="0">
                <a:solidFill>
                  <a:srgbClr val="FFFF00"/>
                </a:solidFill>
                <a:latin typeface="Agency FB" panose="020B0503020202020204" pitchFamily="34" charset="0"/>
              </a:rPr>
              <a:t>Not Runnable State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The thread is in not runnable state, if sleep() or wait() method is called on the thread, or input/output operation is blocked.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sz="2400" dirty="0">
                <a:solidFill>
                  <a:srgbClr val="FFFF00"/>
                </a:solidFill>
                <a:latin typeface="Agency FB" panose="020B0503020202020204" pitchFamily="34" charset="0"/>
              </a:rPr>
              <a:t>Dead State</a:t>
            </a:r>
          </a:p>
          <a:p>
            <a:pPr marL="285750" indent="-285750" algn="just">
              <a:lnSpc>
                <a:spcPct val="1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After completing the task, thread enters dead or terminated state</a:t>
            </a:r>
            <a:endParaRPr lang="en-US" dirty="0">
              <a:solidFill>
                <a:srgbClr val="FFFF00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Thread Life Cycle</a:t>
            </a:r>
          </a:p>
        </p:txBody>
      </p:sp>
    </p:spTree>
    <p:extLst>
      <p:ext uri="{BB962C8B-B14F-4D97-AF65-F5344CB8AC3E}">
        <p14:creationId xmlns:p14="http://schemas.microsoft.com/office/powerpoint/2010/main" val="422321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6B06F-6851-1746-367E-F6386936410E}"/>
              </a:ext>
            </a:extLst>
          </p:cNvPr>
          <p:cNvSpPr txBox="1"/>
          <p:nvPr/>
        </p:nvSpPr>
        <p:spPr>
          <a:xfrm>
            <a:off x="550506" y="1080220"/>
            <a:ext cx="11290041" cy="573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sz="2400" dirty="0">
                <a:solidFill>
                  <a:srgbClr val="FFFF00"/>
                </a:solidFill>
                <a:latin typeface="Agency FB" panose="020B0503020202020204" pitchFamily="34" charset="0"/>
              </a:rPr>
              <a:t>Thread Properties: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Thread class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57B0C8-BB2B-9B9A-36CE-0103C2DEC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426932"/>
              </p:ext>
            </p:extLst>
          </p:nvPr>
        </p:nvGraphicFramePr>
        <p:xfrm>
          <a:off x="718456" y="1792160"/>
          <a:ext cx="10860834" cy="4355276"/>
        </p:xfrm>
        <a:graphic>
          <a:graphicData uri="http://schemas.openxmlformats.org/drawingml/2006/table">
            <a:tbl>
              <a:tblPr/>
              <a:tblGrid>
                <a:gridCol w="2341985">
                  <a:extLst>
                    <a:ext uri="{9D8B030D-6E8A-4147-A177-3AD203B41FA5}">
                      <a16:colId xmlns:a16="http://schemas.microsoft.com/office/drawing/2014/main" val="3687966523"/>
                    </a:ext>
                  </a:extLst>
                </a:gridCol>
                <a:gridCol w="8518849">
                  <a:extLst>
                    <a:ext uri="{9D8B030D-6E8A-4147-A177-3AD203B41FA5}">
                      <a16:colId xmlns:a16="http://schemas.microsoft.com/office/drawing/2014/main" val="880927636"/>
                    </a:ext>
                  </a:extLst>
                </a:gridCol>
              </a:tblGrid>
              <a:tr h="34903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Property</a:t>
                      </a:r>
                    </a:p>
                  </a:txBody>
                  <a:tcPr marL="69808" marR="69808" marT="69808" marB="69808" anchor="ctr">
                    <a:lnL w="7620" cap="flat" cmpd="sng" algn="ctr">
                      <a:solidFill>
                        <a:srgbClr val="D00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0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0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9808" marR="69808" marT="69808" marB="69808" anchor="ctr">
                    <a:lnL w="7620" cap="flat" cmpd="sng" algn="ctr">
                      <a:solidFill>
                        <a:srgbClr val="D00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0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0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856909"/>
                  </a:ext>
                </a:extLst>
              </a:tr>
              <a:tr h="511922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CurrentThread</a:t>
                      </a:r>
                      <a:endParaRPr lang="en-US" sz="1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returns the instance of currently running thread.</a:t>
                      </a: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036936"/>
                  </a:ext>
                </a:extLst>
              </a:tr>
              <a:tr h="72134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IsAlive</a:t>
                      </a:r>
                      <a:endParaRPr lang="en-US" sz="1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checks whether the current thread is alive or not. It is used to find the execution status of the thread.</a:t>
                      </a: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21901"/>
                  </a:ext>
                </a:extLst>
              </a:tr>
              <a:tr h="72134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IsBackground</a:t>
                      </a: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get or set value whether current thread is in background or not.</a:t>
                      </a: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148816"/>
                  </a:ext>
                </a:extLst>
              </a:tr>
              <a:tr h="511922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ManagedThreadId</a:t>
                      </a: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get unique id for the current managed thread.</a:t>
                      </a: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23598"/>
                  </a:ext>
                </a:extLst>
              </a:tr>
              <a:tr h="511922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Name</a:t>
                      </a: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get or set the name of the current thread.</a:t>
                      </a: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344686"/>
                  </a:ext>
                </a:extLst>
              </a:tr>
              <a:tr h="511922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Priority</a:t>
                      </a: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get or set the priority of the current thread.</a:t>
                      </a: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980531"/>
                  </a:ext>
                </a:extLst>
              </a:tr>
              <a:tr h="511922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ThreadState</a:t>
                      </a: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return a value representing the thread state.</a:t>
                      </a:r>
                    </a:p>
                  </a:txBody>
                  <a:tcPr marL="46538" marR="46538" marT="46538" marB="46538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38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043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6B06F-6851-1746-367E-F6386936410E}"/>
              </a:ext>
            </a:extLst>
          </p:cNvPr>
          <p:cNvSpPr txBox="1"/>
          <p:nvPr/>
        </p:nvSpPr>
        <p:spPr>
          <a:xfrm>
            <a:off x="550506" y="1080220"/>
            <a:ext cx="11290041" cy="573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sz="2400" dirty="0">
                <a:solidFill>
                  <a:srgbClr val="FFFF00"/>
                </a:solidFill>
                <a:latin typeface="Agency FB" panose="020B0503020202020204" pitchFamily="34" charset="0"/>
              </a:rPr>
              <a:t>Thread Properties: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Thread class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A619C4-EEE1-8EFA-D4BF-5C0611303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913120"/>
              </p:ext>
            </p:extLst>
          </p:nvPr>
        </p:nvGraphicFramePr>
        <p:xfrm>
          <a:off x="550506" y="1825625"/>
          <a:ext cx="11290040" cy="4411318"/>
        </p:xfrm>
        <a:graphic>
          <a:graphicData uri="http://schemas.openxmlformats.org/drawingml/2006/table">
            <a:tbl>
              <a:tblPr/>
              <a:tblGrid>
                <a:gridCol w="4590661">
                  <a:extLst>
                    <a:ext uri="{9D8B030D-6E8A-4147-A177-3AD203B41FA5}">
                      <a16:colId xmlns:a16="http://schemas.microsoft.com/office/drawing/2014/main" val="2756009945"/>
                    </a:ext>
                  </a:extLst>
                </a:gridCol>
                <a:gridCol w="6699379">
                  <a:extLst>
                    <a:ext uri="{9D8B030D-6E8A-4147-A177-3AD203B41FA5}">
                      <a16:colId xmlns:a16="http://schemas.microsoft.com/office/drawing/2014/main" val="2534283410"/>
                    </a:ext>
                  </a:extLst>
                </a:gridCol>
              </a:tblGrid>
              <a:tr h="306432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1286" marR="61286" marT="61286" marB="61286">
                    <a:lnL w="7620" cap="flat" cmpd="sng" algn="ctr">
                      <a:solidFill>
                        <a:srgbClr val="108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8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8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1286" marR="61286" marT="61286" marB="61286">
                    <a:lnL w="7620" cap="flat" cmpd="sng" algn="ctr">
                      <a:solidFill>
                        <a:srgbClr val="108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8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8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42252"/>
                  </a:ext>
                </a:extLst>
              </a:tr>
              <a:tr h="44943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Abort()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terminate the thread. It raises ThreadAbortException.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171516"/>
                  </a:ext>
                </a:extLst>
              </a:tr>
              <a:tr h="44943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Interrupt()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interrupt a thread which is in </a:t>
                      </a:r>
                      <a:r>
                        <a:rPr lang="en-US" sz="1600" i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WaitSleepJoin</a:t>
                      </a:r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state.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701961"/>
                  </a:ext>
                </a:extLst>
              </a:tr>
              <a:tr h="44943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Join()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block all the calling threads until this thread terminates.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509837"/>
                  </a:ext>
                </a:extLst>
              </a:tr>
              <a:tr h="44943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ResetAbort()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cancel the Abort request for the current thread.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061699"/>
                  </a:ext>
                </a:extLst>
              </a:tr>
              <a:tr h="44943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Resume()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resume the suspended thread. It is obselete.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474358"/>
                  </a:ext>
                </a:extLst>
              </a:tr>
              <a:tr h="44943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Sleep(Int32)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suspend the current thread for the specified milliseconds.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857773"/>
                  </a:ext>
                </a:extLst>
              </a:tr>
              <a:tr h="44943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Start()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changes the current state of the thread to Runnable.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10895"/>
                  </a:ext>
                </a:extLst>
              </a:tr>
              <a:tr h="44943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Suspend()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suspends the current thread if it is not suspended. It is obselete.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051589"/>
                  </a:ext>
                </a:extLst>
              </a:tr>
              <a:tr h="449434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Yield()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yield the execution of current thread to another thread.</a:t>
                      </a:r>
                    </a:p>
                  </a:txBody>
                  <a:tcPr marL="40858" marR="40858" marT="40858" marB="40858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065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995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6B06F-6851-1746-367E-F6386936410E}"/>
              </a:ext>
            </a:extLst>
          </p:cNvPr>
          <p:cNvSpPr txBox="1"/>
          <p:nvPr/>
        </p:nvSpPr>
        <p:spPr>
          <a:xfrm>
            <a:off x="357672" y="1110686"/>
            <a:ext cx="1125271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class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chemeClr val="bg1"/>
                </a:solidFill>
                <a:effectLst/>
                <a:latin typeface="inter-regular"/>
              </a:rPr>
              <a:t>MyThread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 {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  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static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Thread1()     {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      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for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(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int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chemeClr val="bg1"/>
                </a:solidFill>
                <a:effectLst/>
                <a:latin typeface="inter-regular"/>
              </a:rPr>
              <a:t>i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= 0; </a:t>
            </a:r>
            <a:r>
              <a:rPr lang="en-US" b="0" i="0" dirty="0" err="1">
                <a:solidFill>
                  <a:schemeClr val="bg1"/>
                </a:solidFill>
                <a:effectLst/>
                <a:latin typeface="inter-regular"/>
              </a:rPr>
              <a:t>i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&lt; 30; </a:t>
            </a:r>
            <a:r>
              <a:rPr lang="en-US" b="0" i="0" dirty="0" err="1">
                <a:solidFill>
                  <a:schemeClr val="bg1"/>
                </a:solidFill>
                <a:effectLst/>
                <a:latin typeface="inter-regular"/>
              </a:rPr>
              <a:t>i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++)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      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inter-regular"/>
              </a:rPr>
              <a:t>	if (i%2==0) {</a:t>
            </a:r>
            <a:endParaRPr lang="en-US" b="0" i="0" dirty="0">
              <a:solidFill>
                <a:schemeClr val="bg1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          	    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inter-regular"/>
              </a:rPr>
              <a:t>Console.WriteLine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chemeClr val="bg1"/>
                </a:solidFill>
                <a:effectLst/>
                <a:latin typeface="inter-regular"/>
              </a:rPr>
              <a:t>i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inter-regular"/>
              </a:rPr>
              <a:t>	}</a:t>
            </a:r>
            <a:endParaRPr lang="en-US" b="0" i="0" dirty="0">
              <a:solidFill>
                <a:schemeClr val="bg1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      }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}  </a:t>
            </a:r>
          </a:p>
          <a:p>
            <a:pPr algn="just"/>
            <a:endParaRPr lang="en-US" b="0" i="0" dirty="0">
              <a:solidFill>
                <a:schemeClr val="bg1"/>
              </a:solidFill>
              <a:effectLst/>
              <a:latin typeface="inter-regular"/>
            </a:endParaRPr>
          </a:p>
          <a:p>
            <a:pPr algn="just"/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class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chemeClr val="bg1"/>
                </a:solidFill>
                <a:effectLst/>
                <a:latin typeface="inter-regular"/>
              </a:rPr>
              <a:t>ThreadExample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{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  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static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Main()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  {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      Thread t1 = 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Thread(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chemeClr val="bg1"/>
                </a:solidFill>
                <a:effectLst/>
                <a:latin typeface="inter-regular"/>
              </a:rPr>
              <a:t>ThreadStart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(MyThread.Thread1));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      Thread t2 = 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Thread(</a:t>
            </a:r>
            <a:r>
              <a:rPr lang="en-US" b="1" i="0" dirty="0">
                <a:solidFill>
                  <a:schemeClr val="bg1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chemeClr val="bg1"/>
                </a:solidFill>
                <a:effectLst/>
                <a:latin typeface="inter-regular"/>
              </a:rPr>
              <a:t>ThreadStart</a:t>
            </a:r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(MyThread.Thread1));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      t1.Start();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      t2.Start();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  }  </a:t>
            </a:r>
          </a:p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inter-regular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Thread - Start()</a:t>
            </a:r>
          </a:p>
        </p:txBody>
      </p:sp>
    </p:spTree>
    <p:extLst>
      <p:ext uri="{BB962C8B-B14F-4D97-AF65-F5344CB8AC3E}">
        <p14:creationId xmlns:p14="http://schemas.microsoft.com/office/powerpoint/2010/main" val="360895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Thread – Sleep()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EE804F-D7BD-C15F-BB3D-C908B3548C41}"/>
              </a:ext>
            </a:extLst>
          </p:cNvPr>
          <p:cNvSpPr txBox="1"/>
          <p:nvPr/>
        </p:nvSpPr>
        <p:spPr>
          <a:xfrm>
            <a:off x="581607" y="1720840"/>
            <a:ext cx="36918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public class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 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public void Thread1()     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for (int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= 0;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&lt; 30;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++)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if (i%2==0) {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    	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Console.WriteLine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);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Thread.Sleep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(2000);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}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}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}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} </a:t>
            </a:r>
          </a:p>
          <a:p>
            <a:pPr algn="just"/>
            <a:endParaRPr lang="en-US" dirty="0">
              <a:solidFill>
                <a:schemeClr val="bg1"/>
              </a:solidFill>
              <a:latin typeface="inter-regular"/>
            </a:endParaRPr>
          </a:p>
          <a:p>
            <a:pPr algn="just"/>
            <a:endParaRPr lang="en-US" dirty="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0CCFE-FCB9-C23C-96B7-C26CA7EB348C}"/>
              </a:ext>
            </a:extLst>
          </p:cNvPr>
          <p:cNvSpPr txBox="1"/>
          <p:nvPr/>
        </p:nvSpPr>
        <p:spPr>
          <a:xfrm>
            <a:off x="5124839" y="1188739"/>
            <a:ext cx="6690827" cy="44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public class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ThreadExample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{  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public static void Main()  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{  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mt = 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();  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Thread t1 = new Thread(new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ThreadStart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(mt.Thread1));  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Thread t2 = new Thread(new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ThreadStart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(mt.Thread1));  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t1.Start();  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t2.Start();  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}  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}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108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Thread – Abort()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0CCFE-FCB9-C23C-96B7-C26CA7EB348C}"/>
              </a:ext>
            </a:extLst>
          </p:cNvPr>
          <p:cNvSpPr txBox="1"/>
          <p:nvPr/>
        </p:nvSpPr>
        <p:spPr>
          <a:xfrm>
            <a:off x="4919565" y="1674556"/>
            <a:ext cx="669082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public class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ThreadExample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{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public static void Main()  {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Console.WriteLine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("Start of Main");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mt = 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Thread t1 = new Thread(new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ThreadStart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(mt.Thread1));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Thread t2 = new Thread(new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ThreadStart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(mt.Thread1));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t1.Start();   t2.Start();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try      {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    t1.Abort();  t2.Abort();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}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catch (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ThreadAbortException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tae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)         {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Console.WriteLine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tae.ToString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());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}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Console.WriteLine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("End of Main");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}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}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351D1-66E2-1F73-AD7C-4760D0C8A4F0}"/>
              </a:ext>
            </a:extLst>
          </p:cNvPr>
          <p:cNvSpPr txBox="1"/>
          <p:nvPr/>
        </p:nvSpPr>
        <p:spPr>
          <a:xfrm>
            <a:off x="429208" y="1112722"/>
            <a:ext cx="11333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Abort() method is used to terminate the thread. It raises </a:t>
            </a:r>
            <a:r>
              <a:rPr lang="en-US" dirty="0" err="1">
                <a:solidFill>
                  <a:schemeClr val="bg1"/>
                </a:solidFill>
              </a:rPr>
              <a:t>ThreadAbortException</a:t>
            </a:r>
            <a:r>
              <a:rPr lang="en-US" dirty="0">
                <a:solidFill>
                  <a:schemeClr val="bg1"/>
                </a:solidFill>
              </a:rPr>
              <a:t> if Abort operation is not done.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9F2BC-253F-647A-D1B8-4709964E206B}"/>
              </a:ext>
            </a:extLst>
          </p:cNvPr>
          <p:cNvSpPr txBox="1"/>
          <p:nvPr/>
        </p:nvSpPr>
        <p:spPr>
          <a:xfrm>
            <a:off x="581608" y="2459859"/>
            <a:ext cx="36918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public class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 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public void Thread1()     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for (int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= 0;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&lt; 30;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++)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if (i%2==0) {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    	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Console.WriteLine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);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Thread.Sleep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(2000);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}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}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}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} </a:t>
            </a:r>
          </a:p>
        </p:txBody>
      </p:sp>
    </p:spTree>
    <p:extLst>
      <p:ext uri="{BB962C8B-B14F-4D97-AF65-F5344CB8AC3E}">
        <p14:creationId xmlns:p14="http://schemas.microsoft.com/office/powerpoint/2010/main" val="3979137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Thread – Join()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0CCFE-FCB9-C23C-96B7-C26CA7EB348C}"/>
              </a:ext>
            </a:extLst>
          </p:cNvPr>
          <p:cNvSpPr txBox="1"/>
          <p:nvPr/>
        </p:nvSpPr>
        <p:spPr>
          <a:xfrm>
            <a:off x="4919565" y="1674556"/>
            <a:ext cx="66908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public class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ThreadExample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{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public static void Main()  {  </a:t>
            </a:r>
          </a:p>
          <a:p>
            <a:pPr algn="just"/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mt = 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Thread t1 = new Thread(new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ThreadStart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(mt.Thread1));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Thread t2 = new Thread(new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ThreadStart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(mt.Thread1));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Thread t3 = new Thread(new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ThreadStart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(mt.Thread1));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t1.Start();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t1.Join();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t2.Start();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t3.Start();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}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}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351D1-66E2-1F73-AD7C-4760D0C8A4F0}"/>
              </a:ext>
            </a:extLst>
          </p:cNvPr>
          <p:cNvSpPr txBox="1"/>
          <p:nvPr/>
        </p:nvSpPr>
        <p:spPr>
          <a:xfrm>
            <a:off x="429208" y="1112722"/>
            <a:ext cx="11333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It causes all the calling threads to wait until the current thread (joined thread) is terminated or completes its task.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9F2BC-253F-647A-D1B8-4709964E206B}"/>
              </a:ext>
            </a:extLst>
          </p:cNvPr>
          <p:cNvSpPr txBox="1"/>
          <p:nvPr/>
        </p:nvSpPr>
        <p:spPr>
          <a:xfrm>
            <a:off x="581608" y="2459859"/>
            <a:ext cx="36918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public class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 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public void Thread1()     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for (int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= 0;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&lt; 30;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++)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if (i%2==0) {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    	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Console.WriteLine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);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Thread.Sleep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(2000);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}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}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}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} </a:t>
            </a:r>
          </a:p>
        </p:txBody>
      </p:sp>
    </p:spTree>
    <p:extLst>
      <p:ext uri="{BB962C8B-B14F-4D97-AF65-F5344CB8AC3E}">
        <p14:creationId xmlns:p14="http://schemas.microsoft.com/office/powerpoint/2010/main" val="2939013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Thread – Synchronization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351D1-66E2-1F73-AD7C-4760D0C8A4F0}"/>
              </a:ext>
            </a:extLst>
          </p:cNvPr>
          <p:cNvSpPr txBox="1"/>
          <p:nvPr/>
        </p:nvSpPr>
        <p:spPr>
          <a:xfrm>
            <a:off x="429208" y="1756534"/>
            <a:ext cx="113335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Synchronization is a technique that allows only one thread to access the resource for the time. 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No other thread can interrupt until the assigned thread finishes its task.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In multithreading program, threads are allowed to access any resource for the required execution time.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Threads share resources and executes asynchronously. 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Accessing shared resources (data) is critical task that sometimes may halt the system. 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We deal with it by making threads synchronized.</a:t>
            </a: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It is mainly used in case of transactions like deposit, withdraw etc.</a:t>
            </a:r>
          </a:p>
        </p:txBody>
      </p:sp>
    </p:spTree>
    <p:extLst>
      <p:ext uri="{BB962C8B-B14F-4D97-AF65-F5344CB8AC3E}">
        <p14:creationId xmlns:p14="http://schemas.microsoft.com/office/powerpoint/2010/main" val="351064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Thread – Asynchronization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D1F6D-4844-89C7-CD53-047C676AC555}"/>
              </a:ext>
            </a:extLst>
          </p:cNvPr>
          <p:cNvSpPr txBox="1"/>
          <p:nvPr/>
        </p:nvSpPr>
        <p:spPr>
          <a:xfrm>
            <a:off x="581608" y="2459859"/>
            <a:ext cx="36918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public class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 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public void Thread1()     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for (int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= 0;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&lt; 30;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++)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if (i%2==0) {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    	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Console.WriteLine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);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Thread.Sleep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(2000);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}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}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}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}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3331A-6071-F326-9AC7-EF235DF52BF1}"/>
              </a:ext>
            </a:extLst>
          </p:cNvPr>
          <p:cNvSpPr txBox="1"/>
          <p:nvPr/>
        </p:nvSpPr>
        <p:spPr>
          <a:xfrm>
            <a:off x="5315338" y="1859339"/>
            <a:ext cx="64785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class Program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{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public static void Main(string[] args)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{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p = 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Thread t1 = new Thread(new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ThreadStart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(p. Thread1));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Thread t2 = new Thread(new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ThreadStart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(p. Thread1));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t1.Start();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t2.Start();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}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819978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748BAE-A1AB-6F76-AE5A-92EC2EB24D14}"/>
              </a:ext>
            </a:extLst>
          </p:cNvPr>
          <p:cNvSpPr txBox="1"/>
          <p:nvPr/>
        </p:nvSpPr>
        <p:spPr>
          <a:xfrm>
            <a:off x="1296955" y="212334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gency FB" panose="020B0503020202020204" pitchFamily="34" charset="0"/>
              </a:rPr>
              <a:t>Thread – Synchronization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D1F6D-4844-89C7-CD53-047C676AC555}"/>
              </a:ext>
            </a:extLst>
          </p:cNvPr>
          <p:cNvSpPr txBox="1"/>
          <p:nvPr/>
        </p:nvSpPr>
        <p:spPr>
          <a:xfrm>
            <a:off x="581608" y="2459859"/>
            <a:ext cx="36918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public class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 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public void Thread1()     {  </a:t>
            </a:r>
          </a:p>
          <a:p>
            <a:pPr algn="just"/>
            <a:r>
              <a:rPr lang="en-US">
                <a:solidFill>
                  <a:schemeClr val="bg1"/>
                </a:solidFill>
                <a:latin typeface="Avenir Next LT Pro" panose="020B0504020202020204" pitchFamily="34" charset="0"/>
              </a:rPr>
              <a:t>       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</a:t>
            </a:r>
            <a:r>
              <a:rPr lang="en-US">
                <a:solidFill>
                  <a:schemeClr val="bg1"/>
                </a:solidFill>
                <a:latin typeface="Avenir Next LT Pro" panose="020B0504020202020204" pitchFamily="34" charset="0"/>
              </a:rPr>
              <a:t>lock 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(this)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for (int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= 0;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&lt; 30; 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++)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{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if (i%2==0) {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    	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Console.WriteLine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);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Thread.Sleep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(2000);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	}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    }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    }  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}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3331A-6071-F326-9AC7-EF235DF52BF1}"/>
              </a:ext>
            </a:extLst>
          </p:cNvPr>
          <p:cNvSpPr txBox="1"/>
          <p:nvPr/>
        </p:nvSpPr>
        <p:spPr>
          <a:xfrm>
            <a:off x="5315338" y="1859339"/>
            <a:ext cx="64785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class Program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{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public static void Main(string[] args)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{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p = 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MyThread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Thread t1 = new Thread(new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ThreadStart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(p. Thread1));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Thread t2 = new Thread(new </a:t>
            </a:r>
            <a:r>
              <a:rPr lang="en-US" dirty="0" err="1">
                <a:solidFill>
                  <a:schemeClr val="bg1"/>
                </a:solidFill>
                <a:latin typeface="Avenir Next LT Pro" panose="020B0504020202020204" pitchFamily="34" charset="0"/>
              </a:rPr>
              <a:t>ThreadStart</a:t>
            </a:r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(p. Thread1));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t1.Start();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    t2.Start();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    } 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venir Next LT Pro" panose="020B0504020202020204" pitchFamily="34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94277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3171</TotalTime>
  <Words>1494</Words>
  <Application>Microsoft Office PowerPoint</Application>
  <PresentationFormat>Widescreen</PresentationFormat>
  <Paragraphs>242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Agency FB</vt:lpstr>
      <vt:lpstr>Arial</vt:lpstr>
      <vt:lpstr>Avenir Next LT Pro</vt:lpstr>
      <vt:lpstr>Calibri</vt:lpstr>
      <vt:lpstr>inter-regular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 Viswanathan</dc:creator>
  <cp:lastModifiedBy>Muthu Viswanathan</cp:lastModifiedBy>
  <cp:revision>18</cp:revision>
  <dcterms:created xsi:type="dcterms:W3CDTF">2022-08-02T01:10:49Z</dcterms:created>
  <dcterms:modified xsi:type="dcterms:W3CDTF">2022-08-12T01:51:13Z</dcterms:modified>
</cp:coreProperties>
</file>